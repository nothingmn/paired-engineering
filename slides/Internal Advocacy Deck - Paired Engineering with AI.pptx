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</a:t>
            </a:r>
          </a:p>
          <a:p>
            <a:r>
              <a:t>Keep the opening light and memorable. This deck should feel accessible to mixed engineering audiences without flattening the ideas into hype.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</a:t>
            </a:r>
          </a:p>
          <a:p>
            <a:r>
              <a:t>The point is to make the topic feel real without turning the session into a policy announcement. This should sound like a useful conversation, not a mandated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</a:t>
            </a:r>
          </a:p>
          <a:p>
            <a:r>
              <a:t>This is the framing slide. It gives the audience a simple, clear way to interpret everything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</a:t>
            </a:r>
          </a:p>
          <a:p>
            <a:r>
              <a:t>Keep this memorable. This deck is meant to socialize the stance, not explain every edge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</a:t>
            </a:r>
          </a:p>
          <a:p>
            <a:r>
              <a:t>The audience should leave feeling they know where to begin, not just what to believe.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</a:t>
            </a:r>
          </a:p>
          <a:p>
            <a:r>
              <a:t>This slide helps the audience spot recognizable traps without overwhelming them with too much framework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</a:t>
            </a:r>
          </a:p>
          <a:p>
            <a:r>
              <a:t>This slide should leave people with a positive picture of what “good” looks like. It balances the caution in the previous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</a:t>
            </a:r>
          </a:p>
          <a:p>
            <a:r>
              <a:t>This is the practical behavior-change slide. The audience should feel they can try this without waiting for a full organizational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</a:t>
            </a:r>
          </a:p>
          <a:p>
            <a:r>
              <a:t>Close by pointing people to the next layer. This deck should create interest and alignment, not try to teach the full delivery model in one brown-bag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2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051560"/>
            <a:ext cx="9875520" cy="1234440"/>
          </a:xfrm>
        </p:spPr>
        <p:txBody>
          <a:bodyPr/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8FAFC"/>
                </a:solidFill>
                <a:latin typeface="Aptos Display"/>
              </a:rPr>
              <a:t>Paired Engineering with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8992" y="2331720"/>
            <a:ext cx="7955279" cy="1097280"/>
          </a:xfrm>
        </p:spPr>
        <p:txBody>
          <a:bodyPr/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F8FAFC"/>
                </a:solidFill>
                <a:latin typeface="Aptos"/>
              </a:rPr>
              <a:t>A practical delivery model for AI-enabled software teams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79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64592" cy="2240280"/>
          </a:xfrm>
          <a:prstGeom prst="rect">
            <a:avLst/>
          </a:prstGeom>
          <a:solidFill>
            <a:srgbClr val="1E8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897880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D79A46"/>
                </a:solidFill>
                <a:latin typeface="Aptos"/>
              </a:rPr>
              <a:t>Paired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87683"/>
                </a:solidFill>
                <a:latin typeface="Aptos"/>
              </a:rPr>
              <a:t>Paired Engineering. A practical delivery model for AI-enabled software teams.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12064"/>
            <a:ext cx="10058400" cy="914400"/>
          </a:xfrm>
        </p:spPr>
        <p:txBody>
          <a:bodyPr/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22313F"/>
                </a:solidFill>
                <a:latin typeface="Aptos Display"/>
              </a:rPr>
              <a:t>AI is already in the delivery system, whether we name it or not.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E8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1225296"/>
            <a:ext cx="1737360" cy="54864"/>
          </a:xfrm>
          <a:prstGeom prst="rect">
            <a:avLst/>
          </a:prstGeom>
          <a:solidFill>
            <a:srgbClr val="D79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D8D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10378440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4000" indent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- people are already experimenting</a:t>
            </a:r>
          </a:p>
          <a:p>
            <a:pPr algn="l" marL="254000" indent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- rollout quality matters more than novelty</a:t>
            </a:r>
          </a:p>
          <a:p>
            <a:pPr algn="l" marL="254000" indent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- tool access does not automatically create good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530352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1E8E7E"/>
                </a:solidFill>
                <a:latin typeface="Aptos"/>
              </a:rPr>
              <a:t>PAIRED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87683"/>
                </a:solidFill>
                <a:latin typeface="Aptos"/>
              </a:rPr>
              <a:t>Paired Engineering. A practical delivery model for AI-enabled software teams.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144768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87683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12064"/>
            <a:ext cx="10058400" cy="914400"/>
          </a:xfrm>
        </p:spPr>
        <p:txBody>
          <a:bodyPr/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22313F"/>
                </a:solidFill>
                <a:latin typeface="Aptos Display"/>
              </a:rPr>
              <a:t>The best question is not should we use AI at all.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E8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1225296"/>
            <a:ext cx="1737360" cy="54864"/>
          </a:xfrm>
          <a:prstGeom prst="rect">
            <a:avLst/>
          </a:prstGeom>
          <a:solidFill>
            <a:srgbClr val="D79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D8D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10378440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4000" indent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- no AI leaves useful help on the table</a:t>
            </a:r>
          </a:p>
          <a:p>
            <a:pPr algn="l" marL="254000" indent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- blind delegation creates shallow speed and hidden risk</a:t>
            </a:r>
          </a:p>
          <a:p>
            <a:pPr algn="l" marL="254000" indent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- paired engineering is the more useful alternative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530352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1E8E7E"/>
                </a:solidFill>
                <a:latin typeface="Aptos"/>
              </a:rPr>
              <a:t>PAIRED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87683"/>
                </a:solidFill>
                <a:latin typeface="Aptos"/>
              </a:rPr>
              <a:t>Paired Engineering. A practical delivery model for AI-enabled software teams.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144768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87683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12064"/>
            <a:ext cx="10058400" cy="914400"/>
          </a:xfrm>
        </p:spPr>
        <p:txBody>
          <a:bodyPr/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22313F"/>
                </a:solidFill>
                <a:latin typeface="Aptos Display"/>
              </a:rPr>
              <a:t>Ask, compare, verify, revise, learn.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E8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1225296"/>
            <a:ext cx="1737360" cy="54864"/>
          </a:xfrm>
          <a:prstGeom prst="rect">
            <a:avLst/>
          </a:prstGeom>
          <a:solidFill>
            <a:srgbClr val="D79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D8D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10378440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4000" indent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- AI helps with understanding and options</a:t>
            </a:r>
          </a:p>
          <a:p>
            <a:pPr algn="l" marL="254000" indent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- people stay responsible for judgment</a:t>
            </a:r>
          </a:p>
          <a:p>
            <a:pPr algn="l" marL="254000" indent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- verification is part of the habit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530352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1E8E7E"/>
                </a:solidFill>
                <a:latin typeface="Aptos"/>
              </a:rPr>
              <a:t>PAIRED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87683"/>
                </a:solidFill>
                <a:latin typeface="Aptos"/>
              </a:rPr>
              <a:t>Paired Engineering. A practical delivery model for AI-enabled software teams.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144768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87683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12064"/>
            <a:ext cx="10058400" cy="914400"/>
          </a:xfrm>
        </p:spPr>
        <p:txBody>
          <a:bodyPr/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22313F"/>
                </a:solidFill>
                <a:latin typeface="Aptos Display"/>
              </a:rPr>
              <a:t>Start where the work is bounded and the feedback loop is real.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E8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1225296"/>
            <a:ext cx="1737360" cy="54864"/>
          </a:xfrm>
          <a:prstGeom prst="rect">
            <a:avLst/>
          </a:prstGeom>
          <a:solidFill>
            <a:srgbClr val="D79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D8D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10378440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Good starter workflows:</a:t>
            </a:r>
          </a:p>
          <a:p>
            <a:pPr algn="l" marL="457200" indent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- code explanation</a:t>
            </a:r>
          </a:p>
          <a:p>
            <a:pPr algn="l" marL="457200" indent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- bounded debugging</a:t>
            </a:r>
          </a:p>
          <a:p>
            <a:pPr algn="l" marL="457200" indent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- unit test drafting</a:t>
            </a:r>
          </a:p>
          <a:p>
            <a:pPr algn="l" marL="457200" indent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- failure triage</a:t>
            </a:r>
          </a:p>
          <a:p>
            <a:pPr algn="l" marL="457200" indent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- backlog clarification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530352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1E8E7E"/>
                </a:solidFill>
                <a:latin typeface="Aptos"/>
              </a:rPr>
              <a:t>PAIRED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87683"/>
                </a:solidFill>
                <a:latin typeface="Aptos"/>
              </a:rPr>
              <a:t>Paired Engineering. A practical delivery model for AI-enabled software teams.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144768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87683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12064"/>
            <a:ext cx="10058400" cy="914400"/>
          </a:xfrm>
        </p:spPr>
        <p:txBody>
          <a:bodyPr/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22313F"/>
                </a:solidFill>
                <a:latin typeface="Aptos Display"/>
              </a:rPr>
              <a:t>The risk is not only bad output. The risk is bad working habits.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E8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1225296"/>
            <a:ext cx="1737360" cy="54864"/>
          </a:xfrm>
          <a:prstGeom prst="rect">
            <a:avLst/>
          </a:prstGeom>
          <a:solidFill>
            <a:srgbClr val="D79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D8D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10378440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4000" indent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- trusting fluent output too quickly</a:t>
            </a:r>
          </a:p>
          <a:p>
            <a:pPr algn="l" marL="254000" indent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- using AI on unfamiliar work without slowing down</a:t>
            </a:r>
          </a:p>
          <a:p>
            <a:pPr algn="l" marL="254000" indent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- treating prompt counts as success</a:t>
            </a:r>
          </a:p>
          <a:p>
            <a:pPr algn="l" marL="254000" indent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- skipping verification because the draft looks polished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530352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1E8E7E"/>
                </a:solidFill>
                <a:latin typeface="Aptos"/>
              </a:rPr>
              <a:t>PAIRED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87683"/>
                </a:solidFill>
                <a:latin typeface="Aptos"/>
              </a:rPr>
              <a:t>Paired Engineering. A practical delivery model for AI-enabled software teams.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144768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87683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12064"/>
            <a:ext cx="10058400" cy="914400"/>
          </a:xfrm>
        </p:spPr>
        <p:txBody>
          <a:bodyPr/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22313F"/>
                </a:solidFill>
                <a:latin typeface="Aptos Display"/>
              </a:rPr>
              <a:t>Better delivery flow without sacrificing engineering judgment.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E8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1225296"/>
            <a:ext cx="1737360" cy="54864"/>
          </a:xfrm>
          <a:prstGeom prst="rect">
            <a:avLst/>
          </a:prstGeom>
          <a:solidFill>
            <a:srgbClr val="D79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D8D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10378440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4000" indent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- better debugging and code understanding</a:t>
            </a:r>
          </a:p>
          <a:p>
            <a:pPr algn="l" marL="254000" indent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- better backlog quality</a:t>
            </a:r>
          </a:p>
          <a:p>
            <a:pPr algn="l" marL="254000" indent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- better testing and design exploration</a:t>
            </a:r>
          </a:p>
          <a:p>
            <a:pPr algn="l" marL="254000" indent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- preserved mastery and apprenticeship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530352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1E8E7E"/>
                </a:solidFill>
                <a:latin typeface="Aptos"/>
              </a:rPr>
              <a:t>PAIRED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87683"/>
                </a:solidFill>
                <a:latin typeface="Aptos"/>
              </a:rPr>
              <a:t>Paired Engineering. A practical delivery model for AI-enabled software teams.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144768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87683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12064"/>
            <a:ext cx="10058400" cy="914400"/>
          </a:xfrm>
        </p:spPr>
        <p:txBody>
          <a:bodyPr/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22313F"/>
                </a:solidFill>
                <a:latin typeface="Aptos Display"/>
              </a:rPr>
              <a:t>Start with one real workflow and one verification habit.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E8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1225296"/>
            <a:ext cx="1737360" cy="54864"/>
          </a:xfrm>
          <a:prstGeom prst="rect">
            <a:avLst/>
          </a:prstGeom>
          <a:solidFill>
            <a:srgbClr val="D79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D8D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10378440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4000" indent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- pick one bounded workflow</a:t>
            </a:r>
          </a:p>
          <a:p>
            <a:pPr algn="l" marL="254000" indent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- define how you will verify the output</a:t>
            </a:r>
          </a:p>
          <a:p>
            <a:pPr algn="l" marL="254000" indent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- compare what helped and what created cleanup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530352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1E8E7E"/>
                </a:solidFill>
                <a:latin typeface="Aptos"/>
              </a:rPr>
              <a:t>PAIRED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87683"/>
                </a:solidFill>
                <a:latin typeface="Aptos"/>
              </a:rPr>
              <a:t>Paired Engineering. A practical delivery model for AI-enabled software teams.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144768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87683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12064"/>
            <a:ext cx="10058400" cy="914400"/>
          </a:xfrm>
        </p:spPr>
        <p:txBody>
          <a:bodyPr/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22313F"/>
                </a:solidFill>
                <a:latin typeface="Aptos Display"/>
              </a:rPr>
              <a:t>This is the introduction, not the whole system.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E8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1225296"/>
            <a:ext cx="1737360" cy="54864"/>
          </a:xfrm>
          <a:prstGeom prst="rect">
            <a:avLst/>
          </a:prstGeom>
          <a:solidFill>
            <a:srgbClr val="D79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18288"/>
          </a:xfrm>
          <a:prstGeom prst="rect">
            <a:avLst/>
          </a:prstGeom>
          <a:solidFill>
            <a:srgbClr val="D8D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10378440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Go deeper with:</a:t>
            </a:r>
          </a:p>
          <a:p>
            <a:pPr algn="l" marL="457200" indent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- the one-pager</a:t>
            </a:r>
          </a:p>
          <a:p>
            <a:pPr algn="l" marL="457200" indent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- the executive deck</a:t>
            </a:r>
          </a:p>
          <a:p>
            <a:pPr algn="l" marL="457200" indent="0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000" b="0">
                <a:solidFill>
                  <a:srgbClr val="22313F"/>
                </a:solidFill>
                <a:latin typeface="Aptos"/>
              </a:defRPr>
            </a:pPr>
            <a:r>
              <a:t>- the workshop pack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530352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1E8E7E"/>
                </a:solidFill>
                <a:latin typeface="Aptos"/>
              </a:rPr>
              <a:t>PAIRED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9144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87683"/>
                </a:solidFill>
                <a:latin typeface="Aptos"/>
              </a:rPr>
              <a:t>Paired Engineering. A practical delivery model for AI-enabled software teams.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144768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87683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