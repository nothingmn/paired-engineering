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Frame the work as an operating model for software delivery, not as a generic AI initiative and not as a tool rollout.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The opening move is urgency without fear. The point is that drift is already a strategy if leadership does not pick one deliberately.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slide is important because many executive conversations collapse too quickly into a false binary. We want a third lane on the table early.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If leaders only hear “faster drafting,” they will miss the system effects that show up later in review, rework, onboarding, and architecture quality.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is where we show restraint. The evidence supports action with discipline, not reckless confidence and not paralysis.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slide should sound repeatable. If leaders remember only one operating phrase, it should probably be paired engineering.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is the bridge from generic AI language into the actual enablement model. In the supporting model, this is called oversight readiness. In the executive conversation, plain language is usually stronger than introducing the label itself.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Keep this simple. The goal is not to turn executives into assessors of individuals. The goal is to make variable guidance feel legitimate and necessary.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slide matters because many organizations talk about “human in the loop” without defining what the human is actually expected to verify.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is not anti-productivity. It is a more serious definition of productivity that includes rework, judgment, mentoring, and long-term capability formation.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slide will likely resonate because many organizations are currently over-reporting usage and under-measuring quality.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The pilot needs to feel bounded, governed, and measurable. This is the leadership reassurance slide.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Keep this concrete. Leaders should leave with a sense that the pilot begins in a few real workflows, not in a vague cultural initiative.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is the “support is not free” slide. It prevents the pilot from being interpreted as a tool purchase plus a metric dashboard.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is the place to contrast thoughtful evidence collection with vanity metrics without making the pilot feel heavy or bureaucratic.</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slide is useful because many rollouts quietly fail when management and technical leadership each assume the other one owns enablement behavior.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is the tool-governance slide. It helps avoid the trap of choosing tools because they are famous rather than because they fit the actual system of work.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is the “why not just let teams figure it out?” answer.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End on the decision. The deck should close with a concrete ask, not drift into general commentary.</a:t>
            </a:r>
          </a:p>
          <a:p>
            <a:r>
              <a:t>## Short-path presenter sequence</a:t>
            </a:r>
          </a:p>
          <a:p>
            <a:r>
              <a:t>If the audience only gives 10-12 minutes, prioritize:</a:t>
            </a:r>
          </a:p>
          <a:p>
            <a:r>
              <a:t>- Slide 1</a:t>
            </a:r>
          </a:p>
          <a:p>
            <a:r>
              <a:t>- Slide 2</a:t>
            </a:r>
          </a:p>
          <a:p>
            <a:r>
              <a:t>- Slide 3</a:t>
            </a:r>
          </a:p>
          <a:p>
            <a:r>
              <a:t>- Slide 5</a:t>
            </a:r>
          </a:p>
          <a:p>
            <a:r>
              <a:t>- Slide 6</a:t>
            </a:r>
          </a:p>
          <a:p>
            <a:r>
              <a:t>- Slide 8</a:t>
            </a:r>
          </a:p>
          <a:p>
            <a:r>
              <a:t>- Slide 9</a:t>
            </a:r>
          </a:p>
          <a:p>
            <a:r>
              <a:t>- Slide 12</a:t>
            </a:r>
          </a:p>
          <a:p>
            <a:r>
              <a:t>- Slide 14</a:t>
            </a:r>
          </a:p>
          <a:p>
            <a:r>
              <a:t>- Slide 15</a:t>
            </a:r>
          </a:p>
          <a:p>
            <a:r>
              <a:t>- Slide 19</a:t>
            </a:r>
          </a:p>
          <a:p>
            <a:r>
              <a:t>For a fully rewritten short version instead of a selected subset, use 40 Deliverables/Draft - Executive Deck - AI Enablement for an Initial Pilot Cohort.</a:t>
            </a:r>
          </a:p>
          <a:p>
            <a:r>
              <a:t>## Optional appendix directions</a:t>
            </a:r>
          </a:p>
          <a:p>
            <a:r>
              <a:t>- source map by claim area</a:t>
            </a:r>
          </a:p>
          <a:p>
            <a:r>
              <a:t>- KPI definitions</a:t>
            </a:r>
          </a:p>
          <a:p>
            <a:r>
              <a:t>- example pilot workflows by role</a:t>
            </a:r>
          </a:p>
          <a:p>
            <a:r>
              <a:t>- dated market examples under the tool taxonomy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83247"/>
        </a:solidFill>
        <a:effectLst/>
      </p:bgPr>
    </p:bg>
    <p:spTree>
      <p:nvGrpSpPr>
        <p:cNvPr id="1" name=""/>
        <p:cNvGrpSpPr/>
        <p:nvPr/>
      </p:nvGrpSpPr>
      <p:grpSpPr/>
      <p:sp>
        <p:nvSpPr>
          <p:cNvPr id="2" name="Title 1"/>
          <p:cNvSpPr>
            <a:spLocks noGrp="1"/>
          </p:cNvSpPr>
          <p:nvPr>
            <p:ph type="ctrTitle"/>
          </p:nvPr>
        </p:nvSpPr>
        <p:spPr>
          <a:xfrm>
            <a:off x="1051560" y="1051560"/>
            <a:ext cx="9875520" cy="1234440"/>
          </a:xfrm>
        </p:spPr>
        <p:txBody>
          <a:bodyPr/>
          <a:lstStyle/>
          <a:p>
            <a:pPr algn="l">
              <a:spcAft>
                <a:spcPts val="500"/>
              </a:spcAft>
            </a:pPr>
            <a:r>
              <a:rPr sz="3200" b="1">
                <a:solidFill>
                  <a:srgbClr val="F8FAFC"/>
                </a:solidFill>
                <a:latin typeface="Aptos Display"/>
              </a:rPr>
              <a:t>AI Enablement for an Initial Pilot Cohort</a:t>
            </a:r>
          </a:p>
        </p:txBody>
      </p:sp>
      <p:sp>
        <p:nvSpPr>
          <p:cNvPr id="3" name="Subtitle 2"/>
          <p:cNvSpPr>
            <a:spLocks noGrp="1"/>
          </p:cNvSpPr>
          <p:nvPr>
            <p:ph type="subTitle" idx="1"/>
          </p:nvPr>
        </p:nvSpPr>
        <p:spPr>
          <a:xfrm>
            <a:off x="1078992" y="2331720"/>
            <a:ext cx="7955279" cy="1097280"/>
          </a:xfrm>
        </p:spPr>
        <p:txBody>
          <a:bodyPr/>
          <a:lstStyle/>
          <a:p>
            <a:pPr algn="l">
              <a:spcAft>
                <a:spcPts val="500"/>
              </a:spcAft>
            </a:pPr>
            <a:r>
              <a:rPr sz="2000" b="0">
                <a:solidFill>
                  <a:srgbClr val="F8FAFC"/>
                </a:solidFill>
                <a:latin typeface="Aptos"/>
              </a:rPr>
              <a:t>Paired engineering, capability growth, and workflow improvement across software delivery work</a:t>
            </a:r>
          </a:p>
        </p:txBody>
      </p:sp>
      <p:sp>
        <p:nvSpPr>
          <p:cNvPr id="4" name="Rectangle 3"/>
          <p:cNvSpPr/>
          <p:nvPr/>
        </p:nvSpPr>
        <p:spPr>
          <a:xfrm>
            <a:off x="0" y="0"/>
            <a:ext cx="12191695" cy="201168"/>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960120"/>
            <a:ext cx="164592" cy="2240280"/>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5897880"/>
            <a:ext cx="2743200" cy="292608"/>
          </a:xfrm>
          <a:prstGeom prst="rect">
            <a:avLst/>
          </a:prstGeom>
          <a:noFill/>
        </p:spPr>
        <p:txBody>
          <a:bodyPr wrap="square" anchor="ctr">
            <a:spAutoFit/>
          </a:bodyPr>
          <a:lstStyle/>
          <a:p>
            <a:pPr algn="l">
              <a:spcAft>
                <a:spcPts val="500"/>
              </a:spcAft>
            </a:pPr>
            <a:r>
              <a:rPr sz="1200" b="1">
                <a:solidFill>
                  <a:srgbClr val="D79A46"/>
                </a:solidFill>
                <a:latin typeface="Aptos"/>
              </a:rPr>
              <a:t>Paired Engineering</a:t>
            </a:r>
          </a:p>
        </p:txBody>
      </p:sp>
      <p:sp>
        <p:nvSpPr>
          <p:cNvPr id="7" name="TextBox 6"/>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AI is already entering software delivery work.</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The leadership question is no longer whether teams will touch it.</a:t>
            </a:r>
          </a:p>
          <a:p>
            <a:pPr algn="l" marL="0" indent="0">
              <a:lnSpc>
                <a:spcPct val="108000"/>
              </a:lnSpc>
              <a:spcBef>
                <a:spcPts val="0"/>
              </a:spcBef>
              <a:spcAft>
                <a:spcPts val="1000"/>
              </a:spcAft>
              <a:buNone/>
              <a:defRPr sz="2000" b="0">
                <a:solidFill>
                  <a:srgbClr val="22313F"/>
                </a:solidFill>
                <a:latin typeface="Aptos"/>
              </a:defRPr>
            </a:pPr>
            <a:r>
              <a:t>The leadership question is whether adoption will be designed well or allowed to drift.</a:t>
            </a:r>
          </a:p>
          <a:p>
            <a:pPr algn="l" marL="457200" indent="0">
              <a:lnSpc>
                <a:spcPct val="108000"/>
              </a:lnSpc>
              <a:spcBef>
                <a:spcPts val="0"/>
              </a:spcBef>
              <a:spcAft>
                <a:spcPts val="700"/>
              </a:spcAft>
              <a:buNone/>
              <a:defRPr sz="2000" b="0">
                <a:solidFill>
                  <a:srgbClr val="22313F"/>
                </a:solidFill>
                <a:latin typeface="Aptos"/>
              </a:defRPr>
            </a:pPr>
            <a:r>
              <a:t>- unmanaged adoption creates uneven quality and hidden risk</a:t>
            </a:r>
          </a:p>
          <a:p>
            <a:pPr algn="l" marL="457200" indent="0">
              <a:lnSpc>
                <a:spcPct val="108000"/>
              </a:lnSpc>
              <a:spcBef>
                <a:spcPts val="0"/>
              </a:spcBef>
              <a:spcAft>
                <a:spcPts val="700"/>
              </a:spcAft>
              <a:buNone/>
              <a:defRPr sz="2000" b="0">
                <a:solidFill>
                  <a:srgbClr val="22313F"/>
                </a:solidFill>
                <a:latin typeface="Aptos"/>
              </a:defRPr>
            </a:pPr>
            <a:r>
              <a:t>- tool access alone is not enablement</a:t>
            </a:r>
          </a:p>
          <a:p>
            <a:pPr algn="l" marL="457200" indent="0">
              <a:lnSpc>
                <a:spcPct val="108000"/>
              </a:lnSpc>
              <a:spcBef>
                <a:spcPts val="0"/>
              </a:spcBef>
              <a:spcAft>
                <a:spcPts val="700"/>
              </a:spcAft>
              <a:buNone/>
              <a:defRPr sz="2000" b="0">
                <a:solidFill>
                  <a:srgbClr val="22313F"/>
                </a:solidFill>
                <a:latin typeface="Aptos"/>
              </a:defRPr>
            </a:pPr>
            <a:r>
              <a:t>- this pilot is about workflow improvement, not hype</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This is not a choice between ban AI and automate the humans away.</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The useful middle path is:</a:t>
            </a:r>
          </a:p>
          <a:p>
            <a:pPr algn="l" marL="0" indent="0">
              <a:lnSpc>
                <a:spcPct val="108000"/>
              </a:lnSpc>
              <a:spcBef>
                <a:spcPts val="0"/>
              </a:spcBef>
              <a:spcAft>
                <a:spcPts val="1000"/>
              </a:spcAft>
              <a:buNone/>
              <a:defRPr sz="2100" b="1">
                <a:solidFill>
                  <a:srgbClr val="22313F"/>
                </a:solidFill>
                <a:latin typeface="Aptos"/>
              </a:defRPr>
            </a:pPr>
            <a:r>
              <a:t>paired engineering with explicit review, verification, and guardrails</a:t>
            </a:r>
          </a:p>
          <a:p>
            <a:pPr algn="l" marL="457200" indent="0">
              <a:lnSpc>
                <a:spcPct val="108000"/>
              </a:lnSpc>
              <a:spcBef>
                <a:spcPts val="0"/>
              </a:spcBef>
              <a:spcAft>
                <a:spcPts val="700"/>
              </a:spcAft>
              <a:buNone/>
              <a:defRPr sz="2000" b="0">
                <a:solidFill>
                  <a:srgbClr val="22313F"/>
                </a:solidFill>
                <a:latin typeface="Aptos"/>
              </a:defRPr>
            </a:pPr>
            <a:r>
              <a:t>- gain leverage without outsourcing judgment</a:t>
            </a:r>
          </a:p>
          <a:p>
            <a:pPr algn="l" marL="457200" indent="0">
              <a:lnSpc>
                <a:spcPct val="108000"/>
              </a:lnSpc>
              <a:spcBef>
                <a:spcPts val="0"/>
              </a:spcBef>
              <a:spcAft>
                <a:spcPts val="700"/>
              </a:spcAft>
              <a:buNone/>
              <a:defRPr sz="2000" b="0">
                <a:solidFill>
                  <a:srgbClr val="22313F"/>
                </a:solidFill>
                <a:latin typeface="Aptos"/>
              </a:defRPr>
            </a:pPr>
            <a:r>
              <a:t>- improve workflow quality without normalizing blind delegation</a:t>
            </a:r>
          </a:p>
          <a:p>
            <a:pPr algn="l" marL="457200" indent="0">
              <a:lnSpc>
                <a:spcPct val="108000"/>
              </a:lnSpc>
              <a:spcBef>
                <a:spcPts val="0"/>
              </a:spcBef>
              <a:spcAft>
                <a:spcPts val="700"/>
              </a:spcAft>
              <a:buNone/>
              <a:defRPr sz="2000" b="0">
                <a:solidFill>
                  <a:srgbClr val="22313F"/>
                </a:solidFill>
                <a:latin typeface="Aptos"/>
              </a:defRPr>
            </a:pPr>
            <a:r>
              <a:t>- treat rollout as operational design, not ideology</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AI creates both opportunity and risk inside the delivery system.</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Some workflows accelerate.</a:t>
            </a:r>
          </a:p>
          <a:p>
            <a:pPr algn="l" marL="0" indent="0">
              <a:lnSpc>
                <a:spcPct val="108000"/>
              </a:lnSpc>
              <a:spcBef>
                <a:spcPts val="0"/>
              </a:spcBef>
              <a:spcAft>
                <a:spcPts val="1000"/>
              </a:spcAft>
              <a:buNone/>
              <a:defRPr sz="2000" b="0">
                <a:solidFill>
                  <a:srgbClr val="22313F"/>
                </a:solidFill>
                <a:latin typeface="Aptos"/>
              </a:defRPr>
            </a:pPr>
            <a:r>
              <a:t>Some create:</a:t>
            </a:r>
          </a:p>
          <a:p>
            <a:pPr algn="l" marL="457200" indent="0">
              <a:lnSpc>
                <a:spcPct val="108000"/>
              </a:lnSpc>
              <a:spcBef>
                <a:spcPts val="0"/>
              </a:spcBef>
              <a:spcAft>
                <a:spcPts val="700"/>
              </a:spcAft>
              <a:buNone/>
              <a:defRPr sz="2000" b="0">
                <a:solidFill>
                  <a:srgbClr val="22313F"/>
                </a:solidFill>
                <a:latin typeface="Aptos"/>
              </a:defRPr>
            </a:pPr>
            <a:r>
              <a:t>- learning debt</a:t>
            </a:r>
          </a:p>
          <a:p>
            <a:pPr algn="l" marL="457200" indent="0">
              <a:lnSpc>
                <a:spcPct val="108000"/>
              </a:lnSpc>
              <a:spcBef>
                <a:spcPts val="0"/>
              </a:spcBef>
              <a:spcAft>
                <a:spcPts val="700"/>
              </a:spcAft>
              <a:buNone/>
              <a:defRPr sz="2000" b="0">
                <a:solidFill>
                  <a:srgbClr val="22313F"/>
                </a:solidFill>
                <a:latin typeface="Aptos"/>
              </a:defRPr>
            </a:pPr>
            <a:r>
              <a:t>- false confidence</a:t>
            </a:r>
          </a:p>
          <a:p>
            <a:pPr algn="l" marL="457200" indent="0">
              <a:lnSpc>
                <a:spcPct val="108000"/>
              </a:lnSpc>
              <a:spcBef>
                <a:spcPts val="0"/>
              </a:spcBef>
              <a:spcAft>
                <a:spcPts val="700"/>
              </a:spcAft>
              <a:buNone/>
              <a:defRPr sz="2000" b="0">
                <a:solidFill>
                  <a:srgbClr val="22313F"/>
                </a:solidFill>
                <a:latin typeface="Aptos"/>
              </a:defRPr>
            </a:pPr>
            <a:r>
              <a:t>- hidden review burden</a:t>
            </a:r>
          </a:p>
          <a:p>
            <a:pPr algn="l" marL="457200" indent="0">
              <a:lnSpc>
                <a:spcPct val="108000"/>
              </a:lnSpc>
              <a:spcBef>
                <a:spcPts val="0"/>
              </a:spcBef>
              <a:spcAft>
                <a:spcPts val="700"/>
              </a:spcAft>
              <a:buNone/>
              <a:defRPr sz="2000" b="0">
                <a:solidFill>
                  <a:srgbClr val="22313F"/>
                </a:solidFill>
                <a:latin typeface="Aptos"/>
              </a:defRPr>
            </a:pPr>
            <a:r>
              <a:t>- bloated requirements and documentation</a:t>
            </a:r>
          </a:p>
          <a:p>
            <a:pPr algn="l" marL="0" indent="0">
              <a:lnSpc>
                <a:spcPct val="108000"/>
              </a:lnSpc>
              <a:spcBef>
                <a:spcPts val="0"/>
              </a:spcBef>
              <a:spcAft>
                <a:spcPts val="1000"/>
              </a:spcAft>
              <a:buNone/>
              <a:defRPr sz="2100" b="1">
                <a:solidFill>
                  <a:srgbClr val="22313F"/>
                </a:solidFill>
                <a:latin typeface="Aptos"/>
              </a:defRPr>
            </a:pPr>
            <a:r>
              <a:t>Productivity and mastery are not the same outcome.</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The evidence is mixed, but mixed does not mean unusable.</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bounded software tasks can speed up with AI</a:t>
            </a:r>
          </a:p>
          <a:p>
            <a:pPr algn="l" marL="254000" indent="0">
              <a:lnSpc>
                <a:spcPct val="108000"/>
              </a:lnSpc>
              <a:spcBef>
                <a:spcPts val="0"/>
              </a:spcBef>
              <a:spcAft>
                <a:spcPts val="700"/>
              </a:spcAft>
              <a:buNone/>
              <a:defRPr sz="2000" b="0">
                <a:solidFill>
                  <a:srgbClr val="22313F"/>
                </a:solidFill>
                <a:latin typeface="Aptos"/>
              </a:defRPr>
            </a:pPr>
            <a:r>
              <a:t>- unfamiliar and learning-heavy work can suffer</a:t>
            </a:r>
          </a:p>
          <a:p>
            <a:pPr algn="l" marL="254000" indent="0">
              <a:lnSpc>
                <a:spcPct val="108000"/>
              </a:lnSpc>
              <a:spcBef>
                <a:spcPts val="0"/>
              </a:spcBef>
              <a:spcAft>
                <a:spcPts val="700"/>
              </a:spcAft>
              <a:buNone/>
              <a:defRPr sz="2000" b="0">
                <a:solidFill>
                  <a:srgbClr val="22313F"/>
                </a:solidFill>
                <a:latin typeface="Aptos"/>
              </a:defRPr>
            </a:pPr>
            <a:r>
              <a:t>- explanations alone do not prevent overreliance</a:t>
            </a:r>
          </a:p>
          <a:p>
            <a:pPr algn="l" marL="254000" indent="0">
              <a:lnSpc>
                <a:spcPct val="108000"/>
              </a:lnSpc>
              <a:spcBef>
                <a:spcPts val="0"/>
              </a:spcBef>
              <a:spcAft>
                <a:spcPts val="700"/>
              </a:spcAft>
              <a:buNone/>
              <a:defRPr sz="2000" b="0">
                <a:solidFill>
                  <a:srgbClr val="22313F"/>
                </a:solidFill>
                <a:latin typeface="Aptos"/>
              </a:defRPr>
            </a:pPr>
            <a:r>
              <a:t>- structured, observable tasks often benefit more than low-observability reasoning work</a:t>
            </a:r>
          </a:p>
          <a:p>
            <a:pPr algn="l" marL="254000" indent="0">
              <a:lnSpc>
                <a:spcPct val="108000"/>
              </a:lnSpc>
              <a:spcBef>
                <a:spcPts val="0"/>
              </a:spcBef>
              <a:spcAft>
                <a:spcPts val="700"/>
              </a:spcAft>
              <a:buNone/>
              <a:defRPr sz="2000" b="0">
                <a:solidFill>
                  <a:srgbClr val="22313F"/>
                </a:solidFill>
                <a:latin typeface="Aptos"/>
              </a:defRPr>
            </a:pPr>
            <a:r>
              <a:t>- early-career pipeline risk is real enough to monitor, even if the causal picture is still mixed</a:t>
            </a:r>
          </a:p>
          <a:p>
            <a:pPr algn="l" marL="0" indent="0">
              <a:lnSpc>
                <a:spcPct val="108000"/>
              </a:lnSpc>
              <a:spcBef>
                <a:spcPts val="0"/>
              </a:spcBef>
              <a:spcAft>
                <a:spcPts val="1000"/>
              </a:spcAft>
              <a:buNone/>
              <a:defRPr sz="2100" b="1">
                <a:solidFill>
                  <a:srgbClr val="22313F"/>
                </a:solidFill>
                <a:latin typeface="Aptos"/>
              </a:defRPr>
            </a:pPr>
            <a:r>
              <a:t>The right conclusion is not “wait forever.”</a:t>
            </a:r>
          </a:p>
          <a:p>
            <a:pPr algn="l" marL="0" indent="0">
              <a:lnSpc>
                <a:spcPct val="108000"/>
              </a:lnSpc>
              <a:spcBef>
                <a:spcPts val="0"/>
              </a:spcBef>
              <a:spcAft>
                <a:spcPts val="1000"/>
              </a:spcAft>
              <a:buNone/>
              <a:defRPr sz="2100" b="1">
                <a:solidFill>
                  <a:srgbClr val="22313F"/>
                </a:solidFill>
                <a:latin typeface="Aptos"/>
              </a:defRPr>
            </a:pPr>
            <a:r>
              <a:t>The right conclusion is “roll out deliberately.”</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Use AI as paired engineering, not blind delegation.</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Default pattern:</a:t>
            </a:r>
          </a:p>
          <a:p>
            <a:pPr algn="l" marL="0" indent="0">
              <a:lnSpc>
                <a:spcPct val="108000"/>
              </a:lnSpc>
              <a:spcBef>
                <a:spcPts val="0"/>
              </a:spcBef>
              <a:spcAft>
                <a:spcPts val="1000"/>
              </a:spcAft>
              <a:buNone/>
              <a:defRPr sz="2000" b="0">
                <a:solidFill>
                  <a:srgbClr val="22313F"/>
                </a:solidFill>
                <a:latin typeface="Aptos"/>
              </a:defRPr>
            </a:pPr>
            <a:r>
              <a:t>question -&gt; generate or compare -&gt; verify -&gt; revise -&gt; learn</a:t>
            </a:r>
          </a:p>
          <a:p>
            <a:pPr algn="l" marL="457200" indent="0">
              <a:lnSpc>
                <a:spcPct val="108000"/>
              </a:lnSpc>
              <a:spcBef>
                <a:spcPts val="0"/>
              </a:spcBef>
              <a:spcAft>
                <a:spcPts val="700"/>
              </a:spcAft>
              <a:buNone/>
              <a:defRPr sz="2000" b="0">
                <a:solidFill>
                  <a:srgbClr val="22313F"/>
                </a:solidFill>
                <a:latin typeface="Aptos"/>
              </a:defRPr>
            </a:pPr>
            <a:r>
              <a:t>- explanation-first on unfamiliar work</a:t>
            </a:r>
          </a:p>
          <a:p>
            <a:pPr algn="l" marL="457200" indent="0">
              <a:lnSpc>
                <a:spcPct val="108000"/>
              </a:lnSpc>
              <a:spcBef>
                <a:spcPts val="0"/>
              </a:spcBef>
              <a:spcAft>
                <a:spcPts val="700"/>
              </a:spcAft>
              <a:buNone/>
              <a:defRPr sz="2000" b="0">
                <a:solidFill>
                  <a:srgbClr val="22313F"/>
                </a:solidFill>
                <a:latin typeface="Aptos"/>
              </a:defRPr>
            </a:pPr>
            <a:r>
              <a:t>- stronger acceleration on bounded, verifiable work</a:t>
            </a:r>
          </a:p>
          <a:p>
            <a:pPr algn="l" marL="457200" indent="0">
              <a:lnSpc>
                <a:spcPct val="108000"/>
              </a:lnSpc>
              <a:spcBef>
                <a:spcPts val="0"/>
              </a:spcBef>
              <a:spcAft>
                <a:spcPts val="700"/>
              </a:spcAft>
              <a:buNone/>
              <a:defRPr sz="2000" b="0">
                <a:solidFill>
                  <a:srgbClr val="22313F"/>
                </a:solidFill>
                <a:latin typeface="Aptos"/>
              </a:defRPr>
            </a:pPr>
            <a:r>
              <a:t>- human judgment stays accountable</a:t>
            </a:r>
          </a:p>
          <a:p>
            <a:pPr algn="l" marL="457200" indent="0">
              <a:lnSpc>
                <a:spcPct val="108000"/>
              </a:lnSpc>
              <a:spcBef>
                <a:spcPts val="0"/>
              </a:spcBef>
              <a:spcAft>
                <a:spcPts val="700"/>
              </a:spcAft>
              <a:buNone/>
              <a:defRPr sz="2000" b="0">
                <a:solidFill>
                  <a:srgbClr val="22313F"/>
                </a:solidFill>
                <a:latin typeface="Aptos"/>
              </a:defRPr>
            </a:pPr>
            <a:r>
              <a:t>- review loops remain part of the system</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The same AI usage pattern is not appropriate for every engineer or every task.</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Safe usage changes with:</a:t>
            </a:r>
          </a:p>
          <a:p>
            <a:pPr algn="l" marL="457200" indent="0">
              <a:lnSpc>
                <a:spcPct val="108000"/>
              </a:lnSpc>
              <a:spcBef>
                <a:spcPts val="0"/>
              </a:spcBef>
              <a:spcAft>
                <a:spcPts val="700"/>
              </a:spcAft>
              <a:buNone/>
              <a:defRPr sz="2000" b="0">
                <a:solidFill>
                  <a:srgbClr val="22313F"/>
                </a:solidFill>
                <a:latin typeface="Aptos"/>
              </a:defRPr>
            </a:pPr>
            <a:r>
              <a:t>- judgment and verification ability</a:t>
            </a:r>
          </a:p>
          <a:p>
            <a:pPr algn="l" marL="457200" indent="0">
              <a:lnSpc>
                <a:spcPct val="108000"/>
              </a:lnSpc>
              <a:spcBef>
                <a:spcPts val="0"/>
              </a:spcBef>
              <a:spcAft>
                <a:spcPts val="700"/>
              </a:spcAft>
              <a:buNone/>
              <a:defRPr sz="2000" b="0">
                <a:solidFill>
                  <a:srgbClr val="22313F"/>
                </a:solidFill>
                <a:latin typeface="Aptos"/>
              </a:defRPr>
            </a:pPr>
            <a:r>
              <a:t>- task familiarity</a:t>
            </a:r>
          </a:p>
          <a:p>
            <a:pPr algn="l" marL="457200" indent="0">
              <a:lnSpc>
                <a:spcPct val="108000"/>
              </a:lnSpc>
              <a:spcBef>
                <a:spcPts val="0"/>
              </a:spcBef>
              <a:spcAft>
                <a:spcPts val="700"/>
              </a:spcAft>
              <a:buNone/>
              <a:defRPr sz="2000" b="0">
                <a:solidFill>
                  <a:srgbClr val="22313F"/>
                </a:solidFill>
                <a:latin typeface="Aptos"/>
              </a:defRPr>
            </a:pPr>
            <a:r>
              <a:t>- task risk</a:t>
            </a:r>
          </a:p>
          <a:p>
            <a:pPr algn="l" marL="457200" indent="0">
              <a:lnSpc>
                <a:spcPct val="108000"/>
              </a:lnSpc>
              <a:spcBef>
                <a:spcPts val="0"/>
              </a:spcBef>
              <a:spcAft>
                <a:spcPts val="700"/>
              </a:spcAft>
              <a:buNone/>
              <a:defRPr sz="2000" b="0">
                <a:solidFill>
                  <a:srgbClr val="22313F"/>
                </a:solidFill>
                <a:latin typeface="Aptos"/>
              </a:defRPr>
            </a:pPr>
            <a:r>
              <a:t>- verification difficulty</a:t>
            </a:r>
          </a:p>
          <a:p>
            <a:pPr algn="l" marL="0" indent="0">
              <a:lnSpc>
                <a:spcPct val="108000"/>
              </a:lnSpc>
              <a:spcBef>
                <a:spcPts val="0"/>
              </a:spcBef>
              <a:spcAft>
                <a:spcPts val="1000"/>
              </a:spcAft>
              <a:buNone/>
              <a:defRPr sz="2100" b="1">
                <a:solidFill>
                  <a:srgbClr val="22313F"/>
                </a:solidFill>
                <a:latin typeface="Aptos"/>
              </a:defRPr>
            </a:pPr>
            <a:r>
              <a:t>One policy message is too blunt for real software delivery work.</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We guide adoption using:</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oversight readiness</a:t>
            </a:r>
          </a:p>
          <a:p>
            <a:pPr algn="l" marL="254000" indent="0">
              <a:lnSpc>
                <a:spcPct val="108000"/>
              </a:lnSpc>
              <a:spcBef>
                <a:spcPts val="0"/>
              </a:spcBef>
              <a:spcAft>
                <a:spcPts val="700"/>
              </a:spcAft>
              <a:buNone/>
              <a:defRPr sz="2000" b="0">
                <a:solidFill>
                  <a:srgbClr val="22313F"/>
                </a:solidFill>
                <a:latin typeface="Aptos"/>
              </a:defRPr>
            </a:pPr>
            <a:r>
              <a:t>- task familiarity</a:t>
            </a:r>
          </a:p>
          <a:p>
            <a:pPr algn="l" marL="254000" indent="0">
              <a:lnSpc>
                <a:spcPct val="108000"/>
              </a:lnSpc>
              <a:spcBef>
                <a:spcPts val="0"/>
              </a:spcBef>
              <a:spcAft>
                <a:spcPts val="700"/>
              </a:spcAft>
              <a:buNone/>
              <a:defRPr sz="2000" b="0">
                <a:solidFill>
                  <a:srgbClr val="22313F"/>
                </a:solidFill>
                <a:latin typeface="Aptos"/>
              </a:defRPr>
            </a:pPr>
            <a:r>
              <a:t>- task risk</a:t>
            </a:r>
          </a:p>
          <a:p>
            <a:pPr algn="l" marL="254000" indent="0">
              <a:lnSpc>
                <a:spcPct val="108000"/>
              </a:lnSpc>
              <a:spcBef>
                <a:spcPts val="0"/>
              </a:spcBef>
              <a:spcAft>
                <a:spcPts val="700"/>
              </a:spcAft>
              <a:buNone/>
              <a:defRPr sz="2000" b="0">
                <a:solidFill>
                  <a:srgbClr val="22313F"/>
                </a:solidFill>
                <a:latin typeface="Aptos"/>
              </a:defRPr>
            </a:pPr>
            <a:r>
              <a:t>- verification difficulty</a:t>
            </a:r>
          </a:p>
          <a:p>
            <a:pPr algn="l" marL="0" indent="0">
              <a:lnSpc>
                <a:spcPct val="108000"/>
              </a:lnSpc>
              <a:spcBef>
                <a:spcPts val="0"/>
              </a:spcBef>
              <a:spcAft>
                <a:spcPts val="1000"/>
              </a:spcAft>
              <a:buNone/>
              <a:defRPr sz="2000" b="0">
                <a:solidFill>
                  <a:srgbClr val="22313F"/>
                </a:solidFill>
                <a:latin typeface="Aptos"/>
              </a:defRPr>
            </a:pPr>
            <a:r>
              <a:t>Readiness bands:</a:t>
            </a:r>
          </a:p>
          <a:p>
            <a:pPr algn="l" marL="457200" indent="0">
              <a:lnSpc>
                <a:spcPct val="108000"/>
              </a:lnSpc>
              <a:spcBef>
                <a:spcPts val="0"/>
              </a:spcBef>
              <a:spcAft>
                <a:spcPts val="700"/>
              </a:spcAft>
              <a:buNone/>
              <a:defRPr sz="2000" b="0">
                <a:solidFill>
                  <a:srgbClr val="22313F"/>
                </a:solidFill>
                <a:latin typeface="Aptos"/>
              </a:defRPr>
            </a:pPr>
            <a:r>
              <a:t>- E1 Assisted learner</a:t>
            </a:r>
          </a:p>
          <a:p>
            <a:pPr algn="l" marL="457200" indent="0">
              <a:lnSpc>
                <a:spcPct val="108000"/>
              </a:lnSpc>
              <a:spcBef>
                <a:spcPts val="0"/>
              </a:spcBef>
              <a:spcAft>
                <a:spcPts val="700"/>
              </a:spcAft>
              <a:buNone/>
              <a:defRPr sz="2000" b="0">
                <a:solidFill>
                  <a:srgbClr val="22313F"/>
                </a:solidFill>
                <a:latin typeface="Aptos"/>
              </a:defRPr>
            </a:pPr>
            <a:r>
              <a:t>- E2 Independent practitioner</a:t>
            </a:r>
          </a:p>
          <a:p>
            <a:pPr algn="l" marL="457200" indent="0">
              <a:lnSpc>
                <a:spcPct val="108000"/>
              </a:lnSpc>
              <a:spcBef>
                <a:spcPts val="0"/>
              </a:spcBef>
              <a:spcAft>
                <a:spcPts val="700"/>
              </a:spcAft>
              <a:buNone/>
              <a:defRPr sz="2000" b="0">
                <a:solidFill>
                  <a:srgbClr val="22313F"/>
                </a:solidFill>
                <a:latin typeface="Aptos"/>
              </a:defRPr>
            </a:pPr>
            <a:r>
              <a:t>- E3 Oversight-capable engineer</a:t>
            </a:r>
          </a:p>
          <a:p>
            <a:pPr algn="l" marL="0" indent="0">
              <a:lnSpc>
                <a:spcPct val="108000"/>
              </a:lnSpc>
              <a:spcBef>
                <a:spcPts val="0"/>
              </a:spcBef>
              <a:spcAft>
                <a:spcPts val="1000"/>
              </a:spcAft>
              <a:buNone/>
              <a:defRPr sz="2000" b="0">
                <a:solidFill>
                  <a:srgbClr val="22313F"/>
                </a:solidFill>
                <a:latin typeface="Aptos"/>
              </a:defRPr>
            </a:pPr>
            <a:r>
              <a:t>Lower-observability work gets stricter treatment regardless of title.</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Fluent output is not trustworthy output.</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Verification must match:</a:t>
            </a:r>
          </a:p>
          <a:p>
            <a:pPr algn="l" marL="457200" indent="0">
              <a:lnSpc>
                <a:spcPct val="108000"/>
              </a:lnSpc>
              <a:spcBef>
                <a:spcPts val="0"/>
              </a:spcBef>
              <a:spcAft>
                <a:spcPts val="700"/>
              </a:spcAft>
              <a:buNone/>
              <a:defRPr sz="2000" b="0">
                <a:solidFill>
                  <a:srgbClr val="22313F"/>
                </a:solidFill>
                <a:latin typeface="Aptos"/>
              </a:defRPr>
            </a:pPr>
            <a:r>
              <a:t>- the artifact being produced</a:t>
            </a:r>
          </a:p>
          <a:p>
            <a:pPr algn="l" marL="457200" indent="0">
              <a:lnSpc>
                <a:spcPct val="108000"/>
              </a:lnSpc>
              <a:spcBef>
                <a:spcPts val="0"/>
              </a:spcBef>
              <a:spcAft>
                <a:spcPts val="700"/>
              </a:spcAft>
              <a:buNone/>
              <a:defRPr sz="2000" b="0">
                <a:solidFill>
                  <a:srgbClr val="22313F"/>
                </a:solidFill>
                <a:latin typeface="Aptos"/>
              </a:defRPr>
            </a:pPr>
            <a:r>
              <a:t>- the risk of failure</a:t>
            </a:r>
          </a:p>
          <a:p>
            <a:pPr algn="l" marL="457200" indent="0">
              <a:lnSpc>
                <a:spcPct val="108000"/>
              </a:lnSpc>
              <a:spcBef>
                <a:spcPts val="0"/>
              </a:spcBef>
              <a:spcAft>
                <a:spcPts val="700"/>
              </a:spcAft>
              <a:buNone/>
              <a:defRPr sz="2000" b="0">
                <a:solidFill>
                  <a:srgbClr val="22313F"/>
                </a:solidFill>
                <a:latin typeface="Aptos"/>
              </a:defRPr>
            </a:pPr>
            <a:r>
              <a:t>- how observable the work really is</a:t>
            </a:r>
          </a:p>
          <a:p>
            <a:pPr algn="l" marL="457200" indent="0">
              <a:lnSpc>
                <a:spcPct val="108000"/>
              </a:lnSpc>
              <a:spcBef>
                <a:spcPts val="0"/>
              </a:spcBef>
              <a:spcAft>
                <a:spcPts val="700"/>
              </a:spcAft>
              <a:buNone/>
              <a:defRPr sz="2000" b="0">
                <a:solidFill>
                  <a:srgbClr val="22313F"/>
                </a:solidFill>
                <a:latin typeface="Aptos"/>
              </a:defRPr>
            </a:pPr>
            <a:r>
              <a:t>- the person’s oversight readiness</a:t>
            </a:r>
          </a:p>
          <a:p>
            <a:pPr algn="l" marL="0" indent="0">
              <a:lnSpc>
                <a:spcPct val="108000"/>
              </a:lnSpc>
              <a:spcBef>
                <a:spcPts val="0"/>
              </a:spcBef>
              <a:spcAft>
                <a:spcPts val="1000"/>
              </a:spcAft>
              <a:buNone/>
              <a:defRPr sz="2000" b="0">
                <a:solidFill>
                  <a:srgbClr val="22313F"/>
                </a:solidFill>
                <a:latin typeface="Aptos"/>
              </a:defRPr>
            </a:pPr>
            <a:r>
              <a:t>Code, tests, requirements, architecture reasoning, and runbooks do not verify the same way.</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AI enablement should be treated as capability multiplication, not simple headcount subtraction.</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Why the cost-cutting story is too shallow:</a:t>
            </a:r>
          </a:p>
          <a:p>
            <a:pPr algn="l" marL="457200" indent="0">
              <a:lnSpc>
                <a:spcPct val="108000"/>
              </a:lnSpc>
              <a:spcBef>
                <a:spcPts val="0"/>
              </a:spcBef>
              <a:spcAft>
                <a:spcPts val="700"/>
              </a:spcAft>
              <a:buNone/>
              <a:defRPr sz="2000" b="0">
                <a:solidFill>
                  <a:srgbClr val="22313F"/>
                </a:solidFill>
                <a:latin typeface="Aptos"/>
              </a:defRPr>
            </a:pPr>
            <a:r>
              <a:t>- it ignores review debt and hidden rework</a:t>
            </a:r>
          </a:p>
          <a:p>
            <a:pPr algn="l" marL="457200" indent="0">
              <a:lnSpc>
                <a:spcPct val="108000"/>
              </a:lnSpc>
              <a:spcBef>
                <a:spcPts val="0"/>
              </a:spcBef>
              <a:spcAft>
                <a:spcPts val="700"/>
              </a:spcAft>
              <a:buNone/>
              <a:defRPr sz="2000" b="0">
                <a:solidFill>
                  <a:srgbClr val="22313F"/>
                </a:solidFill>
                <a:latin typeface="Aptos"/>
              </a:defRPr>
            </a:pPr>
            <a:r>
              <a:t>- junior work often doubles as apprenticeship work</a:t>
            </a:r>
          </a:p>
          <a:p>
            <a:pPr algn="l" marL="457200" indent="0">
              <a:lnSpc>
                <a:spcPct val="108000"/>
              </a:lnSpc>
              <a:spcBef>
                <a:spcPts val="0"/>
              </a:spcBef>
              <a:spcAft>
                <a:spcPts val="700"/>
              </a:spcAft>
              <a:buNone/>
              <a:defRPr sz="2000" b="0">
                <a:solidFill>
                  <a:srgbClr val="22313F"/>
                </a:solidFill>
                <a:latin typeface="Aptos"/>
              </a:defRPr>
            </a:pPr>
            <a:r>
              <a:t>- shrinking the lower rungs without redesign creates future capability debt</a:t>
            </a:r>
          </a:p>
          <a:p>
            <a:pPr algn="l" marL="457200" indent="0">
              <a:lnSpc>
                <a:spcPct val="108000"/>
              </a:lnSpc>
              <a:spcBef>
                <a:spcPts val="0"/>
              </a:spcBef>
              <a:spcAft>
                <a:spcPts val="700"/>
              </a:spcAft>
              <a:buNone/>
              <a:defRPr sz="2000" b="0">
                <a:solidFill>
                  <a:srgbClr val="22313F"/>
                </a:solidFill>
                <a:latin typeface="Aptos"/>
              </a:defRPr>
            </a:pPr>
            <a:r>
              <a:t>- speed of draft generation is not speed of trustworthy delivery</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Prompt counts and tool activity are useful context.</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They are weak evidence of enablement success.</a:t>
            </a:r>
          </a:p>
          <a:p>
            <a:pPr algn="l" marL="0" indent="0">
              <a:lnSpc>
                <a:spcPct val="108000"/>
              </a:lnSpc>
              <a:spcBef>
                <a:spcPts val="0"/>
              </a:spcBef>
              <a:spcAft>
                <a:spcPts val="1000"/>
              </a:spcAft>
              <a:buNone/>
              <a:defRPr sz="2000" b="0">
                <a:solidFill>
                  <a:srgbClr val="22313F"/>
                </a:solidFill>
                <a:latin typeface="Aptos"/>
              </a:defRPr>
            </a:pPr>
            <a:r>
              <a:t>Usage metrics do not reliably tell leadership:</a:t>
            </a:r>
          </a:p>
          <a:p>
            <a:pPr algn="l" marL="457200" indent="0">
              <a:lnSpc>
                <a:spcPct val="108000"/>
              </a:lnSpc>
              <a:spcBef>
                <a:spcPts val="0"/>
              </a:spcBef>
              <a:spcAft>
                <a:spcPts val="700"/>
              </a:spcAft>
              <a:buNone/>
              <a:defRPr sz="2000" b="0">
                <a:solidFill>
                  <a:srgbClr val="22313F"/>
                </a:solidFill>
                <a:latin typeface="Aptos"/>
              </a:defRPr>
            </a:pPr>
            <a:r>
              <a:t>- whether workflow quality improved</a:t>
            </a:r>
          </a:p>
          <a:p>
            <a:pPr algn="l" marL="457200" indent="0">
              <a:lnSpc>
                <a:spcPct val="108000"/>
              </a:lnSpc>
              <a:spcBef>
                <a:spcPts val="0"/>
              </a:spcBef>
              <a:spcAft>
                <a:spcPts val="700"/>
              </a:spcAft>
              <a:buNone/>
              <a:defRPr sz="2000" b="0">
                <a:solidFill>
                  <a:srgbClr val="22313F"/>
                </a:solidFill>
                <a:latin typeface="Aptos"/>
              </a:defRPr>
            </a:pPr>
            <a:r>
              <a:t>- whether review burden rose</a:t>
            </a:r>
          </a:p>
          <a:p>
            <a:pPr algn="l" marL="457200" indent="0">
              <a:lnSpc>
                <a:spcPct val="108000"/>
              </a:lnSpc>
              <a:spcBef>
                <a:spcPts val="0"/>
              </a:spcBef>
              <a:spcAft>
                <a:spcPts val="700"/>
              </a:spcAft>
              <a:buNone/>
              <a:defRPr sz="2000" b="0">
                <a:solidFill>
                  <a:srgbClr val="22313F"/>
                </a:solidFill>
                <a:latin typeface="Aptos"/>
              </a:defRPr>
            </a:pPr>
            <a:r>
              <a:t>- whether lower-readiness engineers are learning</a:t>
            </a:r>
          </a:p>
          <a:p>
            <a:pPr algn="l" marL="457200" indent="0">
              <a:lnSpc>
                <a:spcPct val="108000"/>
              </a:lnSpc>
              <a:spcBef>
                <a:spcPts val="0"/>
              </a:spcBef>
              <a:spcAft>
                <a:spcPts val="700"/>
              </a:spcAft>
              <a:buNone/>
              <a:defRPr sz="2000" b="0">
                <a:solidFill>
                  <a:srgbClr val="22313F"/>
                </a:solidFill>
                <a:latin typeface="Aptos"/>
              </a:defRPr>
            </a:pPr>
            <a:r>
              <a:t>- whether managers and leads are quietly absorbing cleanup work</a:t>
            </a:r>
          </a:p>
          <a:p>
            <a:pPr algn="l" marL="0" indent="0">
              <a:lnSpc>
                <a:spcPct val="108000"/>
              </a:lnSpc>
              <a:spcBef>
                <a:spcPts val="0"/>
              </a:spcBef>
              <a:spcAft>
                <a:spcPts val="1000"/>
              </a:spcAft>
              <a:buNone/>
              <a:defRPr sz="2100" b="1">
                <a:solidFill>
                  <a:srgbClr val="22313F"/>
                </a:solidFill>
                <a:latin typeface="Aptos"/>
              </a:defRPr>
            </a:pPr>
            <a:r>
              <a:t>Activity is not the same as enablement.</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Start with an initial pilot cohort so we can learn quickly without pretending one rollout fits every team.</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Pilot shape:</a:t>
            </a:r>
          </a:p>
          <a:p>
            <a:pPr algn="l" marL="457200" indent="0">
              <a:lnSpc>
                <a:spcPct val="108000"/>
              </a:lnSpc>
              <a:spcBef>
                <a:spcPts val="0"/>
              </a:spcBef>
              <a:spcAft>
                <a:spcPts val="700"/>
              </a:spcAft>
              <a:buNone/>
              <a:defRPr sz="2000" b="0">
                <a:solidFill>
                  <a:srgbClr val="22313F"/>
                </a:solidFill>
                <a:latin typeface="Aptos"/>
              </a:defRPr>
            </a:pPr>
            <a:r>
              <a:t>- one technical enablement lead</a:t>
            </a:r>
          </a:p>
          <a:p>
            <a:pPr algn="l" marL="457200" indent="0">
              <a:lnSpc>
                <a:spcPct val="108000"/>
              </a:lnSpc>
              <a:spcBef>
                <a:spcPts val="0"/>
              </a:spcBef>
              <a:spcAft>
                <a:spcPts val="700"/>
              </a:spcAft>
              <a:buNone/>
              <a:defRPr sz="2000" b="0">
                <a:solidFill>
                  <a:srgbClr val="22313F"/>
                </a:solidFill>
                <a:latin typeface="Aptos"/>
              </a:defRPr>
            </a:pPr>
            <a:r>
              <a:t>- one management sponsor</a:t>
            </a:r>
          </a:p>
          <a:p>
            <a:pPr algn="l" marL="457200" indent="0">
              <a:lnSpc>
                <a:spcPct val="108000"/>
              </a:lnSpc>
              <a:spcBef>
                <a:spcPts val="0"/>
              </a:spcBef>
              <a:spcAft>
                <a:spcPts val="700"/>
              </a:spcAft>
              <a:buNone/>
              <a:defRPr sz="2000" b="0">
                <a:solidFill>
                  <a:srgbClr val="22313F"/>
                </a:solidFill>
                <a:latin typeface="Aptos"/>
              </a:defRPr>
            </a:pPr>
            <a:r>
              <a:t>- bounded starting scope</a:t>
            </a:r>
          </a:p>
          <a:p>
            <a:pPr algn="l" marL="457200" indent="0">
              <a:lnSpc>
                <a:spcPct val="108000"/>
              </a:lnSpc>
              <a:spcBef>
                <a:spcPts val="0"/>
              </a:spcBef>
              <a:spcAft>
                <a:spcPts val="700"/>
              </a:spcAft>
              <a:buNone/>
              <a:defRPr sz="2000" b="0">
                <a:solidFill>
                  <a:srgbClr val="22313F"/>
                </a:solidFill>
                <a:latin typeface="Aptos"/>
              </a:defRPr>
            </a:pPr>
            <a:r>
              <a:t>- limited workflows per role</a:t>
            </a:r>
          </a:p>
          <a:p>
            <a:pPr algn="l" marL="457200" indent="0">
              <a:lnSpc>
                <a:spcPct val="108000"/>
              </a:lnSpc>
              <a:spcBef>
                <a:spcPts val="0"/>
              </a:spcBef>
              <a:spcAft>
                <a:spcPts val="700"/>
              </a:spcAft>
              <a:buNone/>
              <a:defRPr sz="2000" b="0">
                <a:solidFill>
                  <a:srgbClr val="22313F"/>
                </a:solidFill>
                <a:latin typeface="Aptos"/>
              </a:defRPr>
            </a:pPr>
            <a:r>
              <a:t>- 12-week phased pilot</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Roll out by workflow, not by job title alone.</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Initial workflow candidates:</a:t>
            </a:r>
          </a:p>
          <a:p>
            <a:pPr algn="l" marL="457200" indent="0">
              <a:lnSpc>
                <a:spcPct val="108000"/>
              </a:lnSpc>
              <a:spcBef>
                <a:spcPts val="0"/>
              </a:spcBef>
              <a:spcAft>
                <a:spcPts val="700"/>
              </a:spcAft>
              <a:buNone/>
              <a:defRPr sz="2000" b="0">
                <a:solidFill>
                  <a:srgbClr val="22313F"/>
                </a:solidFill>
                <a:latin typeface="Aptos"/>
              </a:defRPr>
            </a:pPr>
            <a:r>
              <a:t>- developers: debugging support, code explanation, unit test drafting</a:t>
            </a:r>
          </a:p>
          <a:p>
            <a:pPr algn="l" marL="457200" indent="0">
              <a:lnSpc>
                <a:spcPct val="108000"/>
              </a:lnSpc>
              <a:spcBef>
                <a:spcPts val="0"/>
              </a:spcBef>
              <a:spcAft>
                <a:spcPts val="700"/>
              </a:spcAft>
              <a:buNone/>
              <a:defRPr sz="2000" b="0">
                <a:solidFill>
                  <a:srgbClr val="22313F"/>
                </a:solidFill>
                <a:latin typeface="Aptos"/>
              </a:defRPr>
            </a:pPr>
            <a:r>
              <a:t>- QA and SDET: failure triage, flaky test investigation</a:t>
            </a:r>
          </a:p>
          <a:p>
            <a:pPr algn="l" marL="457200" indent="0">
              <a:lnSpc>
                <a:spcPct val="108000"/>
              </a:lnSpc>
              <a:spcBef>
                <a:spcPts val="0"/>
              </a:spcBef>
              <a:spcAft>
                <a:spcPts val="700"/>
              </a:spcAft>
              <a:buNone/>
              <a:defRPr sz="2000" b="0">
                <a:solidFill>
                  <a:srgbClr val="22313F"/>
                </a:solidFill>
                <a:latin typeface="Aptos"/>
              </a:defRPr>
            </a:pPr>
            <a:r>
              <a:t>- architects: option comparison, risk review</a:t>
            </a:r>
          </a:p>
          <a:p>
            <a:pPr algn="l" marL="457200" indent="0">
              <a:lnSpc>
                <a:spcPct val="108000"/>
              </a:lnSpc>
              <a:spcBef>
                <a:spcPts val="0"/>
              </a:spcBef>
              <a:spcAft>
                <a:spcPts val="700"/>
              </a:spcAft>
              <a:buNone/>
              <a:defRPr sz="2000" b="0">
                <a:solidFill>
                  <a:srgbClr val="22313F"/>
                </a:solidFill>
                <a:latin typeface="Aptos"/>
              </a:defRPr>
            </a:pPr>
            <a:r>
              <a:t>- product owners: backlog clarification, ambiguity detection</a:t>
            </a:r>
          </a:p>
          <a:p>
            <a:pPr algn="l" marL="0" indent="0">
              <a:lnSpc>
                <a:spcPct val="108000"/>
              </a:lnSpc>
              <a:spcBef>
                <a:spcPts val="0"/>
              </a:spcBef>
              <a:spcAft>
                <a:spcPts val="1000"/>
              </a:spcAft>
              <a:buNone/>
              <a:defRPr sz="2000" b="0">
                <a:solidFill>
                  <a:srgbClr val="22313F"/>
                </a:solidFill>
                <a:latin typeface="Aptos"/>
              </a:defRPr>
            </a:pPr>
            <a:r>
              <a:t>Start narrow.</a:t>
            </a:r>
          </a:p>
          <a:p>
            <a:pPr algn="l" marL="0" indent="0">
              <a:lnSpc>
                <a:spcPct val="108000"/>
              </a:lnSpc>
              <a:spcBef>
                <a:spcPts val="0"/>
              </a:spcBef>
              <a:spcAft>
                <a:spcPts val="1000"/>
              </a:spcAft>
              <a:buNone/>
              <a:defRPr sz="2000" b="0">
                <a:solidFill>
                  <a:srgbClr val="22313F"/>
                </a:solidFill>
                <a:latin typeface="Aptos"/>
              </a:defRPr>
            </a:pPr>
            <a:r>
              <a:t>Scale only what survives real review.</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Enablement only works if leadership protects the conditions that make good behavior possible.</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Leadership must protect:</a:t>
            </a:r>
          </a:p>
          <a:p>
            <a:pPr algn="l" marL="457200" indent="0">
              <a:lnSpc>
                <a:spcPct val="108000"/>
              </a:lnSpc>
              <a:spcBef>
                <a:spcPts val="0"/>
              </a:spcBef>
              <a:spcAft>
                <a:spcPts val="700"/>
              </a:spcAft>
              <a:buNone/>
              <a:defRPr sz="2000" b="0">
                <a:solidFill>
                  <a:srgbClr val="22313F"/>
                </a:solidFill>
                <a:latin typeface="Aptos"/>
              </a:defRPr>
            </a:pPr>
            <a:r>
              <a:t>- time for demos, office hours, and workflow coaching</a:t>
            </a:r>
          </a:p>
          <a:p>
            <a:pPr algn="l" marL="457200" indent="0">
              <a:lnSpc>
                <a:spcPct val="108000"/>
              </a:lnSpc>
              <a:spcBef>
                <a:spcPts val="0"/>
              </a:spcBef>
              <a:spcAft>
                <a:spcPts val="700"/>
              </a:spcAft>
              <a:buNone/>
              <a:defRPr sz="2000" b="0">
                <a:solidFill>
                  <a:srgbClr val="22313F"/>
                </a:solidFill>
                <a:latin typeface="Aptos"/>
              </a:defRPr>
            </a:pPr>
            <a:r>
              <a:t>- review and verification loops</a:t>
            </a:r>
          </a:p>
          <a:p>
            <a:pPr algn="l" marL="457200" indent="0">
              <a:lnSpc>
                <a:spcPct val="108000"/>
              </a:lnSpc>
              <a:spcBef>
                <a:spcPts val="0"/>
              </a:spcBef>
              <a:spcAft>
                <a:spcPts val="700"/>
              </a:spcAft>
              <a:buNone/>
              <a:defRPr sz="2000" b="0">
                <a:solidFill>
                  <a:srgbClr val="22313F"/>
                </a:solidFill>
                <a:latin typeface="Aptos"/>
              </a:defRPr>
            </a:pPr>
            <a:r>
              <a:t>- mentoring and apprenticeship capacity</a:t>
            </a:r>
          </a:p>
          <a:p>
            <a:pPr algn="l" marL="457200" indent="0">
              <a:lnSpc>
                <a:spcPct val="108000"/>
              </a:lnSpc>
              <a:spcBef>
                <a:spcPts val="0"/>
              </a:spcBef>
              <a:spcAft>
                <a:spcPts val="700"/>
              </a:spcAft>
              <a:buNone/>
              <a:defRPr sz="2000" b="0">
                <a:solidFill>
                  <a:srgbClr val="22313F"/>
                </a:solidFill>
                <a:latin typeface="Aptos"/>
              </a:defRPr>
            </a:pPr>
            <a:r>
              <a:t>- bounded pilots rather than broad mandatory rollout</a:t>
            </a:r>
          </a:p>
          <a:p>
            <a:pPr algn="l" marL="457200" indent="0">
              <a:lnSpc>
                <a:spcPct val="108000"/>
              </a:lnSpc>
              <a:spcBef>
                <a:spcPts val="0"/>
              </a:spcBef>
              <a:spcAft>
                <a:spcPts val="700"/>
              </a:spcAft>
              <a:buNone/>
              <a:defRPr sz="2000" b="0">
                <a:solidFill>
                  <a:srgbClr val="22313F"/>
                </a:solidFill>
                <a:latin typeface="Aptos"/>
              </a:defRPr>
            </a:pPr>
            <a:r>
              <a:t>- honest reporting, including refine or pause decisions</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We will measure quality of adoption, not just volume of use.</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Primary pilot signals:</a:t>
            </a:r>
          </a:p>
          <a:p>
            <a:pPr algn="l" marL="457200" indent="0">
              <a:lnSpc>
                <a:spcPct val="108000"/>
              </a:lnSpc>
              <a:spcBef>
                <a:spcPts val="0"/>
              </a:spcBef>
              <a:spcAft>
                <a:spcPts val="700"/>
              </a:spcAft>
              <a:buNone/>
              <a:defRPr sz="2000" b="0">
                <a:solidFill>
                  <a:srgbClr val="22313F"/>
                </a:solidFill>
                <a:latin typeface="Aptos"/>
              </a:defRPr>
            </a:pPr>
            <a:r>
              <a:t>- target workflow outcomes</a:t>
            </a:r>
          </a:p>
          <a:p>
            <a:pPr algn="l" marL="457200" indent="0">
              <a:lnSpc>
                <a:spcPct val="108000"/>
              </a:lnSpc>
              <a:spcBef>
                <a:spcPts val="0"/>
              </a:spcBef>
              <a:spcAft>
                <a:spcPts val="700"/>
              </a:spcAft>
              <a:buNone/>
              <a:defRPr sz="2000" b="0">
                <a:solidFill>
                  <a:srgbClr val="22313F"/>
                </a:solidFill>
                <a:latin typeface="Aptos"/>
              </a:defRPr>
            </a:pPr>
            <a:r>
              <a:t>- downstream rework</a:t>
            </a:r>
          </a:p>
          <a:p>
            <a:pPr algn="l" marL="457200" indent="0">
              <a:lnSpc>
                <a:spcPct val="108000"/>
              </a:lnSpc>
              <a:spcBef>
                <a:spcPts val="0"/>
              </a:spcBef>
              <a:spcAft>
                <a:spcPts val="700"/>
              </a:spcAft>
              <a:buNone/>
              <a:defRPr sz="2000" b="0">
                <a:solidFill>
                  <a:srgbClr val="22313F"/>
                </a:solidFill>
                <a:latin typeface="Aptos"/>
              </a:defRPr>
            </a:pPr>
            <a:r>
              <a:t>- review burden</a:t>
            </a:r>
          </a:p>
          <a:p>
            <a:pPr algn="l" marL="457200" indent="0">
              <a:lnSpc>
                <a:spcPct val="108000"/>
              </a:lnSpc>
              <a:spcBef>
                <a:spcPts val="0"/>
              </a:spcBef>
              <a:spcAft>
                <a:spcPts val="700"/>
              </a:spcAft>
              <a:buNone/>
              <a:defRPr sz="2000" b="0">
                <a:solidFill>
                  <a:srgbClr val="22313F"/>
                </a:solidFill>
                <a:latin typeface="Aptos"/>
              </a:defRPr>
            </a:pPr>
            <a:r>
              <a:t>- adoption quality from sampled cases</a:t>
            </a:r>
          </a:p>
          <a:p>
            <a:pPr algn="l" marL="457200" indent="0">
              <a:lnSpc>
                <a:spcPct val="108000"/>
              </a:lnSpc>
              <a:spcBef>
                <a:spcPts val="0"/>
              </a:spcBef>
              <a:spcAft>
                <a:spcPts val="700"/>
              </a:spcAft>
              <a:buNone/>
              <a:defRPr sz="2000" b="0">
                <a:solidFill>
                  <a:srgbClr val="22313F"/>
                </a:solidFill>
                <a:latin typeface="Aptos"/>
              </a:defRPr>
            </a:pPr>
            <a:r>
              <a:t>- confidence calibration and follow-up learning</a:t>
            </a:r>
          </a:p>
          <a:p>
            <a:pPr algn="l" marL="457200" indent="0">
              <a:lnSpc>
                <a:spcPct val="108000"/>
              </a:lnSpc>
              <a:spcBef>
                <a:spcPts val="0"/>
              </a:spcBef>
              <a:spcAft>
                <a:spcPts val="700"/>
              </a:spcAft>
              <a:buNone/>
              <a:defRPr sz="2000" b="0">
                <a:solidFill>
                  <a:srgbClr val="22313F"/>
                </a:solidFill>
                <a:latin typeface="Aptos"/>
              </a:defRPr>
            </a:pPr>
            <a:r>
              <a:t>- safety and policy exceptions</a:t>
            </a:r>
          </a:p>
          <a:p>
            <a:pPr algn="l" marL="0" indent="0">
              <a:lnSpc>
                <a:spcPct val="108000"/>
              </a:lnSpc>
              <a:spcBef>
                <a:spcPts val="0"/>
              </a:spcBef>
              <a:spcAft>
                <a:spcPts val="1000"/>
              </a:spcAft>
              <a:buNone/>
              <a:defRPr sz="2000" b="0">
                <a:solidFill>
                  <a:srgbClr val="22313F"/>
                </a:solidFill>
                <a:latin typeface="Aptos"/>
              </a:defRPr>
            </a:pPr>
            <a:r>
              <a:t>Activity metrics can stay in the appendix as context only.</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Managers and technical leads do not own the same problem, but both are required for success.</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Managers own:</a:t>
            </a:r>
          </a:p>
          <a:p>
            <a:pPr algn="l" marL="457200" indent="0">
              <a:lnSpc>
                <a:spcPct val="108000"/>
              </a:lnSpc>
              <a:spcBef>
                <a:spcPts val="0"/>
              </a:spcBef>
              <a:spcAft>
                <a:spcPts val="700"/>
              </a:spcAft>
              <a:buNone/>
              <a:defRPr sz="2000" b="0">
                <a:solidFill>
                  <a:srgbClr val="22313F"/>
                </a:solidFill>
                <a:latin typeface="Aptos"/>
              </a:defRPr>
            </a:pPr>
            <a:r>
              <a:t>- conditions</a:t>
            </a:r>
          </a:p>
          <a:p>
            <a:pPr algn="l" marL="457200" indent="0">
              <a:lnSpc>
                <a:spcPct val="108000"/>
              </a:lnSpc>
              <a:spcBef>
                <a:spcPts val="0"/>
              </a:spcBef>
              <a:spcAft>
                <a:spcPts val="700"/>
              </a:spcAft>
              <a:buNone/>
              <a:defRPr sz="2000" b="0">
                <a:solidFill>
                  <a:srgbClr val="22313F"/>
                </a:solidFill>
                <a:latin typeface="Aptos"/>
              </a:defRPr>
            </a:pPr>
            <a:r>
              <a:t>- incentives</a:t>
            </a:r>
          </a:p>
          <a:p>
            <a:pPr algn="l" marL="457200" indent="0">
              <a:lnSpc>
                <a:spcPct val="108000"/>
              </a:lnSpc>
              <a:spcBef>
                <a:spcPts val="0"/>
              </a:spcBef>
              <a:spcAft>
                <a:spcPts val="700"/>
              </a:spcAft>
              <a:buNone/>
              <a:defRPr sz="2000" b="0">
                <a:solidFill>
                  <a:srgbClr val="22313F"/>
                </a:solidFill>
                <a:latin typeface="Aptos"/>
              </a:defRPr>
            </a:pPr>
            <a:r>
              <a:t>- time</a:t>
            </a:r>
          </a:p>
          <a:p>
            <a:pPr algn="l" marL="457200" indent="0">
              <a:lnSpc>
                <a:spcPct val="108000"/>
              </a:lnSpc>
              <a:spcBef>
                <a:spcPts val="0"/>
              </a:spcBef>
              <a:spcAft>
                <a:spcPts val="700"/>
              </a:spcAft>
              <a:buNone/>
              <a:defRPr sz="2000" b="0">
                <a:solidFill>
                  <a:srgbClr val="22313F"/>
                </a:solidFill>
                <a:latin typeface="Aptos"/>
              </a:defRPr>
            </a:pPr>
            <a:r>
              <a:t>- psychological safety</a:t>
            </a:r>
          </a:p>
          <a:p>
            <a:pPr algn="l" marL="0" indent="0">
              <a:lnSpc>
                <a:spcPct val="108000"/>
              </a:lnSpc>
              <a:spcBef>
                <a:spcPts val="0"/>
              </a:spcBef>
              <a:spcAft>
                <a:spcPts val="1000"/>
              </a:spcAft>
              <a:buNone/>
              <a:defRPr sz="2000" b="0">
                <a:solidFill>
                  <a:srgbClr val="22313F"/>
                </a:solidFill>
                <a:latin typeface="Aptos"/>
              </a:defRPr>
            </a:pPr>
            <a:r>
              <a:t>Technical leads own:</a:t>
            </a:r>
          </a:p>
          <a:p>
            <a:pPr algn="l" marL="457200" indent="0">
              <a:lnSpc>
                <a:spcPct val="108000"/>
              </a:lnSpc>
              <a:spcBef>
                <a:spcPts val="0"/>
              </a:spcBef>
              <a:spcAft>
                <a:spcPts val="700"/>
              </a:spcAft>
              <a:buNone/>
              <a:defRPr sz="2000" b="0">
                <a:solidFill>
                  <a:srgbClr val="22313F"/>
                </a:solidFill>
                <a:latin typeface="Aptos"/>
              </a:defRPr>
            </a:pPr>
            <a:r>
              <a:t>- workflow quality</a:t>
            </a:r>
          </a:p>
          <a:p>
            <a:pPr algn="l" marL="457200" indent="0">
              <a:lnSpc>
                <a:spcPct val="108000"/>
              </a:lnSpc>
              <a:spcBef>
                <a:spcPts val="0"/>
              </a:spcBef>
              <a:spcAft>
                <a:spcPts val="700"/>
              </a:spcAft>
              <a:buNone/>
              <a:defRPr sz="2000" b="0">
                <a:solidFill>
                  <a:srgbClr val="22313F"/>
                </a:solidFill>
                <a:latin typeface="Aptos"/>
              </a:defRPr>
            </a:pPr>
            <a:r>
              <a:t>- verification expectations</a:t>
            </a:r>
          </a:p>
          <a:p>
            <a:pPr algn="l" marL="457200" indent="0">
              <a:lnSpc>
                <a:spcPct val="108000"/>
              </a:lnSpc>
              <a:spcBef>
                <a:spcPts val="0"/>
              </a:spcBef>
              <a:spcAft>
                <a:spcPts val="700"/>
              </a:spcAft>
              <a:buNone/>
              <a:defRPr sz="2000" b="0">
                <a:solidFill>
                  <a:srgbClr val="22313F"/>
                </a:solidFill>
                <a:latin typeface="Aptos"/>
              </a:defRPr>
            </a:pPr>
            <a:r>
              <a:t>- example-setting</a:t>
            </a:r>
          </a:p>
          <a:p>
            <a:pPr algn="l" marL="457200" indent="0">
              <a:lnSpc>
                <a:spcPct val="108000"/>
              </a:lnSpc>
              <a:spcBef>
                <a:spcPts val="0"/>
              </a:spcBef>
              <a:spcAft>
                <a:spcPts val="700"/>
              </a:spcAft>
              <a:buNone/>
              <a:defRPr sz="2000" b="0">
                <a:solidFill>
                  <a:srgbClr val="22313F"/>
                </a:solidFill>
                <a:latin typeface="Aptos"/>
              </a:defRPr>
            </a:pPr>
            <a:r>
              <a:t>- escalation of unsafe shortcuts</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Choose tools by workflow fit, integration surface, and verification support, not by vendor prestige alone.</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What matters:</a:t>
            </a:r>
          </a:p>
          <a:p>
            <a:pPr algn="l" marL="457200" indent="0">
              <a:lnSpc>
                <a:spcPct val="108000"/>
              </a:lnSpc>
              <a:spcBef>
                <a:spcPts val="0"/>
              </a:spcBef>
              <a:spcAft>
                <a:spcPts val="700"/>
              </a:spcAft>
              <a:buNone/>
              <a:defRPr sz="2000" b="0">
                <a:solidFill>
                  <a:srgbClr val="22313F"/>
                </a:solidFill>
                <a:latin typeface="Aptos"/>
              </a:defRPr>
            </a:pPr>
            <a:r>
              <a:t>- the work surface: code, tickets, wiki, CI/CD, incident tooling</a:t>
            </a:r>
          </a:p>
          <a:p>
            <a:pPr algn="l" marL="457200" indent="0">
              <a:lnSpc>
                <a:spcPct val="108000"/>
              </a:lnSpc>
              <a:spcBef>
                <a:spcPts val="0"/>
              </a:spcBef>
              <a:spcAft>
                <a:spcPts val="700"/>
              </a:spcAft>
              <a:buNone/>
              <a:defRPr sz="2000" b="0">
                <a:solidFill>
                  <a:srgbClr val="22313F"/>
                </a:solidFill>
                <a:latin typeface="Aptos"/>
              </a:defRPr>
            </a:pPr>
            <a:r>
              <a:t>- direct edit capability where the role lives</a:t>
            </a:r>
          </a:p>
          <a:p>
            <a:pPr algn="l" marL="457200" indent="0">
              <a:lnSpc>
                <a:spcPct val="108000"/>
              </a:lnSpc>
              <a:spcBef>
                <a:spcPts val="0"/>
              </a:spcBef>
              <a:spcAft>
                <a:spcPts val="700"/>
              </a:spcAft>
              <a:buNone/>
              <a:defRPr sz="2000" b="0">
                <a:solidFill>
                  <a:srgbClr val="22313F"/>
                </a:solidFill>
                <a:latin typeface="Aptos"/>
              </a:defRPr>
            </a:pPr>
            <a:r>
              <a:t>- context quality and traceability</a:t>
            </a:r>
          </a:p>
          <a:p>
            <a:pPr algn="l" marL="457200" indent="0">
              <a:lnSpc>
                <a:spcPct val="108000"/>
              </a:lnSpc>
              <a:spcBef>
                <a:spcPts val="0"/>
              </a:spcBef>
              <a:spcAft>
                <a:spcPts val="700"/>
              </a:spcAft>
              <a:buNone/>
              <a:defRPr sz="2000" b="0">
                <a:solidFill>
                  <a:srgbClr val="22313F"/>
                </a:solidFill>
                <a:latin typeface="Aptos"/>
              </a:defRPr>
            </a:pPr>
            <a:r>
              <a:t>- governance fit, auditability, and reversibility</a:t>
            </a:r>
          </a:p>
          <a:p>
            <a:pPr algn="l" marL="457200" indent="0">
              <a:lnSpc>
                <a:spcPct val="108000"/>
              </a:lnSpc>
              <a:spcBef>
                <a:spcPts val="0"/>
              </a:spcBef>
              <a:spcAft>
                <a:spcPts val="700"/>
              </a:spcAft>
              <a:buNone/>
              <a:defRPr sz="2000" b="0">
                <a:solidFill>
                  <a:srgbClr val="22313F"/>
                </a:solidFill>
                <a:latin typeface="Aptos"/>
              </a:defRPr>
            </a:pPr>
            <a:r>
              <a:t>- verification support, not just model quality</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The cost of unmanaged AI adoption is usually hidden until it is already embedded in the workflow.</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Likely failure modes:</a:t>
            </a:r>
          </a:p>
          <a:p>
            <a:pPr algn="l" marL="457200" indent="0">
              <a:lnSpc>
                <a:spcPct val="108000"/>
              </a:lnSpc>
              <a:spcBef>
                <a:spcPts val="0"/>
              </a:spcBef>
              <a:spcAft>
                <a:spcPts val="700"/>
              </a:spcAft>
              <a:buNone/>
              <a:defRPr sz="2000" b="0">
                <a:solidFill>
                  <a:srgbClr val="22313F"/>
                </a:solidFill>
                <a:latin typeface="Aptos"/>
              </a:defRPr>
            </a:pPr>
            <a:r>
              <a:t>- false confidence</a:t>
            </a:r>
          </a:p>
          <a:p>
            <a:pPr algn="l" marL="457200" indent="0">
              <a:lnSpc>
                <a:spcPct val="108000"/>
              </a:lnSpc>
              <a:spcBef>
                <a:spcPts val="0"/>
              </a:spcBef>
              <a:spcAft>
                <a:spcPts val="700"/>
              </a:spcAft>
              <a:buNone/>
              <a:defRPr sz="2000" b="0">
                <a:solidFill>
                  <a:srgbClr val="22313F"/>
                </a:solidFill>
                <a:latin typeface="Aptos"/>
              </a:defRPr>
            </a:pPr>
            <a:r>
              <a:t>- documentation and requirement bloat</a:t>
            </a:r>
          </a:p>
          <a:p>
            <a:pPr algn="l" marL="457200" indent="0">
              <a:lnSpc>
                <a:spcPct val="108000"/>
              </a:lnSpc>
              <a:spcBef>
                <a:spcPts val="0"/>
              </a:spcBef>
              <a:spcAft>
                <a:spcPts val="700"/>
              </a:spcAft>
              <a:buNone/>
              <a:defRPr sz="2000" b="0">
                <a:solidFill>
                  <a:srgbClr val="22313F"/>
                </a:solidFill>
                <a:latin typeface="Aptos"/>
              </a:defRPr>
            </a:pPr>
            <a:r>
              <a:t>- hidden review debt</a:t>
            </a:r>
          </a:p>
          <a:p>
            <a:pPr algn="l" marL="457200" indent="0">
              <a:lnSpc>
                <a:spcPct val="108000"/>
              </a:lnSpc>
              <a:spcBef>
                <a:spcPts val="0"/>
              </a:spcBef>
              <a:spcAft>
                <a:spcPts val="700"/>
              </a:spcAft>
              <a:buNone/>
              <a:defRPr sz="2000" b="0">
                <a:solidFill>
                  <a:srgbClr val="22313F"/>
                </a:solidFill>
                <a:latin typeface="Aptos"/>
              </a:defRPr>
            </a:pPr>
            <a:r>
              <a:t>- shallow adoption behind green dashboards</a:t>
            </a:r>
          </a:p>
          <a:p>
            <a:pPr algn="l" marL="457200" indent="0">
              <a:lnSpc>
                <a:spcPct val="108000"/>
              </a:lnSpc>
              <a:spcBef>
                <a:spcPts val="0"/>
              </a:spcBef>
              <a:spcAft>
                <a:spcPts val="700"/>
              </a:spcAft>
              <a:buNone/>
              <a:defRPr sz="2000" b="0">
                <a:solidFill>
                  <a:srgbClr val="22313F"/>
                </a:solidFill>
                <a:latin typeface="Aptos"/>
              </a:defRPr>
            </a:pPr>
            <a:r>
              <a:t>- apprenticeship erosion</a:t>
            </a:r>
          </a:p>
          <a:p>
            <a:pPr algn="l" marL="457200" indent="0">
              <a:lnSpc>
                <a:spcPct val="108000"/>
              </a:lnSpc>
              <a:spcBef>
                <a:spcPts val="0"/>
              </a:spcBef>
              <a:spcAft>
                <a:spcPts val="700"/>
              </a:spcAft>
              <a:buNone/>
              <a:defRPr sz="2000" b="0">
                <a:solidFill>
                  <a:srgbClr val="22313F"/>
                </a:solidFill>
                <a:latin typeface="Aptos"/>
              </a:defRPr>
            </a:pPr>
            <a:r>
              <a:t>- leadership disappointment caused by overpromised productivity</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Approve a phased 12-week pilot with:</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a named sponsor</a:t>
            </a:r>
          </a:p>
          <a:p>
            <a:pPr algn="l" marL="254000" indent="0">
              <a:lnSpc>
                <a:spcPct val="108000"/>
              </a:lnSpc>
              <a:spcBef>
                <a:spcPts val="0"/>
              </a:spcBef>
              <a:spcAft>
                <a:spcPts val="700"/>
              </a:spcAft>
              <a:buNone/>
              <a:defRPr sz="2000" b="0">
                <a:solidFill>
                  <a:srgbClr val="22313F"/>
                </a:solidFill>
                <a:latin typeface="Aptos"/>
              </a:defRPr>
            </a:pPr>
            <a:r>
              <a:t>- a named technical enablement lead</a:t>
            </a:r>
          </a:p>
          <a:p>
            <a:pPr algn="l" marL="254000" indent="0">
              <a:lnSpc>
                <a:spcPct val="108000"/>
              </a:lnSpc>
              <a:spcBef>
                <a:spcPts val="0"/>
              </a:spcBef>
              <a:spcAft>
                <a:spcPts val="700"/>
              </a:spcAft>
              <a:buNone/>
              <a:defRPr sz="2000" b="0">
                <a:solidFill>
                  <a:srgbClr val="22313F"/>
                </a:solidFill>
                <a:latin typeface="Aptos"/>
              </a:defRPr>
            </a:pPr>
            <a:r>
              <a:t>- explicit workflow scope</a:t>
            </a:r>
          </a:p>
          <a:p>
            <a:pPr algn="l" marL="254000" indent="0">
              <a:lnSpc>
                <a:spcPct val="108000"/>
              </a:lnSpc>
              <a:spcBef>
                <a:spcPts val="0"/>
              </a:spcBef>
              <a:spcAft>
                <a:spcPts val="700"/>
              </a:spcAft>
              <a:buNone/>
              <a:defRPr sz="2000" b="0">
                <a:solidFill>
                  <a:srgbClr val="22313F"/>
                </a:solidFill>
                <a:latin typeface="Aptos"/>
              </a:defRPr>
            </a:pPr>
            <a:r>
              <a:t>- guardrails and review cadence</a:t>
            </a:r>
          </a:p>
          <a:p>
            <a:pPr algn="l" marL="254000" indent="0">
              <a:lnSpc>
                <a:spcPct val="108000"/>
              </a:lnSpc>
              <a:spcBef>
                <a:spcPts val="0"/>
              </a:spcBef>
              <a:spcAft>
                <a:spcPts val="700"/>
              </a:spcAft>
              <a:buNone/>
              <a:defRPr sz="2000" b="0">
                <a:solidFill>
                  <a:srgbClr val="22313F"/>
                </a:solidFill>
                <a:latin typeface="Aptos"/>
              </a:defRPr>
            </a:pPr>
            <a:r>
              <a:t>- outcome-oriented measures</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