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Open with clarity, not jargon. This deck should feel like an entry point to the project, not a compressed internal briefing.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core public problem statement. The goal is not to claim every rollout is bad. The goal is to say the rollout design is often shallower than the tooling rollout.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carries a lot of weight. It gives the audience a way out of the tired polarization that dominates most AI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simple. The public-facing audience does not need the full internal model here. They need a clear, memorable stance.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deck starts to separate itself from generic productivity discourse. Speed matters, but only inside a broader definition of healthy software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evidence-aware and grounded. The deck should not overclaim causality. It should clearly name the risk and explain why it matters to long-term capability 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the project summary. It shows that the work is a delivery model, not just a point of 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an expectation-setting slide. It helps the public audience place the work in the right category and avoid easy misreadings.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feel inclusive without becoming vague. The work is grounded in software delivery, but the scale of adoption can vary.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main public takeaway. It gives the audience a practical next step without forcing them into the full framework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Close by routing people into the broader project materials in plain public language. This slide should feel like practical orientation, not like instructions to the deck author.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Paired Engineering</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A practical delivery model for AI-enabled software teams</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Most organizations are rolling out tools faster than they are designing good working practices.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access is outpacing enablement</a:t>
            </a:r>
          </a:p>
          <a:p>
            <a:pPr algn="l" marL="254000" indent="0">
              <a:lnSpc>
                <a:spcPct val="108000"/>
              </a:lnSpc>
              <a:spcBef>
                <a:spcPts val="0"/>
              </a:spcBef>
              <a:spcAft>
                <a:spcPts val="700"/>
              </a:spcAft>
              <a:buNone/>
              <a:defRPr sz="2000" b="0">
                <a:solidFill>
                  <a:srgbClr val="22313F"/>
                </a:solidFill>
                <a:latin typeface="Aptos"/>
              </a:defRPr>
            </a:pPr>
            <a:r>
              <a:t>- productivity language often dominates the conversation</a:t>
            </a:r>
          </a:p>
          <a:p>
            <a:pPr algn="l" marL="254000" indent="0">
              <a:lnSpc>
                <a:spcPct val="108000"/>
              </a:lnSpc>
              <a:spcBef>
                <a:spcPts val="0"/>
              </a:spcBef>
              <a:spcAft>
                <a:spcPts val="700"/>
              </a:spcAft>
              <a:buNone/>
              <a:defRPr sz="2000" b="0">
                <a:solidFill>
                  <a:srgbClr val="22313F"/>
                </a:solidFill>
                <a:latin typeface="Aptos"/>
              </a:defRPr>
            </a:pPr>
            <a:r>
              <a:t>- learning, verification, and workflow quality get underdesigned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ban AI versus let the model do the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rejecting AI entirely is too blunt</a:t>
            </a:r>
          </a:p>
          <a:p>
            <a:pPr algn="l" marL="254000" indent="0">
              <a:lnSpc>
                <a:spcPct val="108000"/>
              </a:lnSpc>
              <a:spcBef>
                <a:spcPts val="0"/>
              </a:spcBef>
              <a:spcAft>
                <a:spcPts val="700"/>
              </a:spcAft>
              <a:buNone/>
              <a:defRPr sz="2000" b="0">
                <a:solidFill>
                  <a:srgbClr val="22313F"/>
                </a:solidFill>
                <a:latin typeface="Aptos"/>
              </a:defRPr>
            </a:pPr>
            <a:r>
              <a:t>- blind delegation is too shallow</a:t>
            </a:r>
          </a:p>
          <a:p>
            <a:pPr algn="l" marL="254000" indent="0">
              <a:lnSpc>
                <a:spcPct val="108000"/>
              </a:lnSpc>
              <a:spcBef>
                <a:spcPts val="0"/>
              </a:spcBef>
              <a:spcAft>
                <a:spcPts val="700"/>
              </a:spcAft>
              <a:buNone/>
              <a:defRPr sz="2000" b="0">
                <a:solidFill>
                  <a:srgbClr val="22313F"/>
                </a:solidFill>
                <a:latin typeface="Aptos"/>
              </a:defRPr>
            </a:pPr>
            <a:r>
              <a:t>- paired engineering is the more durable path</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AI to think with, compare with, and learn with, not just to draft faster.</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ask questions</a:t>
            </a:r>
          </a:p>
          <a:p>
            <a:pPr algn="l" marL="254000" indent="0">
              <a:lnSpc>
                <a:spcPct val="108000"/>
              </a:lnSpc>
              <a:spcBef>
                <a:spcPts val="0"/>
              </a:spcBef>
              <a:spcAft>
                <a:spcPts val="700"/>
              </a:spcAft>
              <a:buNone/>
              <a:defRPr sz="2000" b="0">
                <a:solidFill>
                  <a:srgbClr val="22313F"/>
                </a:solidFill>
                <a:latin typeface="Aptos"/>
              </a:defRPr>
            </a:pPr>
            <a:r>
              <a:t>- generate or compare options</a:t>
            </a:r>
          </a:p>
          <a:p>
            <a:pPr algn="l" marL="254000" indent="0">
              <a:lnSpc>
                <a:spcPct val="108000"/>
              </a:lnSpc>
              <a:spcBef>
                <a:spcPts val="0"/>
              </a:spcBef>
              <a:spcAft>
                <a:spcPts val="700"/>
              </a:spcAft>
              <a:buNone/>
              <a:defRPr sz="2000" b="0">
                <a:solidFill>
                  <a:srgbClr val="22313F"/>
                </a:solidFill>
                <a:latin typeface="Aptos"/>
              </a:defRPr>
            </a:pPr>
            <a:r>
              <a:t>- verify</a:t>
            </a:r>
          </a:p>
          <a:p>
            <a:pPr algn="l" marL="254000" indent="0">
              <a:lnSpc>
                <a:spcPct val="108000"/>
              </a:lnSpc>
              <a:spcBef>
                <a:spcPts val="0"/>
              </a:spcBef>
              <a:spcAft>
                <a:spcPts val="700"/>
              </a:spcAft>
              <a:buNone/>
              <a:defRPr sz="2000" b="0">
                <a:solidFill>
                  <a:srgbClr val="22313F"/>
                </a:solidFill>
                <a:latin typeface="Aptos"/>
              </a:defRPr>
            </a:pPr>
            <a:r>
              <a:t>- revise</a:t>
            </a:r>
          </a:p>
          <a:p>
            <a:pPr algn="l" marL="254000" indent="0">
              <a:lnSpc>
                <a:spcPct val="108000"/>
              </a:lnSpc>
              <a:spcBef>
                <a:spcPts val="0"/>
              </a:spcBef>
              <a:spcAft>
                <a:spcPts val="700"/>
              </a:spcAft>
              <a:buNone/>
              <a:defRPr sz="2000" b="0">
                <a:solidFill>
                  <a:srgbClr val="22313F"/>
                </a:solidFill>
                <a:latin typeface="Aptos"/>
              </a:defRPr>
            </a:pPr>
            <a:r>
              <a:t>- learn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Speed is not the only outcome that matters.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verification matters</a:t>
            </a:r>
          </a:p>
          <a:p>
            <a:pPr algn="l" marL="254000" indent="0">
              <a:lnSpc>
                <a:spcPct val="108000"/>
              </a:lnSpc>
              <a:spcBef>
                <a:spcPts val="0"/>
              </a:spcBef>
              <a:spcAft>
                <a:spcPts val="700"/>
              </a:spcAft>
              <a:buNone/>
              <a:defRPr sz="2000" b="0">
                <a:solidFill>
                  <a:srgbClr val="22313F"/>
                </a:solidFill>
                <a:latin typeface="Aptos"/>
              </a:defRPr>
            </a:pPr>
            <a:r>
              <a:t>- review burden matters</a:t>
            </a:r>
          </a:p>
          <a:p>
            <a:pPr algn="l" marL="254000" indent="0">
              <a:lnSpc>
                <a:spcPct val="108000"/>
              </a:lnSpc>
              <a:spcBef>
                <a:spcPts val="0"/>
              </a:spcBef>
              <a:spcAft>
                <a:spcPts val="700"/>
              </a:spcAft>
              <a:buNone/>
              <a:defRPr sz="2000" b="0">
                <a:solidFill>
                  <a:srgbClr val="22313F"/>
                </a:solidFill>
                <a:latin typeface="Aptos"/>
              </a:defRPr>
            </a:pPr>
            <a:r>
              <a:t>- capability growth matters</a:t>
            </a:r>
          </a:p>
          <a:p>
            <a:pPr algn="l" marL="254000" indent="0">
              <a:lnSpc>
                <a:spcPct val="108000"/>
              </a:lnSpc>
              <a:spcBef>
                <a:spcPts val="0"/>
              </a:spcBef>
              <a:spcAft>
                <a:spcPts val="700"/>
              </a:spcAft>
              <a:buNone/>
              <a:defRPr sz="2000" b="0">
                <a:solidFill>
                  <a:srgbClr val="22313F"/>
                </a:solidFill>
                <a:latin typeface="Aptos"/>
              </a:defRPr>
            </a:pPr>
            <a:r>
              <a:t>- apprenticeship and onboarding still matter</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Shallow rollout harms both ends of the ladder.</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early-career and learning-rich work is vulnerable when AI is framed only as replacement</a:t>
            </a:r>
          </a:p>
          <a:p>
            <a:pPr algn="l" marL="254000" indent="0">
              <a:lnSpc>
                <a:spcPct val="108000"/>
              </a:lnSpc>
              <a:spcBef>
                <a:spcPts val="0"/>
              </a:spcBef>
              <a:spcAft>
                <a:spcPts val="700"/>
              </a:spcAft>
              <a:buNone/>
              <a:defRPr sz="2000" b="0">
                <a:solidFill>
                  <a:srgbClr val="22313F"/>
                </a:solidFill>
                <a:latin typeface="Aptos"/>
              </a:defRPr>
            </a:pPr>
            <a:r>
              <a:t>- the same rollout can force more ambiguous cleanup and review work upward onto a smaller senior layer</a:t>
            </a:r>
          </a:p>
          <a:p>
            <a:pPr algn="l" marL="254000" indent="0">
              <a:lnSpc>
                <a:spcPct val="108000"/>
              </a:lnSpc>
              <a:spcBef>
                <a:spcPts val="0"/>
              </a:spcBef>
              <a:spcAft>
                <a:spcPts val="700"/>
              </a:spcAft>
              <a:buNone/>
              <a:defRPr sz="2000" b="0">
                <a:solidFill>
                  <a:srgbClr val="22313F"/>
                </a:solidFill>
                <a:latin typeface="Aptos"/>
              </a:defRPr>
            </a:pPr>
            <a:r>
              <a:t>- this is an enablement-design problem, not just a hiring-market complaint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enablement needs more than a tool list.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This project includes:</a:t>
            </a:r>
          </a:p>
          <a:p>
            <a:pPr algn="l" marL="457200" indent="0">
              <a:lnSpc>
                <a:spcPct val="108000"/>
              </a:lnSpc>
              <a:spcBef>
                <a:spcPts val="0"/>
              </a:spcBef>
              <a:spcAft>
                <a:spcPts val="700"/>
              </a:spcAft>
              <a:buNone/>
              <a:defRPr sz="2000" b="0">
                <a:solidFill>
                  <a:srgbClr val="22313F"/>
                </a:solidFill>
                <a:latin typeface="Aptos"/>
              </a:defRPr>
            </a:pPr>
            <a:r>
              <a:t>- rollout lifecycle</a:t>
            </a:r>
          </a:p>
          <a:p>
            <a:pPr algn="l" marL="457200" indent="0">
              <a:lnSpc>
                <a:spcPct val="108000"/>
              </a:lnSpc>
              <a:spcBef>
                <a:spcPts val="0"/>
              </a:spcBef>
              <a:spcAft>
                <a:spcPts val="700"/>
              </a:spcAft>
              <a:buNone/>
              <a:defRPr sz="2000" b="0">
                <a:solidFill>
                  <a:srgbClr val="22313F"/>
                </a:solidFill>
                <a:latin typeface="Aptos"/>
              </a:defRPr>
            </a:pPr>
            <a:r>
              <a:t>- oversight-readiness model</a:t>
            </a:r>
          </a:p>
          <a:p>
            <a:pPr algn="l" marL="457200" indent="0">
              <a:lnSpc>
                <a:spcPct val="108000"/>
              </a:lnSpc>
              <a:spcBef>
                <a:spcPts val="0"/>
              </a:spcBef>
              <a:spcAft>
                <a:spcPts val="700"/>
              </a:spcAft>
              <a:buNone/>
              <a:defRPr sz="2000" b="0">
                <a:solidFill>
                  <a:srgbClr val="22313F"/>
                </a:solidFill>
                <a:latin typeface="Aptos"/>
              </a:defRPr>
            </a:pPr>
            <a:r>
              <a:t>- verification standards</a:t>
            </a:r>
          </a:p>
          <a:p>
            <a:pPr algn="l" marL="457200" indent="0">
              <a:lnSpc>
                <a:spcPct val="108000"/>
              </a:lnSpc>
              <a:spcBef>
                <a:spcPts val="0"/>
              </a:spcBef>
              <a:spcAft>
                <a:spcPts val="700"/>
              </a:spcAft>
              <a:buNone/>
              <a:defRPr sz="2000" b="0">
                <a:solidFill>
                  <a:srgbClr val="22313F"/>
                </a:solidFill>
                <a:latin typeface="Aptos"/>
              </a:defRPr>
            </a:pPr>
            <a:r>
              <a:t>- learning design</a:t>
            </a:r>
          </a:p>
          <a:p>
            <a:pPr algn="l" marL="457200" indent="0">
              <a:lnSpc>
                <a:spcPct val="108000"/>
              </a:lnSpc>
              <a:spcBef>
                <a:spcPts val="0"/>
              </a:spcBef>
              <a:spcAft>
                <a:spcPts val="700"/>
              </a:spcAft>
              <a:buNone/>
              <a:defRPr sz="2000" b="0">
                <a:solidFill>
                  <a:srgbClr val="22313F"/>
                </a:solidFill>
                <a:latin typeface="Aptos"/>
              </a:defRPr>
            </a:pPr>
            <a:r>
              <a:t>- measurement model</a:t>
            </a:r>
          </a:p>
          <a:p>
            <a:pPr algn="l" marL="457200" indent="0">
              <a:lnSpc>
                <a:spcPct val="108000"/>
              </a:lnSpc>
              <a:spcBef>
                <a:spcPts val="0"/>
              </a:spcBef>
              <a:spcAft>
                <a:spcPts val="700"/>
              </a:spcAft>
              <a:buNone/>
              <a:defRPr sz="2000" b="0">
                <a:solidFill>
                  <a:srgbClr val="22313F"/>
                </a:solidFill>
                <a:latin typeface="Aptos"/>
              </a:defRPr>
            </a:pPr>
            <a:r>
              <a:t>- tool taxonomy and selection guidance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project is deliberately not a few common things.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not a vendor catalog</a:t>
            </a:r>
          </a:p>
          <a:p>
            <a:pPr algn="l" marL="254000" indent="0">
              <a:lnSpc>
                <a:spcPct val="108000"/>
              </a:lnSpc>
              <a:spcBef>
                <a:spcPts val="0"/>
              </a:spcBef>
              <a:spcAft>
                <a:spcPts val="700"/>
              </a:spcAft>
              <a:buNone/>
              <a:defRPr sz="2000" b="0">
                <a:solidFill>
                  <a:srgbClr val="22313F"/>
                </a:solidFill>
                <a:latin typeface="Aptos"/>
              </a:defRPr>
            </a:pPr>
            <a:r>
              <a:t>- not a prompt-count adoption program</a:t>
            </a:r>
          </a:p>
          <a:p>
            <a:pPr algn="l" marL="254000" indent="0">
              <a:lnSpc>
                <a:spcPct val="108000"/>
              </a:lnSpc>
              <a:spcBef>
                <a:spcPts val="0"/>
              </a:spcBef>
              <a:spcAft>
                <a:spcPts val="700"/>
              </a:spcAft>
              <a:buNone/>
              <a:defRPr sz="2000" b="0">
                <a:solidFill>
                  <a:srgbClr val="22313F"/>
                </a:solidFill>
                <a:latin typeface="Aptos"/>
              </a:defRPr>
            </a:pPr>
            <a:r>
              <a:t>- not an anti-AI argument</a:t>
            </a:r>
          </a:p>
          <a:p>
            <a:pPr algn="l" marL="254000" indent="0">
              <a:lnSpc>
                <a:spcPct val="108000"/>
              </a:lnSpc>
              <a:spcBef>
                <a:spcPts val="0"/>
              </a:spcBef>
              <a:spcAft>
                <a:spcPts val="700"/>
              </a:spcAft>
              <a:buNone/>
              <a:defRPr sz="2000" b="0">
                <a:solidFill>
                  <a:srgbClr val="22313F"/>
                </a:solidFill>
                <a:latin typeface="Aptos"/>
              </a:defRPr>
            </a:pPr>
            <a:r>
              <a:t>- not a justification for cutting apprenticeship before replacing it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model is built for software delivery work, but it scales across contexts.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individual practitioners</a:t>
            </a:r>
          </a:p>
          <a:p>
            <a:pPr algn="l" marL="254000" indent="0">
              <a:lnSpc>
                <a:spcPct val="108000"/>
              </a:lnSpc>
              <a:spcBef>
                <a:spcPts val="0"/>
              </a:spcBef>
              <a:spcAft>
                <a:spcPts val="700"/>
              </a:spcAft>
              <a:buNone/>
              <a:defRPr sz="2000" b="0">
                <a:solidFill>
                  <a:srgbClr val="22313F"/>
                </a:solidFill>
                <a:latin typeface="Aptos"/>
              </a:defRPr>
            </a:pPr>
            <a:r>
              <a:t>- Staff Engineers and technical enablement leaders</a:t>
            </a:r>
          </a:p>
          <a:p>
            <a:pPr algn="l" marL="254000" indent="0">
              <a:lnSpc>
                <a:spcPct val="108000"/>
              </a:lnSpc>
              <a:spcBef>
                <a:spcPts val="0"/>
              </a:spcBef>
              <a:spcAft>
                <a:spcPts val="700"/>
              </a:spcAft>
              <a:buNone/>
              <a:defRPr sz="2000" b="0">
                <a:solidFill>
                  <a:srgbClr val="22313F"/>
                </a:solidFill>
                <a:latin typeface="Aptos"/>
              </a:defRPr>
            </a:pPr>
            <a:r>
              <a:t>- delivery organizations</a:t>
            </a:r>
          </a:p>
          <a:p>
            <a:pPr algn="l" marL="254000" indent="0">
              <a:lnSpc>
                <a:spcPct val="108000"/>
              </a:lnSpc>
              <a:spcBef>
                <a:spcPts val="0"/>
              </a:spcBef>
              <a:spcAft>
                <a:spcPts val="700"/>
              </a:spcAft>
              <a:buNone/>
              <a:defRPr sz="2000" b="0">
                <a:solidFill>
                  <a:srgbClr val="22313F"/>
                </a:solidFill>
                <a:latin typeface="Aptos"/>
              </a:defRPr>
            </a:pPr>
            <a:r>
              <a:t>- teams exploring a pilot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small enough to learn honestly.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choose one real workflow</a:t>
            </a:r>
          </a:p>
          <a:p>
            <a:pPr algn="l" marL="254000" indent="0">
              <a:lnSpc>
                <a:spcPct val="108000"/>
              </a:lnSpc>
              <a:spcBef>
                <a:spcPts val="0"/>
              </a:spcBef>
              <a:spcAft>
                <a:spcPts val="700"/>
              </a:spcAft>
              <a:buNone/>
              <a:defRPr sz="2000" b="0">
                <a:solidFill>
                  <a:srgbClr val="22313F"/>
                </a:solidFill>
                <a:latin typeface="Aptos"/>
              </a:defRPr>
            </a:pPr>
            <a:r>
              <a:t>- define how it will be verified</a:t>
            </a:r>
          </a:p>
          <a:p>
            <a:pPr algn="l" marL="254000" indent="0">
              <a:lnSpc>
                <a:spcPct val="108000"/>
              </a:lnSpc>
              <a:spcBef>
                <a:spcPts val="0"/>
              </a:spcBef>
              <a:spcAft>
                <a:spcPts val="700"/>
              </a:spcAft>
              <a:buNone/>
              <a:defRPr sz="2000" b="0">
                <a:solidFill>
                  <a:srgbClr val="22313F"/>
                </a:solidFill>
                <a:latin typeface="Aptos"/>
              </a:defRPr>
            </a:pPr>
            <a:r>
              <a:t>- decide how you will tell whether it actually helped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the package in the way that matches your need.</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start with the one-pager and getting-started guide</a:t>
            </a:r>
          </a:p>
          <a:p>
            <a:pPr algn="l" marL="254000" indent="0">
              <a:lnSpc>
                <a:spcPct val="108000"/>
              </a:lnSpc>
              <a:spcBef>
                <a:spcPts val="0"/>
              </a:spcBef>
              <a:spcAft>
                <a:spcPts val="700"/>
              </a:spcAft>
              <a:buNone/>
              <a:defRPr sz="2000" b="0">
                <a:solidFill>
                  <a:srgbClr val="22313F"/>
                </a:solidFill>
                <a:latin typeface="Aptos"/>
              </a:defRPr>
            </a:pPr>
            <a:r>
              <a:t>- use the executive deck for leadership conversations</a:t>
            </a:r>
          </a:p>
          <a:p>
            <a:pPr algn="l" marL="254000" indent="0">
              <a:lnSpc>
                <a:spcPct val="108000"/>
              </a:lnSpc>
              <a:spcBef>
                <a:spcPts val="0"/>
              </a:spcBef>
              <a:spcAft>
                <a:spcPts val="700"/>
              </a:spcAft>
              <a:buNone/>
              <a:defRPr sz="2000" b="0">
                <a:solidFill>
                  <a:srgbClr val="22313F"/>
                </a:solidFill>
                <a:latin typeface="Aptos"/>
              </a:defRPr>
            </a:pPr>
            <a:r>
              <a:t>- use the workshop pack and exercise library for team practice</a:t>
            </a:r>
          </a:p>
          <a:p>
            <a:pPr algn="l" marL="254000" indent="0">
              <a:lnSpc>
                <a:spcPct val="108000"/>
              </a:lnSpc>
              <a:spcBef>
                <a:spcPts val="0"/>
              </a:spcBef>
              <a:spcAft>
                <a:spcPts val="700"/>
              </a:spcAft>
              <a:buNone/>
              <a:defRPr sz="2000" b="0">
                <a:solidFill>
                  <a:srgbClr val="22313F"/>
                </a:solidFill>
                <a:latin typeface="Aptos"/>
              </a:defRPr>
            </a:pPr>
            <a:r>
              <a:t>- use the evidence kit if you want a measurable pilot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