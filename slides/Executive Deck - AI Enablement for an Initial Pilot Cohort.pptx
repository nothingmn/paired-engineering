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Title slide with a simple three-lane visual:</a:t>
            </a:r>
          </a:p>
          <a:p>
            <a:r>
              <a:t>- no AI</a:t>
            </a:r>
          </a:p>
          <a:p>
            <a:r>
              <a:t>- paired engineering</a:t>
            </a:r>
          </a:p>
          <a:p>
            <a:r>
              <a:t>- blind delegation</a:t>
            </a:r>
          </a:p>
          <a:p/>
          <a:p>
            <a:r>
              <a:t>Presenter note</a:t>
            </a:r>
          </a:p>
          <a:p>
            <a:r>
              <a:t>Open by framing this as an operating model for delivery improvement, not a generic AI initiative and not a pure tool rollout.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Headline plus three short bullets.</a:t>
            </a:r>
          </a:p>
          <a:p/>
          <a:p>
            <a:r>
              <a:t>Presenter note</a:t>
            </a:r>
          </a:p>
          <a:p>
            <a:r>
              <a:t>The point is urgency without panic. Drift is already a strategy if leadership does not choose one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Three-column comparison:</a:t>
            </a:r>
          </a:p>
          <a:p>
            <a:r>
              <a:t>- ban AI</a:t>
            </a:r>
          </a:p>
          <a:p>
            <a:r>
              <a:t>- paired engineering</a:t>
            </a:r>
          </a:p>
          <a:p>
            <a:r>
              <a:t>- blind delegation</a:t>
            </a:r>
          </a:p>
          <a:p/>
          <a:p>
            <a:r>
              <a:t>Presenter note</a:t>
            </a:r>
          </a:p>
          <a:p>
            <a:r>
              <a:t>This slide sets the entire tone of the deck. It keeps the conversation away from both fear and hype.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Two-column slide:</a:t>
            </a:r>
          </a:p>
          <a:p>
            <a:r>
              <a:t>- where AI often helps</a:t>
            </a:r>
          </a:p>
          <a:p>
            <a:r>
              <a:t>- where AI often creates debt</a:t>
            </a:r>
          </a:p>
          <a:p/>
          <a:p>
            <a:r>
              <a:t>Presenter note</a:t>
            </a:r>
          </a:p>
          <a:p>
            <a:r>
              <a:t>Show restraint here. The point is credible action, not claiming the evidence proves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One strong headline plus a simple workflow loop.</a:t>
            </a:r>
          </a:p>
          <a:p/>
          <a:p>
            <a:r>
              <a:t>Presenter note</a:t>
            </a:r>
          </a:p>
          <a:p>
            <a:r>
              <a:t>If leaders remember only one operating phrase, it should probably be paired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Simple four-part grid or four stacked cards.</a:t>
            </a:r>
          </a:p>
          <a:p/>
          <a:p>
            <a:r>
              <a:t>Presenter note</a:t>
            </a:r>
          </a:p>
          <a:p>
            <a:r>
              <a:t>This is the bridge from general AI language into the core model. In the underlying model, we call this oversight readiness, but the executive deck should lead with plain language rather than teach the term.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Headline plus four short bullets with a bold footer.</a:t>
            </a:r>
          </a:p>
          <a:p/>
          <a:p>
            <a:r>
              <a:t>Presenter note</a:t>
            </a:r>
          </a:p>
          <a:p>
            <a:r>
              <a:t>This is where the deck gets serious. Many organizations say “human in the loop” without defining what the human is verifying.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Two-column contrast:</a:t>
            </a:r>
          </a:p>
          <a:p>
            <a:r>
              <a:t>- shallow cost-cutting story</a:t>
            </a:r>
          </a:p>
          <a:p>
            <a:r>
              <a:t>- capability-building story</a:t>
            </a:r>
          </a:p>
          <a:p/>
          <a:p>
            <a:r>
              <a:t>Presenter note</a:t>
            </a:r>
          </a:p>
          <a:p>
            <a:r>
              <a:t>This is not anti-productivity. It is a more complete definition of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Left: bad metric examples.</a:t>
            </a:r>
          </a:p>
          <a:p>
            <a:r>
              <a:t>Right: better signal examples.</a:t>
            </a:r>
          </a:p>
          <a:p/>
          <a:p>
            <a:r>
              <a:t>Presenter note</a:t>
            </a:r>
          </a:p>
          <a:p>
            <a:r>
              <a:t>This is the fastest way to break the prompt-count mindset without making the measurement model feel heavy.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Top half:</a:t>
            </a:r>
          </a:p>
          <a:p>
            <a:r>
              <a:t>- pilot shape</a:t>
            </a:r>
          </a:p>
          <a:p>
            <a:r>
              <a:t>Bottom half:</a:t>
            </a:r>
          </a:p>
          <a:p>
            <a:r>
              <a:t>- example workflows by role</a:t>
            </a:r>
          </a:p>
          <a:p/>
          <a:p>
            <a:r>
              <a:t>Presenter note</a:t>
            </a:r>
          </a:p>
          <a:p>
            <a:r>
              <a:t>Keep this concrete. Leaders should see where the pilot begins, not just hear abstract rollout language.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One headline with four short leadership responsibilities.</a:t>
            </a:r>
          </a:p>
          <a:p/>
          <a:p>
            <a:r>
              <a:t>Presenter note</a:t>
            </a:r>
          </a:p>
          <a:p>
            <a:r>
              <a:t>This is the slide that converts executive agreement into operational support.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Decision slide with five approval items as checklist cards.</a:t>
            </a:r>
          </a:p>
          <a:p/>
          <a:p>
            <a:r>
              <a:t>Presenter note</a:t>
            </a:r>
          </a:p>
          <a:p>
            <a:r>
              <a:t>End on the decision. The close should feel operational, not philosophical.</a:t>
            </a:r>
          </a:p>
          <a:p>
            <a:r>
              <a:t>## Reference note</a:t>
            </a:r>
          </a:p>
          <a:p>
            <a:r>
              <a:t>For deeper follow-up:</a:t>
            </a:r>
          </a:p>
          <a:p>
            <a:r>
              <a:t>- use 40 Deliverables/Draft - Leadership Deck Outline - AI Enablement for an Initial Pilot Cohort as the deck map</a:t>
            </a:r>
          </a:p>
          <a:p>
            <a:r>
              <a:t>- use 40 Deliverables/Draft - Leadership Deck Slide Copy - AI Enablement for an Initial Pilot Cohort as the extended slide library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AI Enablement for an Initial Pilot Cohort</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Paired engineering, capability growth, and workflow improvement across software delivery work</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is already entering software delivery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teams will touch AI whether the rollout is designed or not</a:t>
            </a:r>
          </a:p>
          <a:p>
            <a:pPr algn="l" marL="254000" indent="0">
              <a:lnSpc>
                <a:spcPct val="108000"/>
              </a:lnSpc>
              <a:spcBef>
                <a:spcPts val="0"/>
              </a:spcBef>
              <a:spcAft>
                <a:spcPts val="700"/>
              </a:spcAft>
              <a:buNone/>
              <a:defRPr sz="2000" b="0">
                <a:solidFill>
                  <a:srgbClr val="22313F"/>
                </a:solidFill>
                <a:latin typeface="Aptos"/>
              </a:defRPr>
            </a:pPr>
            <a:r>
              <a:t>- unmanaged adoption creates uneven quality and hidden risk</a:t>
            </a:r>
          </a:p>
          <a:p>
            <a:pPr algn="l" marL="254000" indent="0">
              <a:lnSpc>
                <a:spcPct val="108000"/>
              </a:lnSpc>
              <a:spcBef>
                <a:spcPts val="0"/>
              </a:spcBef>
              <a:spcAft>
                <a:spcPts val="700"/>
              </a:spcAft>
              <a:buNone/>
              <a:defRPr sz="2000" b="0">
                <a:solidFill>
                  <a:srgbClr val="22313F"/>
                </a:solidFill>
                <a:latin typeface="Aptos"/>
              </a:defRPr>
            </a:pPr>
            <a:r>
              <a:t>- tool access alone is not enablement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a choice between ban AI and automate the humans away.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useful middle path is:</a:t>
            </a:r>
          </a:p>
          <a:p>
            <a:pPr algn="l" marL="0" indent="0">
              <a:lnSpc>
                <a:spcPct val="108000"/>
              </a:lnSpc>
              <a:spcBef>
                <a:spcPts val="0"/>
              </a:spcBef>
              <a:spcAft>
                <a:spcPts val="1000"/>
              </a:spcAft>
              <a:buNone/>
              <a:defRPr sz="2100" b="1">
                <a:solidFill>
                  <a:srgbClr val="22313F"/>
                </a:solidFill>
                <a:latin typeface="Aptos"/>
              </a:defRPr>
            </a:pPr>
            <a:r>
              <a:t>paired engineering with explicit review, verification, and guardrails</a:t>
            </a:r>
          </a:p>
          <a:p>
            <a:pPr algn="l" marL="457200" indent="0">
              <a:lnSpc>
                <a:spcPct val="108000"/>
              </a:lnSpc>
              <a:spcBef>
                <a:spcPts val="0"/>
              </a:spcBef>
              <a:spcAft>
                <a:spcPts val="700"/>
              </a:spcAft>
              <a:buNone/>
              <a:defRPr sz="2000" b="0">
                <a:solidFill>
                  <a:srgbClr val="22313F"/>
                </a:solidFill>
                <a:latin typeface="Aptos"/>
              </a:defRPr>
            </a:pPr>
            <a:r>
              <a:t>- gain leverage without outsourcing judgment</a:t>
            </a:r>
          </a:p>
          <a:p>
            <a:pPr algn="l" marL="457200" indent="0">
              <a:lnSpc>
                <a:spcPct val="108000"/>
              </a:lnSpc>
              <a:spcBef>
                <a:spcPts val="0"/>
              </a:spcBef>
              <a:spcAft>
                <a:spcPts val="700"/>
              </a:spcAft>
              <a:buNone/>
              <a:defRPr sz="2000" b="0">
                <a:solidFill>
                  <a:srgbClr val="22313F"/>
                </a:solidFill>
                <a:latin typeface="Aptos"/>
              </a:defRPr>
            </a:pPr>
            <a:r>
              <a:t>- improve workflow quality without normalizing blind delegation</a:t>
            </a:r>
          </a:p>
          <a:p>
            <a:pPr algn="l" marL="457200" indent="0">
              <a:lnSpc>
                <a:spcPct val="108000"/>
              </a:lnSpc>
              <a:spcBef>
                <a:spcPts val="0"/>
              </a:spcBef>
              <a:spcAft>
                <a:spcPts val="700"/>
              </a:spcAft>
              <a:buNone/>
              <a:defRPr sz="2000" b="0">
                <a:solidFill>
                  <a:srgbClr val="22313F"/>
                </a:solidFill>
                <a:latin typeface="Aptos"/>
              </a:defRPr>
            </a:pPr>
            <a:r>
              <a:t>- treat rollout as operational design, not ideology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evidence is mixed, but usable.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bounded software tasks can speed up</a:t>
            </a:r>
          </a:p>
          <a:p>
            <a:pPr algn="l" marL="254000" indent="0">
              <a:lnSpc>
                <a:spcPct val="108000"/>
              </a:lnSpc>
              <a:spcBef>
                <a:spcPts val="0"/>
              </a:spcBef>
              <a:spcAft>
                <a:spcPts val="700"/>
              </a:spcAft>
              <a:buNone/>
              <a:defRPr sz="2000" b="0">
                <a:solidFill>
                  <a:srgbClr val="22313F"/>
                </a:solidFill>
                <a:latin typeface="Aptos"/>
              </a:defRPr>
            </a:pPr>
            <a:r>
              <a:t>- unfamiliar and learning-heavy work can suffer</a:t>
            </a:r>
          </a:p>
          <a:p>
            <a:pPr algn="l" marL="254000" indent="0">
              <a:lnSpc>
                <a:spcPct val="108000"/>
              </a:lnSpc>
              <a:spcBef>
                <a:spcPts val="0"/>
              </a:spcBef>
              <a:spcAft>
                <a:spcPts val="700"/>
              </a:spcAft>
              <a:buNone/>
              <a:defRPr sz="2000" b="0">
                <a:solidFill>
                  <a:srgbClr val="22313F"/>
                </a:solidFill>
                <a:latin typeface="Aptos"/>
              </a:defRPr>
            </a:pPr>
            <a:r>
              <a:t>- explanations alone do not prevent overreliance</a:t>
            </a:r>
          </a:p>
          <a:p>
            <a:pPr algn="l" marL="254000" indent="0">
              <a:lnSpc>
                <a:spcPct val="108000"/>
              </a:lnSpc>
              <a:spcBef>
                <a:spcPts val="0"/>
              </a:spcBef>
              <a:spcAft>
                <a:spcPts val="700"/>
              </a:spcAft>
              <a:buNone/>
              <a:defRPr sz="2000" b="0">
                <a:solidFill>
                  <a:srgbClr val="22313F"/>
                </a:solidFill>
                <a:latin typeface="Aptos"/>
              </a:defRPr>
            </a:pPr>
            <a:r>
              <a:t>- low-observability reasoning work is harder to use safely</a:t>
            </a:r>
          </a:p>
          <a:p>
            <a:pPr algn="l" marL="0" indent="0">
              <a:lnSpc>
                <a:spcPct val="108000"/>
              </a:lnSpc>
              <a:spcBef>
                <a:spcPts val="0"/>
              </a:spcBef>
              <a:spcAft>
                <a:spcPts val="1000"/>
              </a:spcAft>
              <a:buNone/>
              <a:defRPr sz="2100" b="1">
                <a:solidFill>
                  <a:srgbClr val="22313F"/>
                </a:solidFill>
                <a:latin typeface="Aptos"/>
              </a:defRPr>
            </a:pPr>
            <a:r>
              <a:t>The right response is deliberate rollout, not blind rollout.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AI as paired engineering, not blind delegation.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Default pattern:</a:t>
            </a:r>
          </a:p>
          <a:p>
            <a:pPr algn="l" marL="0" indent="0">
              <a:lnSpc>
                <a:spcPct val="108000"/>
              </a:lnSpc>
              <a:spcBef>
                <a:spcPts val="0"/>
              </a:spcBef>
              <a:spcAft>
                <a:spcPts val="1000"/>
              </a:spcAft>
              <a:buNone/>
              <a:defRPr sz="2000" b="0">
                <a:solidFill>
                  <a:srgbClr val="22313F"/>
                </a:solidFill>
                <a:latin typeface="Aptos"/>
              </a:defRPr>
            </a:pPr>
            <a:r>
              <a:t>question -&gt; generate or compare -&gt; verify -&gt; revise -&gt; learn</a:t>
            </a:r>
          </a:p>
          <a:p>
            <a:pPr algn="l" marL="457200" indent="0">
              <a:lnSpc>
                <a:spcPct val="108000"/>
              </a:lnSpc>
              <a:spcBef>
                <a:spcPts val="0"/>
              </a:spcBef>
              <a:spcAft>
                <a:spcPts val="700"/>
              </a:spcAft>
              <a:buNone/>
              <a:defRPr sz="2000" b="0">
                <a:solidFill>
                  <a:srgbClr val="22313F"/>
                </a:solidFill>
                <a:latin typeface="Aptos"/>
              </a:defRPr>
            </a:pPr>
            <a:r>
              <a:t>- explanation-first on unfamiliar work</a:t>
            </a:r>
          </a:p>
          <a:p>
            <a:pPr algn="l" marL="457200" indent="0">
              <a:lnSpc>
                <a:spcPct val="108000"/>
              </a:lnSpc>
              <a:spcBef>
                <a:spcPts val="0"/>
              </a:spcBef>
              <a:spcAft>
                <a:spcPts val="700"/>
              </a:spcAft>
              <a:buNone/>
              <a:defRPr sz="2000" b="0">
                <a:solidFill>
                  <a:srgbClr val="22313F"/>
                </a:solidFill>
                <a:latin typeface="Aptos"/>
              </a:defRPr>
            </a:pPr>
            <a:r>
              <a:t>- stronger acceleration on bounded, verifiable work</a:t>
            </a:r>
          </a:p>
          <a:p>
            <a:pPr algn="l" marL="457200" indent="0">
              <a:lnSpc>
                <a:spcPct val="108000"/>
              </a:lnSpc>
              <a:spcBef>
                <a:spcPts val="0"/>
              </a:spcBef>
              <a:spcAft>
                <a:spcPts val="700"/>
              </a:spcAft>
              <a:buNone/>
              <a:defRPr sz="2000" b="0">
                <a:solidFill>
                  <a:srgbClr val="22313F"/>
                </a:solidFill>
                <a:latin typeface="Aptos"/>
              </a:defRPr>
            </a:pPr>
            <a:r>
              <a:t>- human judgment stays accountable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One rollout message will fail.</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Safe usage changes with:</a:t>
            </a:r>
          </a:p>
          <a:p>
            <a:pPr algn="l" marL="457200" indent="0">
              <a:lnSpc>
                <a:spcPct val="108000"/>
              </a:lnSpc>
              <a:spcBef>
                <a:spcPts val="0"/>
              </a:spcBef>
              <a:spcAft>
                <a:spcPts val="700"/>
              </a:spcAft>
              <a:buNone/>
              <a:defRPr sz="2000" b="0">
                <a:solidFill>
                  <a:srgbClr val="22313F"/>
                </a:solidFill>
                <a:latin typeface="Aptos"/>
              </a:defRPr>
            </a:pPr>
            <a:r>
              <a:t>- judgment and verification ability</a:t>
            </a:r>
          </a:p>
          <a:p>
            <a:pPr algn="l" marL="457200" indent="0">
              <a:lnSpc>
                <a:spcPct val="108000"/>
              </a:lnSpc>
              <a:spcBef>
                <a:spcPts val="0"/>
              </a:spcBef>
              <a:spcAft>
                <a:spcPts val="700"/>
              </a:spcAft>
              <a:buNone/>
              <a:defRPr sz="2000" b="0">
                <a:solidFill>
                  <a:srgbClr val="22313F"/>
                </a:solidFill>
                <a:latin typeface="Aptos"/>
              </a:defRPr>
            </a:pPr>
            <a:r>
              <a:t>- task familiarity</a:t>
            </a:r>
          </a:p>
          <a:p>
            <a:pPr algn="l" marL="457200" indent="0">
              <a:lnSpc>
                <a:spcPct val="108000"/>
              </a:lnSpc>
              <a:spcBef>
                <a:spcPts val="0"/>
              </a:spcBef>
              <a:spcAft>
                <a:spcPts val="700"/>
              </a:spcAft>
              <a:buNone/>
              <a:defRPr sz="2000" b="0">
                <a:solidFill>
                  <a:srgbClr val="22313F"/>
                </a:solidFill>
                <a:latin typeface="Aptos"/>
              </a:defRPr>
            </a:pPr>
            <a:r>
              <a:t>- task risk</a:t>
            </a:r>
          </a:p>
          <a:p>
            <a:pPr algn="l" marL="457200" indent="0">
              <a:lnSpc>
                <a:spcPct val="108000"/>
              </a:lnSpc>
              <a:spcBef>
                <a:spcPts val="0"/>
              </a:spcBef>
              <a:spcAft>
                <a:spcPts val="700"/>
              </a:spcAft>
              <a:buNone/>
              <a:defRPr sz="2000" b="0">
                <a:solidFill>
                  <a:srgbClr val="22313F"/>
                </a:solidFill>
                <a:latin typeface="Aptos"/>
              </a:defRPr>
            </a:pPr>
            <a:r>
              <a:t>- verification difficulty</a:t>
            </a:r>
          </a:p>
          <a:p>
            <a:pPr algn="l" marL="0" indent="0">
              <a:lnSpc>
                <a:spcPct val="108000"/>
              </a:lnSpc>
              <a:spcBef>
                <a:spcPts val="0"/>
              </a:spcBef>
              <a:spcAft>
                <a:spcPts val="1000"/>
              </a:spcAft>
              <a:buNone/>
              <a:defRPr sz="2100" b="1">
                <a:solidFill>
                  <a:srgbClr val="22313F"/>
                </a:solidFill>
                <a:latin typeface="Aptos"/>
              </a:defRPr>
            </a:pPr>
            <a:r>
              <a:t>The same AI habit is not appropriate for every engineer or every task.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Fluent output is not trustworthy output.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Verification must match:</a:t>
            </a:r>
          </a:p>
          <a:p>
            <a:pPr algn="l" marL="457200" indent="0">
              <a:lnSpc>
                <a:spcPct val="108000"/>
              </a:lnSpc>
              <a:spcBef>
                <a:spcPts val="0"/>
              </a:spcBef>
              <a:spcAft>
                <a:spcPts val="700"/>
              </a:spcAft>
              <a:buNone/>
              <a:defRPr sz="2000" b="0">
                <a:solidFill>
                  <a:srgbClr val="22313F"/>
                </a:solidFill>
                <a:latin typeface="Aptos"/>
              </a:defRPr>
            </a:pPr>
            <a:r>
              <a:t>- the artifact being produced</a:t>
            </a:r>
          </a:p>
          <a:p>
            <a:pPr algn="l" marL="457200" indent="0">
              <a:lnSpc>
                <a:spcPct val="108000"/>
              </a:lnSpc>
              <a:spcBef>
                <a:spcPts val="0"/>
              </a:spcBef>
              <a:spcAft>
                <a:spcPts val="700"/>
              </a:spcAft>
              <a:buNone/>
              <a:defRPr sz="2000" b="0">
                <a:solidFill>
                  <a:srgbClr val="22313F"/>
                </a:solidFill>
                <a:latin typeface="Aptos"/>
              </a:defRPr>
            </a:pPr>
            <a:r>
              <a:t>- the risk of failure</a:t>
            </a:r>
          </a:p>
          <a:p>
            <a:pPr algn="l" marL="457200" indent="0">
              <a:lnSpc>
                <a:spcPct val="108000"/>
              </a:lnSpc>
              <a:spcBef>
                <a:spcPts val="0"/>
              </a:spcBef>
              <a:spcAft>
                <a:spcPts val="700"/>
              </a:spcAft>
              <a:buNone/>
              <a:defRPr sz="2000" b="0">
                <a:solidFill>
                  <a:srgbClr val="22313F"/>
                </a:solidFill>
                <a:latin typeface="Aptos"/>
              </a:defRPr>
            </a:pPr>
            <a:r>
              <a:t>- how observable the work really is</a:t>
            </a:r>
          </a:p>
          <a:p>
            <a:pPr algn="l" marL="457200" indent="0">
              <a:lnSpc>
                <a:spcPct val="108000"/>
              </a:lnSpc>
              <a:spcBef>
                <a:spcPts val="0"/>
              </a:spcBef>
              <a:spcAft>
                <a:spcPts val="700"/>
              </a:spcAft>
              <a:buNone/>
              <a:defRPr sz="2000" b="0">
                <a:solidFill>
                  <a:srgbClr val="22313F"/>
                </a:solidFill>
                <a:latin typeface="Aptos"/>
              </a:defRPr>
            </a:pPr>
            <a:r>
              <a:t>- the person’s judgment and verification ability</a:t>
            </a:r>
          </a:p>
          <a:p>
            <a:pPr algn="l" marL="0" indent="0">
              <a:lnSpc>
                <a:spcPct val="108000"/>
              </a:lnSpc>
              <a:spcBef>
                <a:spcPts val="0"/>
              </a:spcBef>
              <a:spcAft>
                <a:spcPts val="1000"/>
              </a:spcAft>
              <a:buNone/>
              <a:defRPr sz="2100" b="1">
                <a:solidFill>
                  <a:srgbClr val="22313F"/>
                </a:solidFill>
                <a:latin typeface="Aptos"/>
              </a:defRPr>
            </a:pPr>
            <a:r>
              <a:t>Code, tests, requirements, architecture, and runbooks do not verify the same way.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enablement should be treated as capability multiplication, not simple headcount subtraction.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Cost-cutting is too shallow because it ignores:</a:t>
            </a:r>
          </a:p>
          <a:p>
            <a:pPr algn="l" marL="457200" indent="0">
              <a:lnSpc>
                <a:spcPct val="108000"/>
              </a:lnSpc>
              <a:spcBef>
                <a:spcPts val="0"/>
              </a:spcBef>
              <a:spcAft>
                <a:spcPts val="700"/>
              </a:spcAft>
              <a:buNone/>
              <a:defRPr sz="2000" b="0">
                <a:solidFill>
                  <a:srgbClr val="22313F"/>
                </a:solidFill>
                <a:latin typeface="Aptos"/>
              </a:defRPr>
            </a:pPr>
            <a:r>
              <a:t>- review debt and hidden rework</a:t>
            </a:r>
          </a:p>
          <a:p>
            <a:pPr algn="l" marL="457200" indent="0">
              <a:lnSpc>
                <a:spcPct val="108000"/>
              </a:lnSpc>
              <a:spcBef>
                <a:spcPts val="0"/>
              </a:spcBef>
              <a:spcAft>
                <a:spcPts val="700"/>
              </a:spcAft>
              <a:buNone/>
              <a:defRPr sz="2000" b="0">
                <a:solidFill>
                  <a:srgbClr val="22313F"/>
                </a:solidFill>
                <a:latin typeface="Aptos"/>
              </a:defRPr>
            </a:pPr>
            <a:r>
              <a:t>- apprenticeship and onboarding loss</a:t>
            </a:r>
          </a:p>
          <a:p>
            <a:pPr algn="l" marL="457200" indent="0">
              <a:lnSpc>
                <a:spcPct val="108000"/>
              </a:lnSpc>
              <a:spcBef>
                <a:spcPts val="0"/>
              </a:spcBef>
              <a:spcAft>
                <a:spcPts val="700"/>
              </a:spcAft>
              <a:buNone/>
              <a:defRPr sz="2000" b="0">
                <a:solidFill>
                  <a:srgbClr val="22313F"/>
                </a:solidFill>
                <a:latin typeface="Aptos"/>
              </a:defRPr>
            </a:pPr>
            <a:r>
              <a:t>- dependence on a smaller cleanup layer</a:t>
            </a:r>
          </a:p>
          <a:p>
            <a:pPr algn="l" marL="457200" indent="0">
              <a:lnSpc>
                <a:spcPct val="108000"/>
              </a:lnSpc>
              <a:spcBef>
                <a:spcPts val="0"/>
              </a:spcBef>
              <a:spcAft>
                <a:spcPts val="700"/>
              </a:spcAft>
              <a:buNone/>
              <a:defRPr sz="2000" b="0">
                <a:solidFill>
                  <a:srgbClr val="22313F"/>
                </a:solidFill>
                <a:latin typeface="Aptos"/>
              </a:defRPr>
            </a:pPr>
            <a:r>
              <a:t>- the gap between draft speed and trustworthy delivery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Usage metrics are useful context.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They are weak evidence of enablement success.</a:t>
            </a:r>
          </a:p>
          <a:p>
            <a:pPr algn="l" marL="0" indent="0">
              <a:lnSpc>
                <a:spcPct val="108000"/>
              </a:lnSpc>
              <a:spcBef>
                <a:spcPts val="0"/>
              </a:spcBef>
              <a:spcAft>
                <a:spcPts val="1000"/>
              </a:spcAft>
              <a:buNone/>
              <a:defRPr sz="2000" b="0">
                <a:solidFill>
                  <a:srgbClr val="22313F"/>
                </a:solidFill>
                <a:latin typeface="Aptos"/>
              </a:defRPr>
            </a:pPr>
            <a:r>
              <a:t>Leadership should ask for:</a:t>
            </a:r>
          </a:p>
          <a:p>
            <a:pPr algn="l" marL="457200" indent="0">
              <a:lnSpc>
                <a:spcPct val="108000"/>
              </a:lnSpc>
              <a:spcBef>
                <a:spcPts val="0"/>
              </a:spcBef>
              <a:spcAft>
                <a:spcPts val="700"/>
              </a:spcAft>
              <a:buNone/>
              <a:defRPr sz="2000" b="0">
                <a:solidFill>
                  <a:srgbClr val="22313F"/>
                </a:solidFill>
                <a:latin typeface="Aptos"/>
              </a:defRPr>
            </a:pPr>
            <a:r>
              <a:t>- target workflow outcomes</a:t>
            </a:r>
          </a:p>
          <a:p>
            <a:pPr algn="l" marL="457200" indent="0">
              <a:lnSpc>
                <a:spcPct val="108000"/>
              </a:lnSpc>
              <a:spcBef>
                <a:spcPts val="0"/>
              </a:spcBef>
              <a:spcAft>
                <a:spcPts val="700"/>
              </a:spcAft>
              <a:buNone/>
              <a:defRPr sz="2000" b="0">
                <a:solidFill>
                  <a:srgbClr val="22313F"/>
                </a:solidFill>
                <a:latin typeface="Aptos"/>
              </a:defRPr>
            </a:pPr>
            <a:r>
              <a:t>- downstream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sampled adoption quality</a:t>
            </a:r>
          </a:p>
          <a:p>
            <a:pPr algn="l" marL="457200" indent="0">
              <a:lnSpc>
                <a:spcPct val="108000"/>
              </a:lnSpc>
              <a:spcBef>
                <a:spcPts val="0"/>
              </a:spcBef>
              <a:spcAft>
                <a:spcPts val="700"/>
              </a:spcAft>
              <a:buNone/>
              <a:defRPr sz="2000" b="0">
                <a:solidFill>
                  <a:srgbClr val="22313F"/>
                </a:solidFill>
                <a:latin typeface="Aptos"/>
              </a:defRPr>
            </a:pPr>
            <a:r>
              <a:t>- follow-up learning and calibration</a:t>
            </a:r>
          </a:p>
          <a:p>
            <a:pPr algn="l" marL="457200" indent="0">
              <a:lnSpc>
                <a:spcPct val="108000"/>
              </a:lnSpc>
              <a:spcBef>
                <a:spcPts val="0"/>
              </a:spcBef>
              <a:spcAft>
                <a:spcPts val="700"/>
              </a:spcAft>
              <a:buNone/>
              <a:defRPr sz="2000" b="0">
                <a:solidFill>
                  <a:srgbClr val="22313F"/>
                </a:solidFill>
                <a:latin typeface="Aptos"/>
              </a:defRPr>
            </a:pPr>
            <a:r>
              <a:t>- safety and policy exceptions</a:t>
            </a:r>
          </a:p>
          <a:p>
            <a:pPr algn="l" marL="0" indent="0">
              <a:lnSpc>
                <a:spcPct val="108000"/>
              </a:lnSpc>
              <a:spcBef>
                <a:spcPts val="0"/>
              </a:spcBef>
              <a:spcAft>
                <a:spcPts val="1000"/>
              </a:spcAft>
              <a:buNone/>
              <a:defRPr sz="2100" b="1">
                <a:solidFill>
                  <a:srgbClr val="22313F"/>
                </a:solidFill>
                <a:latin typeface="Aptos"/>
              </a:defRPr>
            </a:pPr>
            <a:r>
              <a:t>Activity is not the same as enablement.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with a bounded pilot and real workflows.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Pilot shape:</a:t>
            </a:r>
          </a:p>
          <a:p>
            <a:pPr algn="l" marL="457200" indent="0">
              <a:lnSpc>
                <a:spcPct val="108000"/>
              </a:lnSpc>
              <a:spcBef>
                <a:spcPts val="0"/>
              </a:spcBef>
              <a:spcAft>
                <a:spcPts val="700"/>
              </a:spcAft>
              <a:buNone/>
              <a:defRPr sz="2000" b="0">
                <a:solidFill>
                  <a:srgbClr val="22313F"/>
                </a:solidFill>
                <a:latin typeface="Aptos"/>
              </a:defRPr>
            </a:pPr>
            <a:r>
              <a:t>- one technical enablement lead</a:t>
            </a:r>
          </a:p>
          <a:p>
            <a:pPr algn="l" marL="457200" indent="0">
              <a:lnSpc>
                <a:spcPct val="108000"/>
              </a:lnSpc>
              <a:spcBef>
                <a:spcPts val="0"/>
              </a:spcBef>
              <a:spcAft>
                <a:spcPts val="700"/>
              </a:spcAft>
              <a:buNone/>
              <a:defRPr sz="2000" b="0">
                <a:solidFill>
                  <a:srgbClr val="22313F"/>
                </a:solidFill>
                <a:latin typeface="Aptos"/>
              </a:defRPr>
            </a:pPr>
            <a:r>
              <a:t>- one management sponsor</a:t>
            </a:r>
          </a:p>
          <a:p>
            <a:pPr algn="l" marL="457200" indent="0">
              <a:lnSpc>
                <a:spcPct val="108000"/>
              </a:lnSpc>
              <a:spcBef>
                <a:spcPts val="0"/>
              </a:spcBef>
              <a:spcAft>
                <a:spcPts val="700"/>
              </a:spcAft>
              <a:buNone/>
              <a:defRPr sz="2000" b="0">
                <a:solidFill>
                  <a:srgbClr val="22313F"/>
                </a:solidFill>
                <a:latin typeface="Aptos"/>
              </a:defRPr>
            </a:pPr>
            <a:r>
              <a:t>- bounded starting scope</a:t>
            </a:r>
          </a:p>
          <a:p>
            <a:pPr algn="l" marL="457200" indent="0">
              <a:lnSpc>
                <a:spcPct val="108000"/>
              </a:lnSpc>
              <a:spcBef>
                <a:spcPts val="0"/>
              </a:spcBef>
              <a:spcAft>
                <a:spcPts val="700"/>
              </a:spcAft>
              <a:buNone/>
              <a:defRPr sz="2000" b="0">
                <a:solidFill>
                  <a:srgbClr val="22313F"/>
                </a:solidFill>
                <a:latin typeface="Aptos"/>
              </a:defRPr>
            </a:pPr>
            <a:r>
              <a:t>- limited workflows per role</a:t>
            </a:r>
          </a:p>
          <a:p>
            <a:pPr algn="l" marL="457200" indent="0">
              <a:lnSpc>
                <a:spcPct val="108000"/>
              </a:lnSpc>
              <a:spcBef>
                <a:spcPts val="0"/>
              </a:spcBef>
              <a:spcAft>
                <a:spcPts val="700"/>
              </a:spcAft>
              <a:buNone/>
              <a:defRPr sz="2000" b="0">
                <a:solidFill>
                  <a:srgbClr val="22313F"/>
                </a:solidFill>
                <a:latin typeface="Aptos"/>
              </a:defRPr>
            </a:pPr>
            <a:r>
              <a:t>- 12-week phased pilot</a:t>
            </a:r>
          </a:p>
          <a:p>
            <a:pPr algn="l" marL="0" indent="0">
              <a:lnSpc>
                <a:spcPct val="108000"/>
              </a:lnSpc>
              <a:spcBef>
                <a:spcPts val="0"/>
              </a:spcBef>
              <a:spcAft>
                <a:spcPts val="1000"/>
              </a:spcAft>
              <a:buNone/>
              <a:defRPr sz="2000" b="0">
                <a:solidFill>
                  <a:srgbClr val="22313F"/>
                </a:solidFill>
                <a:latin typeface="Aptos"/>
              </a:defRPr>
            </a:pPr>
            <a:r>
              <a:t>First workflow examples:</a:t>
            </a:r>
          </a:p>
          <a:p>
            <a:pPr algn="l" marL="457200" indent="0">
              <a:lnSpc>
                <a:spcPct val="108000"/>
              </a:lnSpc>
              <a:spcBef>
                <a:spcPts val="0"/>
              </a:spcBef>
              <a:spcAft>
                <a:spcPts val="700"/>
              </a:spcAft>
              <a:buNone/>
              <a:defRPr sz="2000" b="0">
                <a:solidFill>
                  <a:srgbClr val="22313F"/>
                </a:solidFill>
                <a:latin typeface="Aptos"/>
              </a:defRPr>
            </a:pPr>
            <a:r>
              <a:t>- developers: debugging and code explanation</a:t>
            </a:r>
          </a:p>
          <a:p>
            <a:pPr algn="l" marL="457200" indent="0">
              <a:lnSpc>
                <a:spcPct val="108000"/>
              </a:lnSpc>
              <a:spcBef>
                <a:spcPts val="0"/>
              </a:spcBef>
              <a:spcAft>
                <a:spcPts val="700"/>
              </a:spcAft>
              <a:buNone/>
              <a:defRPr sz="2000" b="0">
                <a:solidFill>
                  <a:srgbClr val="22313F"/>
                </a:solidFill>
                <a:latin typeface="Aptos"/>
              </a:defRPr>
            </a:pPr>
            <a:r>
              <a:t>- QA and SDET: failure triage</a:t>
            </a:r>
          </a:p>
          <a:p>
            <a:pPr algn="l" marL="457200" indent="0">
              <a:lnSpc>
                <a:spcPct val="108000"/>
              </a:lnSpc>
              <a:spcBef>
                <a:spcPts val="0"/>
              </a:spcBef>
              <a:spcAft>
                <a:spcPts val="700"/>
              </a:spcAft>
              <a:buNone/>
              <a:defRPr sz="2000" b="0">
                <a:solidFill>
                  <a:srgbClr val="22313F"/>
                </a:solidFill>
                <a:latin typeface="Aptos"/>
              </a:defRPr>
            </a:pPr>
            <a:r>
              <a:t>- architects: option comparison</a:t>
            </a:r>
          </a:p>
          <a:p>
            <a:pPr algn="l" marL="457200" indent="0">
              <a:lnSpc>
                <a:spcPct val="108000"/>
              </a:lnSpc>
              <a:spcBef>
                <a:spcPts val="0"/>
              </a:spcBef>
              <a:spcAft>
                <a:spcPts val="700"/>
              </a:spcAft>
              <a:buNone/>
              <a:defRPr sz="2000" b="0">
                <a:solidFill>
                  <a:srgbClr val="22313F"/>
                </a:solidFill>
                <a:latin typeface="Aptos"/>
              </a:defRPr>
            </a:pPr>
            <a:r>
              <a:t>- product: backlog clarification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Enablement only works if leadership protects the conditions that make good behavior possible.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Leadership must protect:</a:t>
            </a:r>
          </a:p>
          <a:p>
            <a:pPr algn="l" marL="457200" indent="0">
              <a:lnSpc>
                <a:spcPct val="108000"/>
              </a:lnSpc>
              <a:spcBef>
                <a:spcPts val="0"/>
              </a:spcBef>
              <a:spcAft>
                <a:spcPts val="700"/>
              </a:spcAft>
              <a:buNone/>
              <a:defRPr sz="2000" b="0">
                <a:solidFill>
                  <a:srgbClr val="22313F"/>
                </a:solidFill>
                <a:latin typeface="Aptos"/>
              </a:defRPr>
            </a:pPr>
            <a:r>
              <a:t>- time for demos, office hours, and workflow coaching</a:t>
            </a:r>
          </a:p>
          <a:p>
            <a:pPr algn="l" marL="457200" indent="0">
              <a:lnSpc>
                <a:spcPct val="108000"/>
              </a:lnSpc>
              <a:spcBef>
                <a:spcPts val="0"/>
              </a:spcBef>
              <a:spcAft>
                <a:spcPts val="700"/>
              </a:spcAft>
              <a:buNone/>
              <a:defRPr sz="2000" b="0">
                <a:solidFill>
                  <a:srgbClr val="22313F"/>
                </a:solidFill>
                <a:latin typeface="Aptos"/>
              </a:defRPr>
            </a:pPr>
            <a:r>
              <a:t>- review and verification loops</a:t>
            </a:r>
          </a:p>
          <a:p>
            <a:pPr algn="l" marL="457200" indent="0">
              <a:lnSpc>
                <a:spcPct val="108000"/>
              </a:lnSpc>
              <a:spcBef>
                <a:spcPts val="0"/>
              </a:spcBef>
              <a:spcAft>
                <a:spcPts val="700"/>
              </a:spcAft>
              <a:buNone/>
              <a:defRPr sz="2000" b="0">
                <a:solidFill>
                  <a:srgbClr val="22313F"/>
                </a:solidFill>
                <a:latin typeface="Aptos"/>
              </a:defRPr>
            </a:pPr>
            <a:r>
              <a:t>- mentoring and apprenticeship capacity</a:t>
            </a:r>
          </a:p>
          <a:p>
            <a:pPr algn="l" marL="457200" indent="0">
              <a:lnSpc>
                <a:spcPct val="108000"/>
              </a:lnSpc>
              <a:spcBef>
                <a:spcPts val="0"/>
              </a:spcBef>
              <a:spcAft>
                <a:spcPts val="700"/>
              </a:spcAft>
              <a:buNone/>
              <a:defRPr sz="2000" b="0">
                <a:solidFill>
                  <a:srgbClr val="22313F"/>
                </a:solidFill>
                <a:latin typeface="Aptos"/>
              </a:defRPr>
            </a:pPr>
            <a:r>
              <a:t>- honest reporting, including refine or pause decisions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Approve a phased 12-week pilot with:</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 named sponsor</a:t>
            </a:r>
          </a:p>
          <a:p>
            <a:pPr algn="l" marL="254000" indent="0">
              <a:lnSpc>
                <a:spcPct val="108000"/>
              </a:lnSpc>
              <a:spcBef>
                <a:spcPts val="0"/>
              </a:spcBef>
              <a:spcAft>
                <a:spcPts val="700"/>
              </a:spcAft>
              <a:buNone/>
              <a:defRPr sz="2000" b="0">
                <a:solidFill>
                  <a:srgbClr val="22313F"/>
                </a:solidFill>
                <a:latin typeface="Aptos"/>
              </a:defRPr>
            </a:pPr>
            <a:r>
              <a:t>- a named technical enablement lead</a:t>
            </a:r>
          </a:p>
          <a:p>
            <a:pPr algn="l" marL="254000" indent="0">
              <a:lnSpc>
                <a:spcPct val="108000"/>
              </a:lnSpc>
              <a:spcBef>
                <a:spcPts val="0"/>
              </a:spcBef>
              <a:spcAft>
                <a:spcPts val="700"/>
              </a:spcAft>
              <a:buNone/>
              <a:defRPr sz="2000" b="0">
                <a:solidFill>
                  <a:srgbClr val="22313F"/>
                </a:solidFill>
                <a:latin typeface="Aptos"/>
              </a:defRPr>
            </a:pPr>
            <a:r>
              <a:t>- explicit workflow scope</a:t>
            </a:r>
          </a:p>
          <a:p>
            <a:pPr algn="l" marL="254000" indent="0">
              <a:lnSpc>
                <a:spcPct val="108000"/>
              </a:lnSpc>
              <a:spcBef>
                <a:spcPts val="0"/>
              </a:spcBef>
              <a:spcAft>
                <a:spcPts val="700"/>
              </a:spcAft>
              <a:buNone/>
              <a:defRPr sz="2000" b="0">
                <a:solidFill>
                  <a:srgbClr val="22313F"/>
                </a:solidFill>
                <a:latin typeface="Aptos"/>
              </a:defRPr>
            </a:pPr>
            <a:r>
              <a:t>- guardrails and review cadence</a:t>
            </a:r>
          </a:p>
          <a:p>
            <a:pPr algn="l" marL="254000" indent="0">
              <a:lnSpc>
                <a:spcPct val="108000"/>
              </a:lnSpc>
              <a:spcBef>
                <a:spcPts val="0"/>
              </a:spcBef>
              <a:spcAft>
                <a:spcPts val="700"/>
              </a:spcAft>
              <a:buNone/>
              <a:defRPr sz="2000" b="0">
                <a:solidFill>
                  <a:srgbClr val="22313F"/>
                </a:solidFill>
                <a:latin typeface="Aptos"/>
              </a:defRPr>
            </a:pPr>
            <a:r>
              <a:t>- outcome-oriented measures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