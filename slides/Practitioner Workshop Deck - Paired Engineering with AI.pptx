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Set the tone early: this is not a hype talk and not a tool demo. It is a working session about how to use AI well in real delivery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The point is to remove the implicit message of “use AI more.” The session is about using AI better, especially in ways that improve understanding, review, and workflow quality.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gives the workshop its stance. It should feel simple enough to remember and strong enough to steer later exercises.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If participants remember only one loop from the session, it should probably be this one. It keeps the process from collapsing into “prompt -&gt; paste.”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is one of the most important in the deck. It gives practitioners permission to slow down when the work is unfamiliar instead of feeling like every AI interaction should be optimized for speed.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Use plain language here. The deeper model is helpful, but the audience mainly needs to understand why copying somebody else’s AI habit is not automatically safe.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where the paired-engineering model becomes concrete. The key teaching move is that verification must match the artifact, not just the confidence of the person reading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Make this feel practical, not generic. Developer audiences usually understand quickly when the examples are close to real repo work.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prevents the deck from sounding developer-only. It should also reinforce that different roles absorb different kinds of risk.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a good discussion slide. Participants usually recognize themselves or their teams in at least one of these patterns, which makes the rest of the workshop more real.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the transition from concept to practice. Keep the instruction simple and let the workshop pack handle the specific scenarios and facilitator flow.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The workshop should end with concrete behavior change, not just agreement. This slide should make the session feel actionable instead of inspirational-only.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the slide that turns the exercise layer into a real call to action. The ask should feel reasonable. Review is enough to start. Completion is better when time allows.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Point participants toward the durable notes. This helps the workshop function as an entry point into the broader project materials rather than a standalone event.</a:t>
            </a:r>
          </a:p>
          <a:p>
            <a:r>
              <a:t>The new exercise library is especially useful when teams want a more deliberate progression for junior and intermediate practitioners instead of repeating the same starter scenario.</a:t>
            </a:r>
          </a:p>
          <a:p>
            <a:r>
              <a:t>The same library now also includes advanced senior and Staff scenarios focused on standards, tooling, rollout judgment, and low-observability reasoning.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3247"/>
        </a:solidFill>
        <a:effectLst/>
      </p:bgPr>
    </p:bg>
    <p:spTree>
      <p:nvGrpSpPr>
        <p:cNvPr id="1" name=""/>
        <p:cNvGrpSpPr/>
        <p:nvPr/>
      </p:nvGrpSpPr>
      <p:grpSpPr/>
      <p:sp>
        <p:nvSpPr>
          <p:cNvPr id="2" name="Title 1"/>
          <p:cNvSpPr>
            <a:spLocks noGrp="1"/>
          </p:cNvSpPr>
          <p:nvPr>
            <p:ph type="ctrTitle"/>
          </p:nvPr>
        </p:nvSpPr>
        <p:spPr>
          <a:xfrm>
            <a:off x="1051560" y="1051560"/>
            <a:ext cx="9875520" cy="1234440"/>
          </a:xfrm>
        </p:spPr>
        <p:txBody>
          <a:bodyPr/>
          <a:lstStyle/>
          <a:p>
            <a:pPr algn="l">
              <a:spcAft>
                <a:spcPts val="500"/>
              </a:spcAft>
            </a:pPr>
            <a:r>
              <a:rPr sz="3200" b="1">
                <a:solidFill>
                  <a:srgbClr val="F8FAFC"/>
                </a:solidFill>
                <a:latin typeface="Aptos Display"/>
              </a:rPr>
              <a:t>Paired Engineering with AI</a:t>
            </a:r>
          </a:p>
        </p:txBody>
      </p:sp>
      <p:sp>
        <p:nvSpPr>
          <p:cNvPr id="3" name="Subtitle 2"/>
          <p:cNvSpPr>
            <a:spLocks noGrp="1"/>
          </p:cNvSpPr>
          <p:nvPr>
            <p:ph type="subTitle" idx="1"/>
          </p:nvPr>
        </p:nvSpPr>
        <p:spPr>
          <a:xfrm>
            <a:off x="1078992" y="2331720"/>
            <a:ext cx="7955279" cy="1097280"/>
          </a:xfrm>
        </p:spPr>
        <p:txBody>
          <a:bodyPr/>
          <a:lstStyle/>
          <a:p>
            <a:pPr algn="l">
              <a:spcAft>
                <a:spcPts val="500"/>
              </a:spcAft>
            </a:pPr>
            <a:r>
              <a:rPr sz="2000" b="0">
                <a:solidFill>
                  <a:srgbClr val="F8FAFC"/>
                </a:solidFill>
                <a:latin typeface="Aptos"/>
              </a:rPr>
              <a:t>A practical workshop for software delivery teams</a:t>
            </a:r>
          </a:p>
        </p:txBody>
      </p:sp>
      <p:sp>
        <p:nvSpPr>
          <p:cNvPr id="4" name="Rectangle 3"/>
          <p:cNvSpPr/>
          <p:nvPr/>
        </p:nvSpPr>
        <p:spPr>
          <a:xfrm>
            <a:off x="0" y="0"/>
            <a:ext cx="12191695" cy="201168"/>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960120"/>
            <a:ext cx="164592" cy="2240280"/>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5897880"/>
            <a:ext cx="2743200" cy="292608"/>
          </a:xfrm>
          <a:prstGeom prst="rect">
            <a:avLst/>
          </a:prstGeom>
          <a:noFill/>
        </p:spPr>
        <p:txBody>
          <a:bodyPr wrap="square" anchor="ctr">
            <a:spAutoFit/>
          </a:bodyPr>
          <a:lstStyle/>
          <a:p>
            <a:pPr algn="l">
              <a:spcAft>
                <a:spcPts val="500"/>
              </a:spcAft>
            </a:pPr>
            <a:r>
              <a:rPr sz="1200" b="1">
                <a:solidFill>
                  <a:srgbClr val="D79A46"/>
                </a:solidFill>
                <a:latin typeface="Aptos"/>
              </a:rPr>
              <a:t>Paired Engineering</a:t>
            </a:r>
          </a:p>
        </p:txBody>
      </p:sp>
      <p:sp>
        <p:nvSpPr>
          <p:cNvPr id="7" name="TextBox 6"/>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Tool access alone does not teach good AI usage.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teams are already experimenting</a:t>
            </a:r>
          </a:p>
          <a:p>
            <a:pPr algn="l" marL="254000" indent="0">
              <a:lnSpc>
                <a:spcPct val="108000"/>
              </a:lnSpc>
              <a:spcBef>
                <a:spcPts val="0"/>
              </a:spcBef>
              <a:spcAft>
                <a:spcPts val="700"/>
              </a:spcAft>
              <a:buNone/>
              <a:defRPr sz="2000" b="0">
                <a:solidFill>
                  <a:srgbClr val="22313F"/>
                </a:solidFill>
                <a:latin typeface="Aptos"/>
              </a:defRPr>
            </a:pPr>
            <a:r>
              <a:t>- quality and learning can drift without shared practice</a:t>
            </a:r>
          </a:p>
          <a:p>
            <a:pPr algn="l" marL="254000" indent="0">
              <a:lnSpc>
                <a:spcPct val="108000"/>
              </a:lnSpc>
              <a:spcBef>
                <a:spcPts val="0"/>
              </a:spcBef>
              <a:spcAft>
                <a:spcPts val="700"/>
              </a:spcAft>
              <a:buNone/>
              <a:defRPr sz="2000" b="0">
                <a:solidFill>
                  <a:srgbClr val="22313F"/>
                </a:solidFill>
                <a:latin typeface="Aptos"/>
              </a:defRPr>
            </a:pPr>
            <a:r>
              <a:t>- this session is about safer and more useful habits</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This is not a choice between avoiding AI and handing the work to the model.</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The useful middle path is:</a:t>
            </a:r>
          </a:p>
          <a:p>
            <a:pPr algn="l" marL="0" indent="0">
              <a:lnSpc>
                <a:spcPct val="108000"/>
              </a:lnSpc>
              <a:spcBef>
                <a:spcPts val="0"/>
              </a:spcBef>
              <a:spcAft>
                <a:spcPts val="1000"/>
              </a:spcAft>
              <a:buNone/>
              <a:defRPr sz="2100" b="1">
                <a:solidFill>
                  <a:srgbClr val="22313F"/>
                </a:solidFill>
                <a:latin typeface="Aptos"/>
              </a:defRPr>
            </a:pPr>
            <a:r>
              <a:t>paired engineering with review, verification, and learning built in</a:t>
            </a:r>
          </a:p>
          <a:p>
            <a:pPr algn="l" marL="457200" indent="0">
              <a:lnSpc>
                <a:spcPct val="108000"/>
              </a:lnSpc>
              <a:spcBef>
                <a:spcPts val="0"/>
              </a:spcBef>
              <a:spcAft>
                <a:spcPts val="700"/>
              </a:spcAft>
              <a:buNone/>
              <a:defRPr sz="2000" b="0">
                <a:solidFill>
                  <a:srgbClr val="22313F"/>
                </a:solidFill>
                <a:latin typeface="Aptos"/>
              </a:defRPr>
            </a:pPr>
            <a:r>
              <a:t>- keep people thinking</a:t>
            </a:r>
          </a:p>
          <a:p>
            <a:pPr algn="l" marL="457200" indent="0">
              <a:lnSpc>
                <a:spcPct val="108000"/>
              </a:lnSpc>
              <a:spcBef>
                <a:spcPts val="0"/>
              </a:spcBef>
              <a:spcAft>
                <a:spcPts val="700"/>
              </a:spcAft>
              <a:buNone/>
              <a:defRPr sz="2000" b="0">
                <a:solidFill>
                  <a:srgbClr val="22313F"/>
                </a:solidFill>
                <a:latin typeface="Aptos"/>
              </a:defRPr>
            </a:pPr>
            <a:r>
              <a:t>- improve flow without outsourcing judgment</a:t>
            </a:r>
          </a:p>
          <a:p>
            <a:pPr algn="l" marL="457200" indent="0">
              <a:lnSpc>
                <a:spcPct val="108000"/>
              </a:lnSpc>
              <a:spcBef>
                <a:spcPts val="0"/>
              </a:spcBef>
              <a:spcAft>
                <a:spcPts val="700"/>
              </a:spcAft>
              <a:buNone/>
              <a:defRPr sz="2000" b="0">
                <a:solidFill>
                  <a:srgbClr val="22313F"/>
                </a:solidFill>
                <a:latin typeface="Aptos"/>
              </a:defRPr>
            </a:pPr>
            <a:r>
              <a:t>- avoid fluent but untrustworthy shortcuts</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Question -&gt; generate or compare -&gt; verify -&gt; revise -&gt; learn</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asking the model is only one step</a:t>
            </a:r>
          </a:p>
          <a:p>
            <a:pPr algn="l" marL="254000" indent="0">
              <a:lnSpc>
                <a:spcPct val="108000"/>
              </a:lnSpc>
              <a:spcBef>
                <a:spcPts val="0"/>
              </a:spcBef>
              <a:spcAft>
                <a:spcPts val="700"/>
              </a:spcAft>
              <a:buNone/>
              <a:defRPr sz="2000" b="0">
                <a:solidFill>
                  <a:srgbClr val="22313F"/>
                </a:solidFill>
                <a:latin typeface="Aptos"/>
              </a:defRPr>
            </a:pPr>
            <a:r>
              <a:t>- verification and revision are part of the work</a:t>
            </a:r>
          </a:p>
          <a:p>
            <a:pPr algn="l" marL="254000" indent="0">
              <a:lnSpc>
                <a:spcPct val="108000"/>
              </a:lnSpc>
              <a:spcBef>
                <a:spcPts val="0"/>
              </a:spcBef>
              <a:spcAft>
                <a:spcPts val="700"/>
              </a:spcAft>
              <a:buNone/>
              <a:defRPr sz="2000" b="0">
                <a:solidFill>
                  <a:srgbClr val="22313F"/>
                </a:solidFill>
                <a:latin typeface="Aptos"/>
              </a:defRPr>
            </a:pPr>
            <a:r>
              <a:t>- learning is an intended outcome</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Not every task should use the same AI pattern.</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Learning mode</a:t>
            </a:r>
          </a:p>
          <a:p>
            <a:pPr algn="l" marL="457200" indent="0">
              <a:lnSpc>
                <a:spcPct val="108000"/>
              </a:lnSpc>
              <a:spcBef>
                <a:spcPts val="0"/>
              </a:spcBef>
              <a:spcAft>
                <a:spcPts val="700"/>
              </a:spcAft>
              <a:buNone/>
              <a:defRPr sz="2000" b="0">
                <a:solidFill>
                  <a:srgbClr val="22313F"/>
                </a:solidFill>
                <a:latin typeface="Aptos"/>
              </a:defRPr>
            </a:pPr>
            <a:r>
              <a:t>- explanation-first</a:t>
            </a:r>
          </a:p>
          <a:p>
            <a:pPr algn="l" marL="457200" indent="0">
              <a:lnSpc>
                <a:spcPct val="108000"/>
              </a:lnSpc>
              <a:spcBef>
                <a:spcPts val="0"/>
              </a:spcBef>
              <a:spcAft>
                <a:spcPts val="700"/>
              </a:spcAft>
              <a:buNone/>
              <a:defRPr sz="2000" b="0">
                <a:solidFill>
                  <a:srgbClr val="22313F"/>
                </a:solidFill>
                <a:latin typeface="Aptos"/>
              </a:defRPr>
            </a:pPr>
            <a:r>
              <a:t>- slower, but capability-building</a:t>
            </a:r>
          </a:p>
          <a:p>
            <a:pPr algn="l" marL="457200" indent="0">
              <a:lnSpc>
                <a:spcPct val="108000"/>
              </a:lnSpc>
              <a:spcBef>
                <a:spcPts val="0"/>
              </a:spcBef>
              <a:spcAft>
                <a:spcPts val="700"/>
              </a:spcAft>
              <a:buNone/>
              <a:defRPr sz="2000" b="0">
                <a:solidFill>
                  <a:srgbClr val="22313F"/>
                </a:solidFill>
                <a:latin typeface="Aptos"/>
              </a:defRPr>
            </a:pPr>
            <a:r>
              <a:t>- better for unfamiliar or fragile work</a:t>
            </a:r>
          </a:p>
          <a:p>
            <a:pPr algn="l" marL="0" indent="0">
              <a:lnSpc>
                <a:spcPct val="108000"/>
              </a:lnSpc>
              <a:spcBef>
                <a:spcPts val="0"/>
              </a:spcBef>
              <a:spcAft>
                <a:spcPts val="1000"/>
              </a:spcAft>
              <a:buNone/>
              <a:defRPr sz="2000" b="0">
                <a:solidFill>
                  <a:srgbClr val="22313F"/>
                </a:solidFill>
                <a:latin typeface="Aptos"/>
              </a:defRPr>
            </a:pPr>
            <a:r>
              <a:t>Delivery mode</a:t>
            </a:r>
          </a:p>
          <a:p>
            <a:pPr algn="l" marL="457200" indent="0">
              <a:lnSpc>
                <a:spcPct val="108000"/>
              </a:lnSpc>
              <a:spcBef>
                <a:spcPts val="0"/>
              </a:spcBef>
              <a:spcAft>
                <a:spcPts val="700"/>
              </a:spcAft>
              <a:buNone/>
              <a:defRPr sz="2000" b="0">
                <a:solidFill>
                  <a:srgbClr val="22313F"/>
                </a:solidFill>
                <a:latin typeface="Aptos"/>
              </a:defRPr>
            </a:pPr>
            <a:r>
              <a:t>- bounded acceleration</a:t>
            </a:r>
          </a:p>
          <a:p>
            <a:pPr algn="l" marL="457200" indent="0">
              <a:lnSpc>
                <a:spcPct val="108000"/>
              </a:lnSpc>
              <a:spcBef>
                <a:spcPts val="0"/>
              </a:spcBef>
              <a:spcAft>
                <a:spcPts val="700"/>
              </a:spcAft>
              <a:buNone/>
              <a:defRPr sz="2000" b="0">
                <a:solidFill>
                  <a:srgbClr val="22313F"/>
                </a:solidFill>
                <a:latin typeface="Aptos"/>
              </a:defRPr>
            </a:pPr>
            <a:r>
              <a:t>- stronger verification</a:t>
            </a:r>
          </a:p>
          <a:p>
            <a:pPr algn="l" marL="457200" indent="0">
              <a:lnSpc>
                <a:spcPct val="108000"/>
              </a:lnSpc>
              <a:spcBef>
                <a:spcPts val="0"/>
              </a:spcBef>
              <a:spcAft>
                <a:spcPts val="700"/>
              </a:spcAft>
              <a:buNone/>
              <a:defRPr sz="2000" b="0">
                <a:solidFill>
                  <a:srgbClr val="22313F"/>
                </a:solidFill>
                <a:latin typeface="Aptos"/>
              </a:defRPr>
            </a:pPr>
            <a:r>
              <a:t>- better for familiar and reviewable work</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Good AI usage depends on more than job title.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Safe usage changes with:</a:t>
            </a:r>
          </a:p>
          <a:p>
            <a:pPr algn="l" marL="457200" indent="0">
              <a:lnSpc>
                <a:spcPct val="108000"/>
              </a:lnSpc>
              <a:spcBef>
                <a:spcPts val="0"/>
              </a:spcBef>
              <a:spcAft>
                <a:spcPts val="700"/>
              </a:spcAft>
              <a:buNone/>
              <a:defRPr sz="2000" b="0">
                <a:solidFill>
                  <a:srgbClr val="22313F"/>
                </a:solidFill>
                <a:latin typeface="Aptos"/>
              </a:defRPr>
            </a:pPr>
            <a:r>
              <a:t>- judgment and verification ability</a:t>
            </a:r>
          </a:p>
          <a:p>
            <a:pPr algn="l" marL="457200" indent="0">
              <a:lnSpc>
                <a:spcPct val="108000"/>
              </a:lnSpc>
              <a:spcBef>
                <a:spcPts val="0"/>
              </a:spcBef>
              <a:spcAft>
                <a:spcPts val="700"/>
              </a:spcAft>
              <a:buNone/>
              <a:defRPr sz="2000" b="0">
                <a:solidFill>
                  <a:srgbClr val="22313F"/>
                </a:solidFill>
                <a:latin typeface="Aptos"/>
              </a:defRPr>
            </a:pPr>
            <a:r>
              <a:t>- task familiarity</a:t>
            </a:r>
          </a:p>
          <a:p>
            <a:pPr algn="l" marL="457200" indent="0">
              <a:lnSpc>
                <a:spcPct val="108000"/>
              </a:lnSpc>
              <a:spcBef>
                <a:spcPts val="0"/>
              </a:spcBef>
              <a:spcAft>
                <a:spcPts val="700"/>
              </a:spcAft>
              <a:buNone/>
              <a:defRPr sz="2000" b="0">
                <a:solidFill>
                  <a:srgbClr val="22313F"/>
                </a:solidFill>
                <a:latin typeface="Aptos"/>
              </a:defRPr>
            </a:pPr>
            <a:r>
              <a:t>- task risk</a:t>
            </a:r>
          </a:p>
          <a:p>
            <a:pPr algn="l" marL="457200" indent="0">
              <a:lnSpc>
                <a:spcPct val="108000"/>
              </a:lnSpc>
              <a:spcBef>
                <a:spcPts val="0"/>
              </a:spcBef>
              <a:spcAft>
                <a:spcPts val="700"/>
              </a:spcAft>
              <a:buNone/>
              <a:defRPr sz="2000" b="0">
                <a:solidFill>
                  <a:srgbClr val="22313F"/>
                </a:solidFill>
                <a:latin typeface="Aptos"/>
              </a:defRPr>
            </a:pPr>
            <a:r>
              <a:t>- verification difficulty</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Code, tests, requirements, architecture, and incident reasoning do not verify the same way.</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some outputs can be tested quickly</a:t>
            </a:r>
          </a:p>
          <a:p>
            <a:pPr algn="l" marL="254000" indent="0">
              <a:lnSpc>
                <a:spcPct val="108000"/>
              </a:lnSpc>
              <a:spcBef>
                <a:spcPts val="0"/>
              </a:spcBef>
              <a:spcAft>
                <a:spcPts val="700"/>
              </a:spcAft>
              <a:buNone/>
              <a:defRPr sz="2000" b="0">
                <a:solidFill>
                  <a:srgbClr val="22313F"/>
                </a:solidFill>
                <a:latin typeface="Aptos"/>
              </a:defRPr>
            </a:pPr>
            <a:r>
              <a:t>- some outputs sound good but are hard to evaluate</a:t>
            </a:r>
          </a:p>
          <a:p>
            <a:pPr algn="l" marL="254000" indent="0">
              <a:lnSpc>
                <a:spcPct val="108000"/>
              </a:lnSpc>
              <a:spcBef>
                <a:spcPts val="0"/>
              </a:spcBef>
              <a:spcAft>
                <a:spcPts val="700"/>
              </a:spcAft>
              <a:buNone/>
              <a:defRPr sz="2000" b="0">
                <a:solidFill>
                  <a:srgbClr val="22313F"/>
                </a:solidFill>
                <a:latin typeface="Aptos"/>
              </a:defRPr>
            </a:pPr>
            <a:r>
              <a:t>- low-observability work needs stronger caution</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AI helps most when the work is bounded and the feedback loop is real.</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Good starter examples:</a:t>
            </a:r>
          </a:p>
          <a:p>
            <a:pPr algn="l" marL="457200" indent="0">
              <a:lnSpc>
                <a:spcPct val="108000"/>
              </a:lnSpc>
              <a:spcBef>
                <a:spcPts val="0"/>
              </a:spcBef>
              <a:spcAft>
                <a:spcPts val="700"/>
              </a:spcAft>
              <a:buNone/>
              <a:defRPr sz="2000" b="0">
                <a:solidFill>
                  <a:srgbClr val="22313F"/>
                </a:solidFill>
                <a:latin typeface="Aptos"/>
              </a:defRPr>
            </a:pPr>
            <a:r>
              <a:t>- bounded debugging</a:t>
            </a:r>
          </a:p>
          <a:p>
            <a:pPr algn="l" marL="457200" indent="0">
              <a:lnSpc>
                <a:spcPct val="108000"/>
              </a:lnSpc>
              <a:spcBef>
                <a:spcPts val="0"/>
              </a:spcBef>
              <a:spcAft>
                <a:spcPts val="700"/>
              </a:spcAft>
              <a:buNone/>
              <a:defRPr sz="2000" b="0">
                <a:solidFill>
                  <a:srgbClr val="22313F"/>
                </a:solidFill>
                <a:latin typeface="Aptos"/>
              </a:defRPr>
            </a:pPr>
            <a:r>
              <a:t>- code explanation</a:t>
            </a:r>
          </a:p>
          <a:p>
            <a:pPr algn="l" marL="457200" indent="0">
              <a:lnSpc>
                <a:spcPct val="108000"/>
              </a:lnSpc>
              <a:spcBef>
                <a:spcPts val="0"/>
              </a:spcBef>
              <a:spcAft>
                <a:spcPts val="700"/>
              </a:spcAft>
              <a:buNone/>
              <a:defRPr sz="2000" b="0">
                <a:solidFill>
                  <a:srgbClr val="22313F"/>
                </a:solidFill>
                <a:latin typeface="Aptos"/>
              </a:defRPr>
            </a:pPr>
            <a:r>
              <a:t>- localized unit test drafting</a:t>
            </a:r>
          </a:p>
          <a:p>
            <a:pPr algn="l" marL="0" indent="0">
              <a:lnSpc>
                <a:spcPct val="108000"/>
              </a:lnSpc>
              <a:spcBef>
                <a:spcPts val="0"/>
              </a:spcBef>
              <a:spcAft>
                <a:spcPts val="1000"/>
              </a:spcAft>
              <a:buNone/>
              <a:defRPr sz="2000" b="0">
                <a:solidFill>
                  <a:srgbClr val="22313F"/>
                </a:solidFill>
                <a:latin typeface="Aptos"/>
              </a:defRPr>
            </a:pPr>
            <a:r>
              <a:t>Use extra caution on:</a:t>
            </a:r>
          </a:p>
          <a:p>
            <a:pPr algn="l" marL="457200" indent="0">
              <a:lnSpc>
                <a:spcPct val="108000"/>
              </a:lnSpc>
              <a:spcBef>
                <a:spcPts val="0"/>
              </a:spcBef>
              <a:spcAft>
                <a:spcPts val="700"/>
              </a:spcAft>
              <a:buNone/>
              <a:defRPr sz="2000" b="0">
                <a:solidFill>
                  <a:srgbClr val="22313F"/>
                </a:solidFill>
                <a:latin typeface="Aptos"/>
              </a:defRPr>
            </a:pPr>
            <a:r>
              <a:t>- unfamiliar frameworks</a:t>
            </a:r>
          </a:p>
          <a:p>
            <a:pPr algn="l" marL="457200" indent="0">
              <a:lnSpc>
                <a:spcPct val="108000"/>
              </a:lnSpc>
              <a:spcBef>
                <a:spcPts val="0"/>
              </a:spcBef>
              <a:spcAft>
                <a:spcPts val="700"/>
              </a:spcAft>
              <a:buNone/>
              <a:defRPr sz="2000" b="0">
                <a:solidFill>
                  <a:srgbClr val="22313F"/>
                </a:solidFill>
                <a:latin typeface="Aptos"/>
              </a:defRPr>
            </a:pPr>
            <a:r>
              <a:t>- architecture-heavy changes</a:t>
            </a:r>
          </a:p>
          <a:p>
            <a:pPr algn="l" marL="457200" indent="0">
              <a:lnSpc>
                <a:spcPct val="108000"/>
              </a:lnSpc>
              <a:spcBef>
                <a:spcPts val="0"/>
              </a:spcBef>
              <a:spcAft>
                <a:spcPts val="700"/>
              </a:spcAft>
              <a:buNone/>
              <a:defRPr sz="2000" b="0">
                <a:solidFill>
                  <a:srgbClr val="22313F"/>
                </a:solidFill>
                <a:latin typeface="Aptos"/>
              </a:defRPr>
            </a:pPr>
            <a:r>
              <a:t>- production-critical logic</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Multiple roles can use AI, but not in the same way.</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QA or SDET: failure triage and test idea generation</a:t>
            </a:r>
          </a:p>
          <a:p>
            <a:pPr algn="l" marL="254000" indent="0">
              <a:lnSpc>
                <a:spcPct val="108000"/>
              </a:lnSpc>
              <a:spcBef>
                <a:spcPts val="0"/>
              </a:spcBef>
              <a:spcAft>
                <a:spcPts val="700"/>
              </a:spcAft>
              <a:buNone/>
              <a:defRPr sz="2000" b="0">
                <a:solidFill>
                  <a:srgbClr val="22313F"/>
                </a:solidFill>
                <a:latin typeface="Aptos"/>
              </a:defRPr>
            </a:pPr>
            <a:r>
              <a:t>- architects: option comparison and question generation</a:t>
            </a:r>
          </a:p>
          <a:p>
            <a:pPr algn="l" marL="254000" indent="0">
              <a:lnSpc>
                <a:spcPct val="108000"/>
              </a:lnSpc>
              <a:spcBef>
                <a:spcPts val="0"/>
              </a:spcBef>
              <a:spcAft>
                <a:spcPts val="700"/>
              </a:spcAft>
              <a:buNone/>
              <a:defRPr sz="2000" b="0">
                <a:solidFill>
                  <a:srgbClr val="22313F"/>
                </a:solidFill>
                <a:latin typeface="Aptos"/>
              </a:defRPr>
            </a:pPr>
            <a:r>
              <a:t>- product: backlog clarification and ambiguity detection</a:t>
            </a:r>
          </a:p>
          <a:p>
            <a:pPr algn="l" marL="254000" indent="0">
              <a:lnSpc>
                <a:spcPct val="108000"/>
              </a:lnSpc>
              <a:spcBef>
                <a:spcPts val="0"/>
              </a:spcBef>
              <a:spcAft>
                <a:spcPts val="700"/>
              </a:spcAft>
              <a:buNone/>
              <a:defRPr sz="2000" b="0">
                <a:solidFill>
                  <a:srgbClr val="22313F"/>
                </a:solidFill>
                <a:latin typeface="Aptos"/>
              </a:defRPr>
            </a:pPr>
            <a:r>
              <a:t>- every role has its own verification traps</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Most bad AI usage is easy to recognize once it has a name.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asking for the full answer before understanding the problem</a:t>
            </a:r>
          </a:p>
          <a:p>
            <a:pPr algn="l" marL="254000" indent="0">
              <a:lnSpc>
                <a:spcPct val="108000"/>
              </a:lnSpc>
              <a:spcBef>
                <a:spcPts val="0"/>
              </a:spcBef>
              <a:spcAft>
                <a:spcPts val="700"/>
              </a:spcAft>
              <a:buNone/>
              <a:defRPr sz="2000" b="0">
                <a:solidFill>
                  <a:srgbClr val="22313F"/>
                </a:solidFill>
                <a:latin typeface="Aptos"/>
              </a:defRPr>
            </a:pPr>
            <a:r>
              <a:t>- trusting fluent output as proof</a:t>
            </a:r>
          </a:p>
          <a:p>
            <a:pPr algn="l" marL="254000" indent="0">
              <a:lnSpc>
                <a:spcPct val="108000"/>
              </a:lnSpc>
              <a:spcBef>
                <a:spcPts val="0"/>
              </a:spcBef>
              <a:spcAft>
                <a:spcPts val="700"/>
              </a:spcAft>
              <a:buNone/>
              <a:defRPr sz="2000" b="0">
                <a:solidFill>
                  <a:srgbClr val="22313F"/>
                </a:solidFill>
                <a:latin typeface="Aptos"/>
              </a:defRPr>
            </a:pPr>
            <a:r>
              <a:t>- using AI on hard-to-verify work without stronger review</a:t>
            </a:r>
          </a:p>
          <a:p>
            <a:pPr algn="l" marL="254000" indent="0">
              <a:lnSpc>
                <a:spcPct val="108000"/>
              </a:lnSpc>
              <a:spcBef>
                <a:spcPts val="0"/>
              </a:spcBef>
              <a:spcAft>
                <a:spcPts val="700"/>
              </a:spcAft>
              <a:buNone/>
              <a:defRPr sz="2000" b="0">
                <a:solidFill>
                  <a:srgbClr val="22313F"/>
                </a:solidFill>
                <a:latin typeface="Aptos"/>
              </a:defRPr>
            </a:pPr>
            <a:r>
              <a:t>- copying high-leverage habits without matching oversight ability</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We learn good usage by practicing decisions, not just hearing advice.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In the exercises:</a:t>
            </a:r>
          </a:p>
          <a:p>
            <a:pPr algn="l" marL="457200" indent="0">
              <a:lnSpc>
                <a:spcPct val="108000"/>
              </a:lnSpc>
              <a:spcBef>
                <a:spcPts val="0"/>
              </a:spcBef>
              <a:spcAft>
                <a:spcPts val="700"/>
              </a:spcAft>
              <a:buNone/>
              <a:defRPr sz="2000" b="0">
                <a:solidFill>
                  <a:srgbClr val="22313F"/>
                </a:solidFill>
                <a:latin typeface="Aptos"/>
              </a:defRPr>
            </a:pPr>
            <a:r>
              <a:t>- decide mode first</a:t>
            </a:r>
          </a:p>
          <a:p>
            <a:pPr algn="l" marL="457200" indent="0">
              <a:lnSpc>
                <a:spcPct val="108000"/>
              </a:lnSpc>
              <a:spcBef>
                <a:spcPts val="0"/>
              </a:spcBef>
              <a:spcAft>
                <a:spcPts val="700"/>
              </a:spcAft>
              <a:buNone/>
              <a:defRPr sz="2000" b="0">
                <a:solidFill>
                  <a:srgbClr val="22313F"/>
                </a:solidFill>
                <a:latin typeface="Aptos"/>
              </a:defRPr>
            </a:pPr>
            <a:r>
              <a:t>- decide verification path next</a:t>
            </a:r>
          </a:p>
          <a:p>
            <a:pPr algn="l" marL="457200" indent="0">
              <a:lnSpc>
                <a:spcPct val="108000"/>
              </a:lnSpc>
              <a:spcBef>
                <a:spcPts val="0"/>
              </a:spcBef>
              <a:spcAft>
                <a:spcPts val="700"/>
              </a:spcAft>
              <a:buNone/>
              <a:defRPr sz="2000" b="0">
                <a:solidFill>
                  <a:srgbClr val="22313F"/>
                </a:solidFill>
                <a:latin typeface="Aptos"/>
              </a:defRPr>
            </a:pPr>
            <a:r>
              <a:t>- compare choices by role and task</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Good enablement changes habits in real work.</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Each participant should leave with:</a:t>
            </a:r>
          </a:p>
          <a:p>
            <a:pPr algn="l" marL="457200" indent="0">
              <a:lnSpc>
                <a:spcPct val="108000"/>
              </a:lnSpc>
              <a:spcBef>
                <a:spcPts val="0"/>
              </a:spcBef>
              <a:spcAft>
                <a:spcPts val="700"/>
              </a:spcAft>
              <a:buNone/>
              <a:defRPr sz="2000" b="0">
                <a:solidFill>
                  <a:srgbClr val="22313F"/>
                </a:solidFill>
                <a:latin typeface="Aptos"/>
              </a:defRPr>
            </a:pPr>
            <a:r>
              <a:t>- one workflow to pilot</a:t>
            </a:r>
          </a:p>
          <a:p>
            <a:pPr algn="l" marL="457200" indent="0">
              <a:lnSpc>
                <a:spcPct val="108000"/>
              </a:lnSpc>
              <a:spcBef>
                <a:spcPts val="0"/>
              </a:spcBef>
              <a:spcAft>
                <a:spcPts val="700"/>
              </a:spcAft>
              <a:buNone/>
              <a:defRPr sz="2000" b="0">
                <a:solidFill>
                  <a:srgbClr val="22313F"/>
                </a:solidFill>
                <a:latin typeface="Aptos"/>
              </a:defRPr>
            </a:pPr>
            <a:r>
              <a:t>- one anti-pattern to avoid</a:t>
            </a:r>
          </a:p>
          <a:p>
            <a:pPr algn="l" marL="457200" indent="0">
              <a:lnSpc>
                <a:spcPct val="108000"/>
              </a:lnSpc>
              <a:spcBef>
                <a:spcPts val="0"/>
              </a:spcBef>
              <a:spcAft>
                <a:spcPts val="700"/>
              </a:spcAft>
              <a:buNone/>
              <a:defRPr sz="2000" b="0">
                <a:solidFill>
                  <a:srgbClr val="22313F"/>
                </a:solidFill>
                <a:latin typeface="Aptos"/>
              </a:defRPr>
            </a:pPr>
            <a:r>
              <a:t>- one verification habit to strengthen</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The worksheet packs are the easiest next step after this session.</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start with the pack that matches your level</a:t>
            </a:r>
          </a:p>
          <a:p>
            <a:pPr algn="l" marL="254000" indent="0">
              <a:lnSpc>
                <a:spcPct val="108000"/>
              </a:lnSpc>
              <a:spcBef>
                <a:spcPts val="0"/>
              </a:spcBef>
              <a:spcAft>
                <a:spcPts val="700"/>
              </a:spcAft>
              <a:buNone/>
              <a:defRPr sz="2000" b="0">
                <a:solidFill>
                  <a:srgbClr val="22313F"/>
                </a:solidFill>
                <a:latin typeface="Aptos"/>
              </a:defRPr>
            </a:pPr>
            <a:r>
              <a:t>- use the size and complexity labels to choose a realistic scenario</a:t>
            </a:r>
          </a:p>
          <a:p>
            <a:pPr algn="l" marL="254000" indent="0">
              <a:lnSpc>
                <a:spcPct val="108000"/>
              </a:lnSpc>
              <a:spcBef>
                <a:spcPts val="0"/>
              </a:spcBef>
              <a:spcAft>
                <a:spcPts val="700"/>
              </a:spcAft>
              <a:buNone/>
              <a:defRPr sz="2000" b="0">
                <a:solidFill>
                  <a:srgbClr val="22313F"/>
                </a:solidFill>
                <a:latin typeface="Aptos"/>
              </a:defRPr>
            </a:pPr>
            <a:r>
              <a:t>- if you do not complete one yet, at least review one with a peer or lead</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The workshop is the start, not the full delivery model.</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Go deeper with:</a:t>
            </a:r>
          </a:p>
          <a:p>
            <a:pPr algn="l" marL="457200" indent="0">
              <a:lnSpc>
                <a:spcPct val="108000"/>
              </a:lnSpc>
              <a:spcBef>
                <a:spcPts val="0"/>
              </a:spcBef>
              <a:spcAft>
                <a:spcPts val="700"/>
              </a:spcAft>
              <a:buNone/>
              <a:defRPr sz="2000" b="0">
                <a:solidFill>
                  <a:srgbClr val="22313F"/>
                </a:solidFill>
                <a:latin typeface="Aptos"/>
              </a:defRPr>
            </a:pPr>
            <a:r>
              <a:t>- practitioner playbook</a:t>
            </a:r>
          </a:p>
          <a:p>
            <a:pPr algn="l" marL="457200" indent="0">
              <a:lnSpc>
                <a:spcPct val="108000"/>
              </a:lnSpc>
              <a:spcBef>
                <a:spcPts val="0"/>
              </a:spcBef>
              <a:spcAft>
                <a:spcPts val="700"/>
              </a:spcAft>
              <a:buNone/>
              <a:defRPr sz="2000" b="0">
                <a:solidFill>
                  <a:srgbClr val="22313F"/>
                </a:solidFill>
                <a:latin typeface="Aptos"/>
              </a:defRPr>
            </a:pPr>
            <a:r>
              <a:t>- verification standards</a:t>
            </a:r>
          </a:p>
          <a:p>
            <a:pPr algn="l" marL="457200" indent="0">
              <a:lnSpc>
                <a:spcPct val="108000"/>
              </a:lnSpc>
              <a:spcBef>
                <a:spcPts val="0"/>
              </a:spcBef>
              <a:spcAft>
                <a:spcPts val="700"/>
              </a:spcAft>
              <a:buNone/>
              <a:defRPr sz="2000" b="0">
                <a:solidFill>
                  <a:srgbClr val="22313F"/>
                </a:solidFill>
                <a:latin typeface="Aptos"/>
              </a:defRPr>
            </a:pPr>
            <a:r>
              <a:t>- capability model</a:t>
            </a:r>
          </a:p>
          <a:p>
            <a:pPr algn="l" marL="457200" indent="0">
              <a:lnSpc>
                <a:spcPct val="108000"/>
              </a:lnSpc>
              <a:spcBef>
                <a:spcPts val="0"/>
              </a:spcBef>
              <a:spcAft>
                <a:spcPts val="700"/>
              </a:spcAft>
              <a:buNone/>
              <a:defRPr sz="2000" b="0">
                <a:solidFill>
                  <a:srgbClr val="22313F"/>
                </a:solidFill>
                <a:latin typeface="Aptos"/>
              </a:defRPr>
            </a:pPr>
            <a:r>
              <a:t>- worksheet pack</a:t>
            </a:r>
          </a:p>
          <a:p>
            <a:pPr algn="l" marL="457200" indent="0">
              <a:lnSpc>
                <a:spcPct val="108000"/>
              </a:lnSpc>
              <a:spcBef>
                <a:spcPts val="0"/>
              </a:spcBef>
              <a:spcAft>
                <a:spcPts val="700"/>
              </a:spcAft>
              <a:buNone/>
              <a:defRPr sz="2000" b="0">
                <a:solidFill>
                  <a:srgbClr val="22313F"/>
                </a:solidFill>
                <a:latin typeface="Aptos"/>
              </a:defRPr>
            </a:pPr>
            <a:r>
              <a:t>- exercise library</a:t>
            </a:r>
          </a:p>
          <a:p>
            <a:pPr algn="l" marL="457200" indent="0">
              <a:lnSpc>
                <a:spcPct val="108000"/>
              </a:lnSpc>
              <a:spcBef>
                <a:spcPts val="0"/>
              </a:spcBef>
              <a:spcAft>
                <a:spcPts val="700"/>
              </a:spcAft>
              <a:buNone/>
              <a:defRPr sz="2000" b="0">
                <a:solidFill>
                  <a:srgbClr val="22313F"/>
                </a:solidFill>
                <a:latin typeface="Aptos"/>
              </a:defRPr>
            </a:pPr>
            <a:r>
              <a:t>- follow-up role-specific guidance</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