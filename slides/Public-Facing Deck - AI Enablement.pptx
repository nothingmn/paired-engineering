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Open with clarity, not jargon. This deck should feel like an entry point to the project, not a compressed internal briefing.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core public problem statement. The goal is not to claim every rollout is bad. The goal is to say the operating design is often shallower than the tooling rollout.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carries a lot of weight. It gives the audience a way out of the tired polarization that dominates most AI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simple. The public-facing audience does not need the full internal model here. They need a clear, memorable stance.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where the deck starts to separate itself from generic productivity discourse. Speed matters, but only inside a broader definition of healthy software delivery.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Keep this evidence-aware and grounded. The deck should not overclaim causality. It should clearly name the risk and explain why it matters to long-term capability formation.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is the project summary. It shows that the work is an operating model, not just a point of view.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an expectation-setting slide. It helps the public audience place the work in the right category and avoid easy misreadings.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slide should feel inclusive without becoming vague. The work is grounded in software delivery, but the scale of adoption can vary.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This is the main public takeaway. It gives the audience a practical next step without forcing them into the full framework immediately.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note</a:t>
            </a:r>
          </a:p>
          <a:p>
            <a:r>
              <a:t>Close by routing people into the larger body of work in plain public language. This slide should feel like practical orientation, not like instructions to the deck author.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83247"/>
        </a:solidFill>
        <a:effectLst/>
      </p:bgPr>
    </p:bg>
    <p:spTree>
      <p:nvGrpSpPr>
        <p:cNvPr id="1" name=""/>
        <p:cNvGrpSpPr/>
        <p:nvPr/>
      </p:nvGrpSpPr>
      <p:grpSpPr/>
      <p:sp>
        <p:nvSpPr>
          <p:cNvPr id="2" name="Title 1"/>
          <p:cNvSpPr>
            <a:spLocks noGrp="1"/>
          </p:cNvSpPr>
          <p:nvPr>
            <p:ph type="ctrTitle"/>
          </p:nvPr>
        </p:nvSpPr>
        <p:spPr>
          <a:xfrm>
            <a:off x="1051560" y="1051560"/>
            <a:ext cx="9875520" cy="1234440"/>
          </a:xfrm>
        </p:spPr>
        <p:txBody>
          <a:bodyPr/>
          <a:lstStyle/>
          <a:p>
            <a:pPr algn="l">
              <a:spcAft>
                <a:spcPts val="500"/>
              </a:spcAft>
            </a:pPr>
            <a:r>
              <a:rPr sz="3200" b="1">
                <a:solidFill>
                  <a:srgbClr val="F8FAFC"/>
                </a:solidFill>
                <a:latin typeface="Aptos Display"/>
              </a:rPr>
              <a:t>AI Enablement</a:t>
            </a:r>
          </a:p>
        </p:txBody>
      </p:sp>
      <p:sp>
        <p:nvSpPr>
          <p:cNvPr id="3" name="Subtitle 2"/>
          <p:cNvSpPr>
            <a:spLocks noGrp="1"/>
          </p:cNvSpPr>
          <p:nvPr>
            <p:ph type="subTitle" idx="1"/>
          </p:nvPr>
        </p:nvSpPr>
        <p:spPr>
          <a:xfrm>
            <a:off x="1078992" y="2331720"/>
            <a:ext cx="7955279" cy="1097280"/>
          </a:xfrm>
        </p:spPr>
        <p:txBody>
          <a:bodyPr/>
          <a:lstStyle/>
          <a:p>
            <a:pPr algn="l">
              <a:spcAft>
                <a:spcPts val="500"/>
              </a:spcAft>
            </a:pPr>
            <a:r>
              <a:rPr sz="2000" b="0">
                <a:solidFill>
                  <a:srgbClr val="F8FAFC"/>
                </a:solidFill>
                <a:latin typeface="Aptos"/>
              </a:rPr>
              <a:t>A practical operating model for AI enablement in software delivery</a:t>
            </a:r>
          </a:p>
        </p:txBody>
      </p:sp>
      <p:sp>
        <p:nvSpPr>
          <p:cNvPr id="4" name="Rectangle 3"/>
          <p:cNvSpPr/>
          <p:nvPr/>
        </p:nvSpPr>
        <p:spPr>
          <a:xfrm>
            <a:off x="0" y="0"/>
            <a:ext cx="12191695" cy="201168"/>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960120"/>
            <a:ext cx="164592" cy="2240280"/>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5897880"/>
            <a:ext cx="2743200" cy="292608"/>
          </a:xfrm>
          <a:prstGeom prst="rect">
            <a:avLst/>
          </a:prstGeom>
          <a:noFill/>
        </p:spPr>
        <p:txBody>
          <a:bodyPr wrap="square" anchor="ctr">
            <a:spAutoFit/>
          </a:bodyPr>
          <a:lstStyle/>
          <a:p>
            <a:pPr algn="l">
              <a:spcAft>
                <a:spcPts val="500"/>
              </a:spcAft>
            </a:pPr>
            <a:r>
              <a:rPr sz="1200" b="1">
                <a:solidFill>
                  <a:srgbClr val="D79A46"/>
                </a:solidFill>
                <a:latin typeface="Aptos"/>
              </a:rPr>
              <a:t>Paired Engineering</a:t>
            </a:r>
          </a:p>
        </p:txBody>
      </p:sp>
      <p:sp>
        <p:nvSpPr>
          <p:cNvPr id="7" name="TextBox 6"/>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Most organizations are rolling out tools faster than they are designing good working practices.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access is outpacing enablement</a:t>
            </a:r>
          </a:p>
          <a:p>
            <a:pPr algn="l" marL="254000" indent="0">
              <a:lnSpc>
                <a:spcPct val="108000"/>
              </a:lnSpc>
              <a:spcBef>
                <a:spcPts val="0"/>
              </a:spcBef>
              <a:spcAft>
                <a:spcPts val="700"/>
              </a:spcAft>
              <a:buNone/>
              <a:defRPr sz="2000" b="0">
                <a:solidFill>
                  <a:srgbClr val="22313F"/>
                </a:solidFill>
                <a:latin typeface="Aptos"/>
              </a:defRPr>
            </a:pPr>
            <a:r>
              <a:t>- productivity language often dominates the conversation</a:t>
            </a:r>
          </a:p>
          <a:p>
            <a:pPr algn="l" marL="254000" indent="0">
              <a:lnSpc>
                <a:spcPct val="108000"/>
              </a:lnSpc>
              <a:spcBef>
                <a:spcPts val="0"/>
              </a:spcBef>
              <a:spcAft>
                <a:spcPts val="700"/>
              </a:spcAft>
              <a:buNone/>
              <a:defRPr sz="2000" b="0">
                <a:solidFill>
                  <a:srgbClr val="22313F"/>
                </a:solidFill>
                <a:latin typeface="Aptos"/>
              </a:defRPr>
            </a:pPr>
            <a:r>
              <a:t>- learning, verification, and workflow quality get underdesigned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is not ban AI versus let the model do the work.</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rejecting AI entirely is too blunt</a:t>
            </a:r>
          </a:p>
          <a:p>
            <a:pPr algn="l" marL="254000" indent="0">
              <a:lnSpc>
                <a:spcPct val="108000"/>
              </a:lnSpc>
              <a:spcBef>
                <a:spcPts val="0"/>
              </a:spcBef>
              <a:spcAft>
                <a:spcPts val="700"/>
              </a:spcAft>
              <a:buNone/>
              <a:defRPr sz="2000" b="0">
                <a:solidFill>
                  <a:srgbClr val="22313F"/>
                </a:solidFill>
                <a:latin typeface="Aptos"/>
              </a:defRPr>
            </a:pPr>
            <a:r>
              <a:t>- blind delegation is too shallow</a:t>
            </a:r>
          </a:p>
          <a:p>
            <a:pPr algn="l" marL="254000" indent="0">
              <a:lnSpc>
                <a:spcPct val="108000"/>
              </a:lnSpc>
              <a:spcBef>
                <a:spcPts val="0"/>
              </a:spcBef>
              <a:spcAft>
                <a:spcPts val="700"/>
              </a:spcAft>
              <a:buNone/>
              <a:defRPr sz="2000" b="0">
                <a:solidFill>
                  <a:srgbClr val="22313F"/>
                </a:solidFill>
                <a:latin typeface="Aptos"/>
              </a:defRPr>
            </a:pPr>
            <a:r>
              <a:t>- paired engineering is the more durable path</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AI to think with, compare with, and learn with, not just to draft faster.</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ask questions</a:t>
            </a:r>
          </a:p>
          <a:p>
            <a:pPr algn="l" marL="254000" indent="0">
              <a:lnSpc>
                <a:spcPct val="108000"/>
              </a:lnSpc>
              <a:spcBef>
                <a:spcPts val="0"/>
              </a:spcBef>
              <a:spcAft>
                <a:spcPts val="700"/>
              </a:spcAft>
              <a:buNone/>
              <a:defRPr sz="2000" b="0">
                <a:solidFill>
                  <a:srgbClr val="22313F"/>
                </a:solidFill>
                <a:latin typeface="Aptos"/>
              </a:defRPr>
            </a:pPr>
            <a:r>
              <a:t>- generate or compare options</a:t>
            </a:r>
          </a:p>
          <a:p>
            <a:pPr algn="l" marL="254000" indent="0">
              <a:lnSpc>
                <a:spcPct val="108000"/>
              </a:lnSpc>
              <a:spcBef>
                <a:spcPts val="0"/>
              </a:spcBef>
              <a:spcAft>
                <a:spcPts val="700"/>
              </a:spcAft>
              <a:buNone/>
              <a:defRPr sz="2000" b="0">
                <a:solidFill>
                  <a:srgbClr val="22313F"/>
                </a:solidFill>
                <a:latin typeface="Aptos"/>
              </a:defRPr>
            </a:pPr>
            <a:r>
              <a:t>- verify</a:t>
            </a:r>
          </a:p>
          <a:p>
            <a:pPr algn="l" marL="254000" indent="0">
              <a:lnSpc>
                <a:spcPct val="108000"/>
              </a:lnSpc>
              <a:spcBef>
                <a:spcPts val="0"/>
              </a:spcBef>
              <a:spcAft>
                <a:spcPts val="700"/>
              </a:spcAft>
              <a:buNone/>
              <a:defRPr sz="2000" b="0">
                <a:solidFill>
                  <a:srgbClr val="22313F"/>
                </a:solidFill>
                <a:latin typeface="Aptos"/>
              </a:defRPr>
            </a:pPr>
            <a:r>
              <a:t>- revise</a:t>
            </a:r>
          </a:p>
          <a:p>
            <a:pPr algn="l" marL="254000" indent="0">
              <a:lnSpc>
                <a:spcPct val="108000"/>
              </a:lnSpc>
              <a:spcBef>
                <a:spcPts val="0"/>
              </a:spcBef>
              <a:spcAft>
                <a:spcPts val="700"/>
              </a:spcAft>
              <a:buNone/>
              <a:defRPr sz="2000" b="0">
                <a:solidFill>
                  <a:srgbClr val="22313F"/>
                </a:solidFill>
                <a:latin typeface="Aptos"/>
              </a:defRPr>
            </a:pPr>
            <a:r>
              <a:t>- learn</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Speed is not the only outcome that matters.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verification matters</a:t>
            </a:r>
          </a:p>
          <a:p>
            <a:pPr algn="l" marL="254000" indent="0">
              <a:lnSpc>
                <a:spcPct val="108000"/>
              </a:lnSpc>
              <a:spcBef>
                <a:spcPts val="0"/>
              </a:spcBef>
              <a:spcAft>
                <a:spcPts val="700"/>
              </a:spcAft>
              <a:buNone/>
              <a:defRPr sz="2000" b="0">
                <a:solidFill>
                  <a:srgbClr val="22313F"/>
                </a:solidFill>
                <a:latin typeface="Aptos"/>
              </a:defRPr>
            </a:pPr>
            <a:r>
              <a:t>- review burden matters</a:t>
            </a:r>
          </a:p>
          <a:p>
            <a:pPr algn="l" marL="254000" indent="0">
              <a:lnSpc>
                <a:spcPct val="108000"/>
              </a:lnSpc>
              <a:spcBef>
                <a:spcPts val="0"/>
              </a:spcBef>
              <a:spcAft>
                <a:spcPts val="700"/>
              </a:spcAft>
              <a:buNone/>
              <a:defRPr sz="2000" b="0">
                <a:solidFill>
                  <a:srgbClr val="22313F"/>
                </a:solidFill>
                <a:latin typeface="Aptos"/>
              </a:defRPr>
            </a:pPr>
            <a:r>
              <a:t>- capability growth matters</a:t>
            </a:r>
          </a:p>
          <a:p>
            <a:pPr algn="l" marL="254000" indent="0">
              <a:lnSpc>
                <a:spcPct val="108000"/>
              </a:lnSpc>
              <a:spcBef>
                <a:spcPts val="0"/>
              </a:spcBef>
              <a:spcAft>
                <a:spcPts val="700"/>
              </a:spcAft>
              <a:buNone/>
              <a:defRPr sz="2000" b="0">
                <a:solidFill>
                  <a:srgbClr val="22313F"/>
                </a:solidFill>
                <a:latin typeface="Aptos"/>
              </a:defRPr>
            </a:pPr>
            <a:r>
              <a:t>- apprenticeship and onboarding still matter</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Shallow rollout harms both ends of the ladder.</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early-career and learning-rich work is vulnerable when AI is framed only as replacement</a:t>
            </a:r>
          </a:p>
          <a:p>
            <a:pPr algn="l" marL="254000" indent="0">
              <a:lnSpc>
                <a:spcPct val="108000"/>
              </a:lnSpc>
              <a:spcBef>
                <a:spcPts val="0"/>
              </a:spcBef>
              <a:spcAft>
                <a:spcPts val="700"/>
              </a:spcAft>
              <a:buNone/>
              <a:defRPr sz="2000" b="0">
                <a:solidFill>
                  <a:srgbClr val="22313F"/>
                </a:solidFill>
                <a:latin typeface="Aptos"/>
              </a:defRPr>
            </a:pPr>
            <a:r>
              <a:t>- the same rollout can force more ambiguous cleanup and review work upward onto a smaller senior layer</a:t>
            </a:r>
          </a:p>
          <a:p>
            <a:pPr algn="l" marL="254000" indent="0">
              <a:lnSpc>
                <a:spcPct val="108000"/>
              </a:lnSpc>
              <a:spcBef>
                <a:spcPts val="0"/>
              </a:spcBef>
              <a:spcAft>
                <a:spcPts val="700"/>
              </a:spcAft>
              <a:buNone/>
              <a:defRPr sz="2000" b="0">
                <a:solidFill>
                  <a:srgbClr val="22313F"/>
                </a:solidFill>
                <a:latin typeface="Aptos"/>
              </a:defRPr>
            </a:pPr>
            <a:r>
              <a:t>- this is an enablement-design problem, not just a hiring-market complaint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AI enablement needs more than a tool list.</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0" indent="0">
              <a:lnSpc>
                <a:spcPct val="108000"/>
              </a:lnSpc>
              <a:spcBef>
                <a:spcPts val="0"/>
              </a:spcBef>
              <a:spcAft>
                <a:spcPts val="1000"/>
              </a:spcAft>
              <a:buNone/>
              <a:defRPr sz="2000" b="0">
                <a:solidFill>
                  <a:srgbClr val="22313F"/>
                </a:solidFill>
                <a:latin typeface="Aptos"/>
              </a:defRPr>
            </a:pPr>
            <a:r>
              <a:t>This body of work includes:</a:t>
            </a:r>
          </a:p>
          <a:p>
            <a:pPr algn="l" marL="457200" indent="0">
              <a:lnSpc>
                <a:spcPct val="108000"/>
              </a:lnSpc>
              <a:spcBef>
                <a:spcPts val="0"/>
              </a:spcBef>
              <a:spcAft>
                <a:spcPts val="700"/>
              </a:spcAft>
              <a:buNone/>
              <a:defRPr sz="2000" b="0">
                <a:solidFill>
                  <a:srgbClr val="22313F"/>
                </a:solidFill>
                <a:latin typeface="Aptos"/>
              </a:defRPr>
            </a:pPr>
            <a:r>
              <a:t>- rollout lifecycle</a:t>
            </a:r>
          </a:p>
          <a:p>
            <a:pPr algn="l" marL="457200" indent="0">
              <a:lnSpc>
                <a:spcPct val="108000"/>
              </a:lnSpc>
              <a:spcBef>
                <a:spcPts val="0"/>
              </a:spcBef>
              <a:spcAft>
                <a:spcPts val="700"/>
              </a:spcAft>
              <a:buNone/>
              <a:defRPr sz="2000" b="0">
                <a:solidFill>
                  <a:srgbClr val="22313F"/>
                </a:solidFill>
                <a:latin typeface="Aptos"/>
              </a:defRPr>
            </a:pPr>
            <a:r>
              <a:t>- oversight-readiness model</a:t>
            </a:r>
          </a:p>
          <a:p>
            <a:pPr algn="l" marL="457200" indent="0">
              <a:lnSpc>
                <a:spcPct val="108000"/>
              </a:lnSpc>
              <a:spcBef>
                <a:spcPts val="0"/>
              </a:spcBef>
              <a:spcAft>
                <a:spcPts val="700"/>
              </a:spcAft>
              <a:buNone/>
              <a:defRPr sz="2000" b="0">
                <a:solidFill>
                  <a:srgbClr val="22313F"/>
                </a:solidFill>
                <a:latin typeface="Aptos"/>
              </a:defRPr>
            </a:pPr>
            <a:r>
              <a:t>- verification standards</a:t>
            </a:r>
          </a:p>
          <a:p>
            <a:pPr algn="l" marL="457200" indent="0">
              <a:lnSpc>
                <a:spcPct val="108000"/>
              </a:lnSpc>
              <a:spcBef>
                <a:spcPts val="0"/>
              </a:spcBef>
              <a:spcAft>
                <a:spcPts val="700"/>
              </a:spcAft>
              <a:buNone/>
              <a:defRPr sz="2000" b="0">
                <a:solidFill>
                  <a:srgbClr val="22313F"/>
                </a:solidFill>
                <a:latin typeface="Aptos"/>
              </a:defRPr>
            </a:pPr>
            <a:r>
              <a:t>- learning design</a:t>
            </a:r>
          </a:p>
          <a:p>
            <a:pPr algn="l" marL="457200" indent="0">
              <a:lnSpc>
                <a:spcPct val="108000"/>
              </a:lnSpc>
              <a:spcBef>
                <a:spcPts val="0"/>
              </a:spcBef>
              <a:spcAft>
                <a:spcPts val="700"/>
              </a:spcAft>
              <a:buNone/>
              <a:defRPr sz="2000" b="0">
                <a:solidFill>
                  <a:srgbClr val="22313F"/>
                </a:solidFill>
                <a:latin typeface="Aptos"/>
              </a:defRPr>
            </a:pPr>
            <a:r>
              <a:t>- measurement model</a:t>
            </a:r>
          </a:p>
          <a:p>
            <a:pPr algn="l" marL="457200" indent="0">
              <a:lnSpc>
                <a:spcPct val="108000"/>
              </a:lnSpc>
              <a:spcBef>
                <a:spcPts val="0"/>
              </a:spcBef>
              <a:spcAft>
                <a:spcPts val="700"/>
              </a:spcAft>
              <a:buNone/>
              <a:defRPr sz="2000" b="0">
                <a:solidFill>
                  <a:srgbClr val="22313F"/>
                </a:solidFill>
                <a:latin typeface="Aptos"/>
              </a:defRPr>
            </a:pPr>
            <a:r>
              <a:t>- tool taxonomy and selection guidance</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This project is deliberately not a few common things.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not a vendor catalog</a:t>
            </a:r>
          </a:p>
          <a:p>
            <a:pPr algn="l" marL="254000" indent="0">
              <a:lnSpc>
                <a:spcPct val="108000"/>
              </a:lnSpc>
              <a:spcBef>
                <a:spcPts val="0"/>
              </a:spcBef>
              <a:spcAft>
                <a:spcPts val="700"/>
              </a:spcAft>
              <a:buNone/>
              <a:defRPr sz="2000" b="0">
                <a:solidFill>
                  <a:srgbClr val="22313F"/>
                </a:solidFill>
                <a:latin typeface="Aptos"/>
              </a:defRPr>
            </a:pPr>
            <a:r>
              <a:t>- not a prompt-count adoption program</a:t>
            </a:r>
          </a:p>
          <a:p>
            <a:pPr algn="l" marL="254000" indent="0">
              <a:lnSpc>
                <a:spcPct val="108000"/>
              </a:lnSpc>
              <a:spcBef>
                <a:spcPts val="0"/>
              </a:spcBef>
              <a:spcAft>
                <a:spcPts val="700"/>
              </a:spcAft>
              <a:buNone/>
              <a:defRPr sz="2000" b="0">
                <a:solidFill>
                  <a:srgbClr val="22313F"/>
                </a:solidFill>
                <a:latin typeface="Aptos"/>
              </a:defRPr>
            </a:pPr>
            <a:r>
              <a:t>- not an anti-AI argument</a:t>
            </a:r>
          </a:p>
          <a:p>
            <a:pPr algn="l" marL="254000" indent="0">
              <a:lnSpc>
                <a:spcPct val="108000"/>
              </a:lnSpc>
              <a:spcBef>
                <a:spcPts val="0"/>
              </a:spcBef>
              <a:spcAft>
                <a:spcPts val="700"/>
              </a:spcAft>
              <a:buNone/>
              <a:defRPr sz="2000" b="0">
                <a:solidFill>
                  <a:srgbClr val="22313F"/>
                </a:solidFill>
                <a:latin typeface="Aptos"/>
              </a:defRPr>
            </a:pPr>
            <a:r>
              <a:t>- not a justification for cutting apprenticeship before replacing it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The model is built for software delivery work, but it scales across contexts.</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individual practitioners</a:t>
            </a:r>
          </a:p>
          <a:p>
            <a:pPr algn="l" marL="254000" indent="0">
              <a:lnSpc>
                <a:spcPct val="108000"/>
              </a:lnSpc>
              <a:spcBef>
                <a:spcPts val="0"/>
              </a:spcBef>
              <a:spcAft>
                <a:spcPts val="700"/>
              </a:spcAft>
              <a:buNone/>
              <a:defRPr sz="2000" b="0">
                <a:solidFill>
                  <a:srgbClr val="22313F"/>
                </a:solidFill>
                <a:latin typeface="Aptos"/>
              </a:defRPr>
            </a:pPr>
            <a:r>
              <a:t>- Staff Engineers and technical enablement leaders</a:t>
            </a:r>
          </a:p>
          <a:p>
            <a:pPr algn="l" marL="254000" indent="0">
              <a:lnSpc>
                <a:spcPct val="108000"/>
              </a:lnSpc>
              <a:spcBef>
                <a:spcPts val="0"/>
              </a:spcBef>
              <a:spcAft>
                <a:spcPts val="700"/>
              </a:spcAft>
              <a:buNone/>
              <a:defRPr sz="2000" b="0">
                <a:solidFill>
                  <a:srgbClr val="22313F"/>
                </a:solidFill>
                <a:latin typeface="Aptos"/>
              </a:defRPr>
            </a:pPr>
            <a:r>
              <a:t>- delivery organizations</a:t>
            </a:r>
          </a:p>
          <a:p>
            <a:pPr algn="l" marL="254000" indent="0">
              <a:lnSpc>
                <a:spcPct val="108000"/>
              </a:lnSpc>
              <a:spcBef>
                <a:spcPts val="0"/>
              </a:spcBef>
              <a:spcAft>
                <a:spcPts val="700"/>
              </a:spcAft>
              <a:buNone/>
              <a:defRPr sz="2000" b="0">
                <a:solidFill>
                  <a:srgbClr val="22313F"/>
                </a:solidFill>
                <a:latin typeface="Aptos"/>
              </a:defRPr>
            </a:pPr>
            <a:r>
              <a:t>- teams exploring a pilot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Start small enough to learn honestly.</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choose one real workflow</a:t>
            </a:r>
          </a:p>
          <a:p>
            <a:pPr algn="l" marL="254000" indent="0">
              <a:lnSpc>
                <a:spcPct val="108000"/>
              </a:lnSpc>
              <a:spcBef>
                <a:spcPts val="0"/>
              </a:spcBef>
              <a:spcAft>
                <a:spcPts val="700"/>
              </a:spcAft>
              <a:buNone/>
              <a:defRPr sz="2000" b="0">
                <a:solidFill>
                  <a:srgbClr val="22313F"/>
                </a:solidFill>
                <a:latin typeface="Aptos"/>
              </a:defRPr>
            </a:pPr>
            <a:r>
              <a:t>- define how it will be verified</a:t>
            </a:r>
          </a:p>
          <a:p>
            <a:pPr algn="l" marL="254000" indent="0">
              <a:lnSpc>
                <a:spcPct val="108000"/>
              </a:lnSpc>
              <a:spcBef>
                <a:spcPts val="0"/>
              </a:spcBef>
              <a:spcAft>
                <a:spcPts val="700"/>
              </a:spcAft>
              <a:buNone/>
              <a:defRPr sz="2000" b="0">
                <a:solidFill>
                  <a:srgbClr val="22313F"/>
                </a:solidFill>
                <a:latin typeface="Aptos"/>
              </a:defRPr>
            </a:pPr>
            <a:r>
              <a:t>- decide how you will tell whether it actually helped</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6F2EA"/>
        </a:solidFill>
        <a:effectLst/>
      </p:bgPr>
    </p:bg>
    <p:spTree>
      <p:nvGrpSpPr>
        <p:cNvPr id="1" name=""/>
        <p:cNvGrpSpPr/>
        <p:nvPr/>
      </p:nvGrpSpPr>
      <p:grpSpPr/>
      <p:sp>
        <p:nvSpPr>
          <p:cNvPr id="2" name="Title 1"/>
          <p:cNvSpPr>
            <a:spLocks noGrp="1"/>
          </p:cNvSpPr>
          <p:nvPr>
            <p:ph type="title"/>
          </p:nvPr>
        </p:nvSpPr>
        <p:spPr>
          <a:xfrm>
            <a:off x="822960" y="512064"/>
            <a:ext cx="10058400" cy="914400"/>
          </a:xfrm>
        </p:spPr>
        <p:txBody>
          <a:bodyPr/>
          <a:lstStyle/>
          <a:p>
            <a:pPr algn="l">
              <a:spcAft>
                <a:spcPts val="500"/>
              </a:spcAft>
            </a:pPr>
            <a:r>
              <a:rPr sz="2400" b="1">
                <a:solidFill>
                  <a:srgbClr val="22313F"/>
                </a:solidFill>
                <a:latin typeface="Aptos Display"/>
              </a:rPr>
              <a:t>Use the package in the way that matches your need.</a:t>
            </a:r>
          </a:p>
        </p:txBody>
      </p:sp>
      <p:sp>
        <p:nvSpPr>
          <p:cNvPr id="4" name="Rectangle 3"/>
          <p:cNvSpPr/>
          <p:nvPr/>
        </p:nvSpPr>
        <p:spPr>
          <a:xfrm>
            <a:off x="0" y="0"/>
            <a:ext cx="12191695" cy="219456"/>
          </a:xfrm>
          <a:prstGeom prst="rect">
            <a:avLst/>
          </a:prstGeom>
          <a:solidFill>
            <a:srgbClr val="1E8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04672" y="1225296"/>
            <a:ext cx="1737360" cy="54864"/>
          </a:xfrm>
          <a:prstGeom prst="rect">
            <a:avLst/>
          </a:prstGeom>
          <a:solidFill>
            <a:srgbClr val="D79A4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601968"/>
            <a:ext cx="12191695" cy="18288"/>
          </a:xfrm>
          <a:prstGeom prst="rect">
            <a:avLst/>
          </a:prstGeom>
          <a:solidFill>
            <a:srgbClr val="D8D1C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27632"/>
            <a:ext cx="10378440" cy="4343400"/>
          </a:xfrm>
          <a:prstGeom prst="rect">
            <a:avLst/>
          </a:prstGeom>
          <a:noFill/>
        </p:spPr>
        <p:txBody>
          <a:bodyPr wrap="square" anchor="t">
            <a:spAutoFit/>
          </a:bodyPr>
          <a:lstStyle/>
          <a:p>
            <a:pPr algn="l" marL="254000" indent="0">
              <a:lnSpc>
                <a:spcPct val="108000"/>
              </a:lnSpc>
              <a:spcBef>
                <a:spcPts val="0"/>
              </a:spcBef>
              <a:spcAft>
                <a:spcPts val="700"/>
              </a:spcAft>
              <a:buNone/>
              <a:defRPr sz="2000" b="0">
                <a:solidFill>
                  <a:srgbClr val="22313F"/>
                </a:solidFill>
                <a:latin typeface="Aptos"/>
              </a:defRPr>
            </a:pPr>
            <a:r>
              <a:t>- start with the one-pager and getting-started guide</a:t>
            </a:r>
          </a:p>
          <a:p>
            <a:pPr algn="l" marL="254000" indent="0">
              <a:lnSpc>
                <a:spcPct val="108000"/>
              </a:lnSpc>
              <a:spcBef>
                <a:spcPts val="0"/>
              </a:spcBef>
              <a:spcAft>
                <a:spcPts val="700"/>
              </a:spcAft>
              <a:buNone/>
              <a:defRPr sz="2000" b="0">
                <a:solidFill>
                  <a:srgbClr val="22313F"/>
                </a:solidFill>
                <a:latin typeface="Aptos"/>
              </a:defRPr>
            </a:pPr>
            <a:r>
              <a:t>- use the executive deck for leadership conversations</a:t>
            </a:r>
          </a:p>
          <a:p>
            <a:pPr algn="l" marL="254000" indent="0">
              <a:lnSpc>
                <a:spcPct val="108000"/>
              </a:lnSpc>
              <a:spcBef>
                <a:spcPts val="0"/>
              </a:spcBef>
              <a:spcAft>
                <a:spcPts val="700"/>
              </a:spcAft>
              <a:buNone/>
              <a:defRPr sz="2000" b="0">
                <a:solidFill>
                  <a:srgbClr val="22313F"/>
                </a:solidFill>
                <a:latin typeface="Aptos"/>
              </a:defRPr>
            </a:pPr>
            <a:r>
              <a:t>- use the workshop pack and exercise library for team practice</a:t>
            </a:r>
          </a:p>
          <a:p>
            <a:pPr algn="l" marL="254000" indent="0">
              <a:lnSpc>
                <a:spcPct val="108000"/>
              </a:lnSpc>
              <a:spcBef>
                <a:spcPts val="0"/>
              </a:spcBef>
              <a:spcAft>
                <a:spcPts val="700"/>
              </a:spcAft>
              <a:buNone/>
              <a:defRPr sz="2000" b="0">
                <a:solidFill>
                  <a:srgbClr val="22313F"/>
                </a:solidFill>
                <a:latin typeface="Aptos"/>
              </a:defRPr>
            </a:pPr>
            <a:r>
              <a:t>- use the evidence kit if you want a measurable pilot</a:t>
            </a:r>
          </a:p>
        </p:txBody>
      </p:sp>
      <p:sp>
        <p:nvSpPr>
          <p:cNvPr id="8" name="TextBox 7"/>
          <p:cNvSpPr txBox="1"/>
          <p:nvPr/>
        </p:nvSpPr>
        <p:spPr>
          <a:xfrm>
            <a:off x="10012680" y="530352"/>
            <a:ext cx="1234440" cy="256032"/>
          </a:xfrm>
          <a:prstGeom prst="rect">
            <a:avLst/>
          </a:prstGeom>
          <a:noFill/>
        </p:spPr>
        <p:txBody>
          <a:bodyPr wrap="square" anchor="ctr">
            <a:spAutoFit/>
          </a:bodyPr>
          <a:lstStyle/>
          <a:p>
            <a:pPr algn="r">
              <a:spcAft>
                <a:spcPts val="500"/>
              </a:spcAft>
            </a:pPr>
            <a:r>
              <a:rPr sz="900" b="1">
                <a:solidFill>
                  <a:srgbClr val="1E8E7E"/>
                </a:solidFill>
                <a:latin typeface="Aptos"/>
              </a:rPr>
              <a:t>PAIRED ENGINEERING</a:t>
            </a:r>
          </a:p>
        </p:txBody>
      </p:sp>
      <p:sp>
        <p:nvSpPr>
          <p:cNvPr id="9" name="TextBox 8"/>
          <p:cNvSpPr txBox="1"/>
          <p:nvPr/>
        </p:nvSpPr>
        <p:spPr>
          <a:xfrm>
            <a:off x="822960" y="6126480"/>
            <a:ext cx="9144000" cy="219456"/>
          </a:xfrm>
          <a:prstGeom prst="rect">
            <a:avLst/>
          </a:prstGeom>
          <a:noFill/>
        </p:spPr>
        <p:txBody>
          <a:bodyPr wrap="square" anchor="ctr">
            <a:spAutoFit/>
          </a:bodyPr>
          <a:lstStyle/>
          <a:p>
            <a:pPr algn="l">
              <a:spcAft>
                <a:spcPts val="500"/>
              </a:spcAft>
            </a:pPr>
            <a:r>
              <a:rPr sz="1000" b="0">
                <a:solidFill>
                  <a:srgbClr val="687683"/>
                </a:solidFill>
                <a:latin typeface="Aptos"/>
              </a:rPr>
              <a:t>Paired Engineering. A practical operating model for AI enablement in software delivery.</a:t>
            </a:r>
          </a:p>
        </p:txBody>
      </p:sp>
      <p:sp>
        <p:nvSpPr>
          <p:cNvPr id="10" name="TextBox 9"/>
          <p:cNvSpPr txBox="1"/>
          <p:nvPr/>
        </p:nvSpPr>
        <p:spPr>
          <a:xfrm>
            <a:off x="10881360" y="6144768"/>
            <a:ext cx="411480" cy="201168"/>
          </a:xfrm>
          <a:prstGeom prst="rect">
            <a:avLst/>
          </a:prstGeom>
          <a:noFill/>
        </p:spPr>
        <p:txBody>
          <a:bodyPr wrap="square" anchor="ctr">
            <a:spAutoFit/>
          </a:bodyPr>
          <a:lstStyle/>
          <a:p>
            <a:pPr algn="r">
              <a:spcAft>
                <a:spcPts val="500"/>
              </a:spcAft>
            </a:pPr>
            <a:r>
              <a:rPr sz="1000" b="0">
                <a:solidFill>
                  <a:srgbClr val="687683"/>
                </a:solidFill>
                <a:latin typeface="Aptos"/>
              </a:rPr>
              <a:t>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