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note</a:t>
            </a:r>
          </a:p>
          <a:p>
            <a:r>
              <a:t>Frame this as a team-operating deck, not a tool deck. The manager audience needs to hear that their role is not to maximize prompt activity, but to create conditions for better work, safer learning, and honest measurement.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note</a:t>
            </a:r>
          </a:p>
          <a:p>
            <a:r>
              <a:t>The point here is to make the audience feel responsible, but not blamed. If leaders sponsor the rollout and practitioners use the tools, managers still decide whether the new behavior can survive in the real operating system of the team.</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note</a:t>
            </a:r>
          </a:p>
          <a:p>
            <a:r>
              <a:t>This is where the deck pushes back on the shallow management instinct. If a manager’s main question is “why isn’t usage higher,” they are probably managing the wrong thing.</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note</a:t>
            </a:r>
          </a:p>
          <a:p>
            <a:r>
              <a:t>Managers do not need to be the most technical person in the room to do this well. They do need to protect the conditions that make good practice possible.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note</a:t>
            </a:r>
          </a:p>
          <a:p>
            <a:r>
              <a:t>Many teams collapse everything into delivery mode because of schedule pressure. That looks efficient until understanding gaps, review burden, and dependence start to accumulate.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note</a:t>
            </a:r>
          </a:p>
          <a:p>
            <a:r>
              <a:t>This slide is deliberately two-sided. The damage is not just fewer junior opportunities. It is also a distorted staffing model where seniors become permanent cleanup layers for AI-assisted work. Managers should hear a positive case here too: bringing in co-ops and junior engineers still matters because a healthy team needs bounded entry points, apprenticeship capacity, and future independent contributors.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note</a:t>
            </a:r>
          </a:p>
          <a:p>
            <a:r>
              <a:t>This is the bridge into the measurement model. The manager question should be “what is getting better and what hidden cost is rising,” not “how often was the tool used.”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note</a:t>
            </a:r>
          </a:p>
          <a:p>
            <a:r>
              <a:t>These questions are intentionally light. The point is not to create a heavy ritual. The point is to replace shallow management questions with ones that reveal workflow fit and team risk.</a:t>
            </a:r>
          </a:p>
          <a:p>
            <a:r>
              <a:t>Managers should treat instinct and softer qualitative signals as early warnings, not as final proof.</a:t>
            </a:r>
          </a:p>
          <a:p>
            <a:r>
              <a:t>If something feels heavier, less trustworthy, or more confusing than the dashboard suggests, that is a reason to inspect the workflow more closely, sample artifacts, or ask for technical-lead input.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note</a:t>
            </a:r>
          </a:p>
          <a:p>
            <a:r>
              <a:t>This slide should feel uncomfortably concrete. It gives managers language they can actually use tomorrow, and language they should stop using now.</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note</a:t>
            </a:r>
          </a:p>
          <a:p>
            <a:r>
              <a:t>This slide helps prevent role confusion. Managers should not become pseudo-tech leads, and tech leads should not become silent managers of delivery pressure.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note</a:t>
            </a:r>
          </a:p>
          <a:p>
            <a:r>
              <a:t>This is where you name the patterns that often stay invisible until morale or quality starts dropping. It is also a useful slide when a manager says “we’re not seeing any problems” while only watching activity metrics.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note</a:t>
            </a:r>
          </a:p>
          <a:p>
            <a:r>
              <a:t>End with a realistic target state. The point is not perfect control. The point is better habits, stronger team design, and less hidden damage.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note</a:t>
            </a:r>
          </a:p>
          <a:p>
            <a:r>
              <a:t>Managers are not the main audience for the exercises, but they absolutely influence whether structured practice happens. This slide keeps the practice layer connected to management behavior instead of treating training as someone else’s problem.</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note</a:t>
            </a:r>
          </a:p>
          <a:p>
            <a:r>
              <a:t>This is the main manager takeaway. It keeps the rollout small enough to learn honestly before the organization turns weak assumptions into policy, and it makes apprenticeship protection part of the rollout design instead of an afterthought.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83247"/>
        </a:solidFill>
        <a:effectLst/>
      </p:bgPr>
    </p:bg>
    <p:spTree>
      <p:nvGrpSpPr>
        <p:cNvPr id="1" name=""/>
        <p:cNvGrpSpPr/>
        <p:nvPr/>
      </p:nvGrpSpPr>
      <p:grpSpPr/>
      <p:sp>
        <p:nvSpPr>
          <p:cNvPr id="2" name="Title 1"/>
          <p:cNvSpPr>
            <a:spLocks noGrp="1"/>
          </p:cNvSpPr>
          <p:nvPr>
            <p:ph type="ctrTitle"/>
          </p:nvPr>
        </p:nvSpPr>
        <p:spPr>
          <a:xfrm>
            <a:off x="1051560" y="1051560"/>
            <a:ext cx="9875520" cy="1234440"/>
          </a:xfrm>
        </p:spPr>
        <p:txBody>
          <a:bodyPr/>
          <a:lstStyle/>
          <a:p>
            <a:pPr algn="l">
              <a:spcAft>
                <a:spcPts val="500"/>
              </a:spcAft>
            </a:pPr>
            <a:r>
              <a:rPr sz="3200" b="1">
                <a:solidFill>
                  <a:srgbClr val="F8FAFC"/>
                </a:solidFill>
                <a:latin typeface="Aptos Display"/>
              </a:rPr>
              <a:t>Leading Paired Engineering in Delivery Teams</a:t>
            </a:r>
          </a:p>
        </p:txBody>
      </p:sp>
      <p:sp>
        <p:nvSpPr>
          <p:cNvPr id="3" name="Subtitle 2"/>
          <p:cNvSpPr>
            <a:spLocks noGrp="1"/>
          </p:cNvSpPr>
          <p:nvPr>
            <p:ph type="subTitle" idx="1"/>
          </p:nvPr>
        </p:nvSpPr>
        <p:spPr>
          <a:xfrm>
            <a:off x="1078992" y="2331720"/>
            <a:ext cx="7955279" cy="1097280"/>
          </a:xfrm>
        </p:spPr>
        <p:txBody>
          <a:bodyPr/>
          <a:lstStyle/>
          <a:p>
            <a:pPr algn="l">
              <a:spcAft>
                <a:spcPts val="500"/>
              </a:spcAft>
            </a:pPr>
            <a:r>
              <a:rPr sz="2000" b="0">
                <a:solidFill>
                  <a:srgbClr val="F8FAFC"/>
                </a:solidFill>
                <a:latin typeface="Aptos"/>
              </a:rPr>
              <a:t>What managers actually need to do to make paired engineering work in real software delivery</a:t>
            </a:r>
          </a:p>
        </p:txBody>
      </p:sp>
      <p:sp>
        <p:nvSpPr>
          <p:cNvPr id="4" name="Rectangle 3"/>
          <p:cNvSpPr/>
          <p:nvPr/>
        </p:nvSpPr>
        <p:spPr>
          <a:xfrm>
            <a:off x="0" y="0"/>
            <a:ext cx="12191695" cy="201168"/>
          </a:xfrm>
          <a:prstGeom prst="rect">
            <a:avLst/>
          </a:prstGeom>
          <a:solidFill>
            <a:srgbClr val="D79A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731520" y="960120"/>
            <a:ext cx="164592" cy="2240280"/>
          </a:xfrm>
          <a:prstGeom prst="rect">
            <a:avLst/>
          </a:prstGeom>
          <a:solidFill>
            <a:srgbClr val="1E8E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51560" y="5897880"/>
            <a:ext cx="2743200" cy="292608"/>
          </a:xfrm>
          <a:prstGeom prst="rect">
            <a:avLst/>
          </a:prstGeom>
          <a:noFill/>
        </p:spPr>
        <p:txBody>
          <a:bodyPr wrap="square" anchor="ctr">
            <a:spAutoFit/>
          </a:bodyPr>
          <a:lstStyle/>
          <a:p>
            <a:pPr algn="l">
              <a:spcAft>
                <a:spcPts val="500"/>
              </a:spcAft>
            </a:pPr>
            <a:r>
              <a:rPr sz="1200" b="1">
                <a:solidFill>
                  <a:srgbClr val="D79A46"/>
                </a:solidFill>
                <a:latin typeface="Aptos"/>
              </a:rPr>
              <a:t>Paired Engineering</a:t>
            </a:r>
          </a:p>
        </p:txBody>
      </p:sp>
      <p:sp>
        <p:nvSpPr>
          <p:cNvPr id="7" name="TextBox 6"/>
          <p:cNvSpPr txBox="1"/>
          <p:nvPr/>
        </p:nvSpPr>
        <p:spPr>
          <a:xfrm>
            <a:off x="822960" y="6126480"/>
            <a:ext cx="9144000" cy="219456"/>
          </a:xfrm>
          <a:prstGeom prst="rect">
            <a:avLst/>
          </a:prstGeom>
          <a:noFill/>
        </p:spPr>
        <p:txBody>
          <a:bodyPr wrap="square" anchor="ctr">
            <a:spAutoFit/>
          </a:bodyPr>
          <a:lstStyle/>
          <a:p>
            <a:pPr algn="l">
              <a:spcAft>
                <a:spcPts val="500"/>
              </a:spcAft>
            </a:pPr>
            <a:r>
              <a:rPr sz="1000" b="0">
                <a:solidFill>
                  <a:srgbClr val="687683"/>
                </a:solidFill>
                <a:latin typeface="Aptos"/>
              </a:rPr>
              <a:t>Paired Engineering. A practical delivery model for AI-enabled software teams.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6F2EA"/>
        </a:solidFill>
        <a:effectLst/>
      </p:bgPr>
    </p:bg>
    <p:spTree>
      <p:nvGrpSpPr>
        <p:cNvPr id="1" name=""/>
        <p:cNvGrpSpPr/>
        <p:nvPr/>
      </p:nvGrpSpPr>
      <p:grpSpPr/>
      <p:sp>
        <p:nvSpPr>
          <p:cNvPr id="2" name="Title 1"/>
          <p:cNvSpPr>
            <a:spLocks noGrp="1"/>
          </p:cNvSpPr>
          <p:nvPr>
            <p:ph type="title"/>
          </p:nvPr>
        </p:nvSpPr>
        <p:spPr>
          <a:xfrm>
            <a:off x="822960" y="512064"/>
            <a:ext cx="10058400" cy="914400"/>
          </a:xfrm>
        </p:spPr>
        <p:txBody>
          <a:bodyPr/>
          <a:lstStyle/>
          <a:p>
            <a:pPr algn="l">
              <a:spcAft>
                <a:spcPts val="500"/>
              </a:spcAft>
            </a:pPr>
            <a:r>
              <a:rPr sz="2400" b="1">
                <a:solidFill>
                  <a:srgbClr val="22313F"/>
                </a:solidFill>
                <a:latin typeface="Aptos Display"/>
              </a:rPr>
              <a:t>AI enablement succeeds or fails in the weekly team rhythm.</a:t>
            </a:r>
          </a:p>
        </p:txBody>
      </p:sp>
      <p:sp>
        <p:nvSpPr>
          <p:cNvPr id="4" name="Rectangle 3"/>
          <p:cNvSpPr/>
          <p:nvPr/>
        </p:nvSpPr>
        <p:spPr>
          <a:xfrm>
            <a:off x="0" y="0"/>
            <a:ext cx="12191695" cy="219456"/>
          </a:xfrm>
          <a:prstGeom prst="rect">
            <a:avLst/>
          </a:prstGeom>
          <a:solidFill>
            <a:srgbClr val="1E8E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04672" y="1225296"/>
            <a:ext cx="1737360" cy="54864"/>
          </a:xfrm>
          <a:prstGeom prst="rect">
            <a:avLst/>
          </a:prstGeom>
          <a:solidFill>
            <a:srgbClr val="D79A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6601968"/>
            <a:ext cx="12191695" cy="18288"/>
          </a:xfrm>
          <a:prstGeom prst="rect">
            <a:avLst/>
          </a:prstGeom>
          <a:solidFill>
            <a:srgbClr val="D8D1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627632"/>
            <a:ext cx="10378440" cy="4343400"/>
          </a:xfrm>
          <a:prstGeom prst="rect">
            <a:avLst/>
          </a:prstGeom>
          <a:noFill/>
        </p:spPr>
        <p:txBody>
          <a:bodyPr wrap="square" anchor="t">
            <a:spAutoFit/>
          </a:bodyPr>
          <a:lstStyle/>
          <a:p>
            <a:pPr algn="l" marL="254000" indent="0">
              <a:lnSpc>
                <a:spcPct val="108000"/>
              </a:lnSpc>
              <a:spcBef>
                <a:spcPts val="0"/>
              </a:spcBef>
              <a:spcAft>
                <a:spcPts val="700"/>
              </a:spcAft>
              <a:buNone/>
              <a:defRPr sz="2000" b="0">
                <a:solidFill>
                  <a:srgbClr val="22313F"/>
                </a:solidFill>
                <a:latin typeface="Aptos"/>
              </a:defRPr>
            </a:pPr>
            <a:r>
              <a:t>- managers control time, priorities, and delivery pressure</a:t>
            </a:r>
          </a:p>
          <a:p>
            <a:pPr algn="l" marL="254000" indent="0">
              <a:lnSpc>
                <a:spcPct val="108000"/>
              </a:lnSpc>
              <a:spcBef>
                <a:spcPts val="0"/>
              </a:spcBef>
              <a:spcAft>
                <a:spcPts val="700"/>
              </a:spcAft>
              <a:buNone/>
              <a:defRPr sz="2000" b="0">
                <a:solidFill>
                  <a:srgbClr val="22313F"/>
                </a:solidFill>
                <a:latin typeface="Aptos"/>
              </a:defRPr>
            </a:pPr>
            <a:r>
              <a:t>- managers shape local incentives and psychological safety</a:t>
            </a:r>
          </a:p>
          <a:p>
            <a:pPr algn="l" marL="254000" indent="0">
              <a:lnSpc>
                <a:spcPct val="108000"/>
              </a:lnSpc>
              <a:spcBef>
                <a:spcPts val="0"/>
              </a:spcBef>
              <a:spcAft>
                <a:spcPts val="700"/>
              </a:spcAft>
              <a:buNone/>
              <a:defRPr sz="2000" b="0">
                <a:solidFill>
                  <a:srgbClr val="22313F"/>
                </a:solidFill>
                <a:latin typeface="Aptos"/>
              </a:defRPr>
            </a:pPr>
            <a:r>
              <a:t>- managers decide whether learning survives contact with schedule pressure</a:t>
            </a:r>
          </a:p>
        </p:txBody>
      </p:sp>
      <p:sp>
        <p:nvSpPr>
          <p:cNvPr id="8" name="TextBox 7"/>
          <p:cNvSpPr txBox="1"/>
          <p:nvPr/>
        </p:nvSpPr>
        <p:spPr>
          <a:xfrm>
            <a:off x="10012680" y="530352"/>
            <a:ext cx="1234440" cy="256032"/>
          </a:xfrm>
          <a:prstGeom prst="rect">
            <a:avLst/>
          </a:prstGeom>
          <a:noFill/>
        </p:spPr>
        <p:txBody>
          <a:bodyPr wrap="square" anchor="ctr">
            <a:spAutoFit/>
          </a:bodyPr>
          <a:lstStyle/>
          <a:p>
            <a:pPr algn="r">
              <a:spcAft>
                <a:spcPts val="500"/>
              </a:spcAft>
            </a:pPr>
            <a:r>
              <a:rPr sz="900" b="1">
                <a:solidFill>
                  <a:srgbClr val="1E8E7E"/>
                </a:solidFill>
                <a:latin typeface="Aptos"/>
              </a:rPr>
              <a:t>PAIRED ENGINEERING</a:t>
            </a:r>
          </a:p>
        </p:txBody>
      </p:sp>
      <p:sp>
        <p:nvSpPr>
          <p:cNvPr id="9" name="TextBox 8"/>
          <p:cNvSpPr txBox="1"/>
          <p:nvPr/>
        </p:nvSpPr>
        <p:spPr>
          <a:xfrm>
            <a:off x="822960" y="6126480"/>
            <a:ext cx="9144000" cy="219456"/>
          </a:xfrm>
          <a:prstGeom prst="rect">
            <a:avLst/>
          </a:prstGeom>
          <a:noFill/>
        </p:spPr>
        <p:txBody>
          <a:bodyPr wrap="square" anchor="ctr">
            <a:spAutoFit/>
          </a:bodyPr>
          <a:lstStyle/>
          <a:p>
            <a:pPr algn="l">
              <a:spcAft>
                <a:spcPts val="500"/>
              </a:spcAft>
            </a:pPr>
            <a:r>
              <a:rPr sz="1000" b="0">
                <a:solidFill>
                  <a:srgbClr val="687683"/>
                </a:solidFill>
                <a:latin typeface="Aptos"/>
              </a:rPr>
              <a:t>Paired Engineering. A practical delivery model for AI-enabled software teams.</a:t>
            </a:r>
          </a:p>
        </p:txBody>
      </p:sp>
      <p:sp>
        <p:nvSpPr>
          <p:cNvPr id="10" name="TextBox 9"/>
          <p:cNvSpPr txBox="1"/>
          <p:nvPr/>
        </p:nvSpPr>
        <p:spPr>
          <a:xfrm>
            <a:off x="10881360" y="6144768"/>
            <a:ext cx="411480" cy="201168"/>
          </a:xfrm>
          <a:prstGeom prst="rect">
            <a:avLst/>
          </a:prstGeom>
          <a:noFill/>
        </p:spPr>
        <p:txBody>
          <a:bodyPr wrap="square" anchor="ctr">
            <a:spAutoFit/>
          </a:bodyPr>
          <a:lstStyle/>
          <a:p>
            <a:pPr algn="r">
              <a:spcAft>
                <a:spcPts val="500"/>
              </a:spcAft>
            </a:pPr>
            <a:r>
              <a:rPr sz="1000" b="0">
                <a:solidFill>
                  <a:srgbClr val="687683"/>
                </a:solidFill>
                <a:latin typeface="Aptos"/>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6F2EA"/>
        </a:solidFill>
        <a:effectLst/>
      </p:bgPr>
    </p:bg>
    <p:spTree>
      <p:nvGrpSpPr>
        <p:cNvPr id="1" name=""/>
        <p:cNvGrpSpPr/>
        <p:nvPr/>
      </p:nvGrpSpPr>
      <p:grpSpPr/>
      <p:sp>
        <p:nvSpPr>
          <p:cNvPr id="2" name="Title 1"/>
          <p:cNvSpPr>
            <a:spLocks noGrp="1"/>
          </p:cNvSpPr>
          <p:nvPr>
            <p:ph type="title"/>
          </p:nvPr>
        </p:nvSpPr>
        <p:spPr>
          <a:xfrm>
            <a:off x="822960" y="512064"/>
            <a:ext cx="10058400" cy="914400"/>
          </a:xfrm>
        </p:spPr>
        <p:txBody>
          <a:bodyPr/>
          <a:lstStyle/>
          <a:p>
            <a:pPr algn="l">
              <a:spcAft>
                <a:spcPts val="500"/>
              </a:spcAft>
            </a:pPr>
            <a:r>
              <a:rPr sz="2400" b="1">
                <a:solidFill>
                  <a:srgbClr val="22313F"/>
                </a:solidFill>
                <a:latin typeface="Aptos Display"/>
              </a:rPr>
              <a:t>Do not reduce AI enablement to usage tracking or prompt policing.</a:t>
            </a:r>
          </a:p>
        </p:txBody>
      </p:sp>
      <p:sp>
        <p:nvSpPr>
          <p:cNvPr id="4" name="Rectangle 3"/>
          <p:cNvSpPr/>
          <p:nvPr/>
        </p:nvSpPr>
        <p:spPr>
          <a:xfrm>
            <a:off x="0" y="0"/>
            <a:ext cx="12191695" cy="219456"/>
          </a:xfrm>
          <a:prstGeom prst="rect">
            <a:avLst/>
          </a:prstGeom>
          <a:solidFill>
            <a:srgbClr val="1E8E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04672" y="1225296"/>
            <a:ext cx="1737360" cy="54864"/>
          </a:xfrm>
          <a:prstGeom prst="rect">
            <a:avLst/>
          </a:prstGeom>
          <a:solidFill>
            <a:srgbClr val="D79A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6601968"/>
            <a:ext cx="12191695" cy="18288"/>
          </a:xfrm>
          <a:prstGeom prst="rect">
            <a:avLst/>
          </a:prstGeom>
          <a:solidFill>
            <a:srgbClr val="D8D1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627632"/>
            <a:ext cx="10378440" cy="4343400"/>
          </a:xfrm>
          <a:prstGeom prst="rect">
            <a:avLst/>
          </a:prstGeom>
          <a:noFill/>
        </p:spPr>
        <p:txBody>
          <a:bodyPr wrap="square" anchor="t">
            <a:spAutoFit/>
          </a:bodyPr>
          <a:lstStyle/>
          <a:p>
            <a:pPr algn="l" marL="254000" indent="0">
              <a:lnSpc>
                <a:spcPct val="108000"/>
              </a:lnSpc>
              <a:spcBef>
                <a:spcPts val="0"/>
              </a:spcBef>
              <a:spcAft>
                <a:spcPts val="700"/>
              </a:spcAft>
              <a:buNone/>
              <a:defRPr sz="2000" b="0">
                <a:solidFill>
                  <a:srgbClr val="22313F"/>
                </a:solidFill>
                <a:latin typeface="Aptos"/>
              </a:defRPr>
            </a:pPr>
            <a:r>
              <a:t>- prompt count is a weak activity signal</a:t>
            </a:r>
          </a:p>
          <a:p>
            <a:pPr algn="l" marL="254000" indent="0">
              <a:lnSpc>
                <a:spcPct val="108000"/>
              </a:lnSpc>
              <a:spcBef>
                <a:spcPts val="0"/>
              </a:spcBef>
              <a:spcAft>
                <a:spcPts val="700"/>
              </a:spcAft>
              <a:buNone/>
              <a:defRPr sz="2000" b="0">
                <a:solidFill>
                  <a:srgbClr val="22313F"/>
                </a:solidFill>
                <a:latin typeface="Aptos"/>
              </a:defRPr>
            </a:pPr>
            <a:r>
              <a:t>- compliance is not the same as enablement</a:t>
            </a:r>
          </a:p>
          <a:p>
            <a:pPr algn="l" marL="254000" indent="0">
              <a:lnSpc>
                <a:spcPct val="108000"/>
              </a:lnSpc>
              <a:spcBef>
                <a:spcPts val="0"/>
              </a:spcBef>
              <a:spcAft>
                <a:spcPts val="700"/>
              </a:spcAft>
              <a:buNone/>
              <a:defRPr sz="2000" b="0">
                <a:solidFill>
                  <a:srgbClr val="22313F"/>
                </a:solidFill>
                <a:latin typeface="Aptos"/>
              </a:defRPr>
            </a:pPr>
            <a:r>
              <a:t>- pressure without support creates hiding behavior and silent cleanup</a:t>
            </a:r>
          </a:p>
        </p:txBody>
      </p:sp>
      <p:sp>
        <p:nvSpPr>
          <p:cNvPr id="8" name="TextBox 7"/>
          <p:cNvSpPr txBox="1"/>
          <p:nvPr/>
        </p:nvSpPr>
        <p:spPr>
          <a:xfrm>
            <a:off x="10012680" y="530352"/>
            <a:ext cx="1234440" cy="256032"/>
          </a:xfrm>
          <a:prstGeom prst="rect">
            <a:avLst/>
          </a:prstGeom>
          <a:noFill/>
        </p:spPr>
        <p:txBody>
          <a:bodyPr wrap="square" anchor="ctr">
            <a:spAutoFit/>
          </a:bodyPr>
          <a:lstStyle/>
          <a:p>
            <a:pPr algn="r">
              <a:spcAft>
                <a:spcPts val="500"/>
              </a:spcAft>
            </a:pPr>
            <a:r>
              <a:rPr sz="900" b="1">
                <a:solidFill>
                  <a:srgbClr val="1E8E7E"/>
                </a:solidFill>
                <a:latin typeface="Aptos"/>
              </a:rPr>
              <a:t>PAIRED ENGINEERING</a:t>
            </a:r>
          </a:p>
        </p:txBody>
      </p:sp>
      <p:sp>
        <p:nvSpPr>
          <p:cNvPr id="9" name="TextBox 8"/>
          <p:cNvSpPr txBox="1"/>
          <p:nvPr/>
        </p:nvSpPr>
        <p:spPr>
          <a:xfrm>
            <a:off x="822960" y="6126480"/>
            <a:ext cx="9144000" cy="219456"/>
          </a:xfrm>
          <a:prstGeom prst="rect">
            <a:avLst/>
          </a:prstGeom>
          <a:noFill/>
        </p:spPr>
        <p:txBody>
          <a:bodyPr wrap="square" anchor="ctr">
            <a:spAutoFit/>
          </a:bodyPr>
          <a:lstStyle/>
          <a:p>
            <a:pPr algn="l">
              <a:spcAft>
                <a:spcPts val="500"/>
              </a:spcAft>
            </a:pPr>
            <a:r>
              <a:rPr sz="1000" b="0">
                <a:solidFill>
                  <a:srgbClr val="687683"/>
                </a:solidFill>
                <a:latin typeface="Aptos"/>
              </a:rPr>
              <a:t>Paired Engineering. A practical delivery model for AI-enabled software teams.</a:t>
            </a:r>
          </a:p>
        </p:txBody>
      </p:sp>
      <p:sp>
        <p:nvSpPr>
          <p:cNvPr id="10" name="TextBox 9"/>
          <p:cNvSpPr txBox="1"/>
          <p:nvPr/>
        </p:nvSpPr>
        <p:spPr>
          <a:xfrm>
            <a:off x="10881360" y="6144768"/>
            <a:ext cx="411480" cy="201168"/>
          </a:xfrm>
          <a:prstGeom prst="rect">
            <a:avLst/>
          </a:prstGeom>
          <a:noFill/>
        </p:spPr>
        <p:txBody>
          <a:bodyPr wrap="square" anchor="ctr">
            <a:spAutoFit/>
          </a:bodyPr>
          <a:lstStyle/>
          <a:p>
            <a:pPr algn="r">
              <a:spcAft>
                <a:spcPts val="500"/>
              </a:spcAft>
            </a:pPr>
            <a:r>
              <a:rPr sz="1000" b="0">
                <a:solidFill>
                  <a:srgbClr val="687683"/>
                </a:solidFill>
                <a:latin typeface="Aptos"/>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6F2EA"/>
        </a:solidFill>
        <a:effectLst/>
      </p:bgPr>
    </p:bg>
    <p:spTree>
      <p:nvGrpSpPr>
        <p:cNvPr id="1" name=""/>
        <p:cNvGrpSpPr/>
        <p:nvPr/>
      </p:nvGrpSpPr>
      <p:grpSpPr/>
      <p:sp>
        <p:nvSpPr>
          <p:cNvPr id="2" name="Title 1"/>
          <p:cNvSpPr>
            <a:spLocks noGrp="1"/>
          </p:cNvSpPr>
          <p:nvPr>
            <p:ph type="title"/>
          </p:nvPr>
        </p:nvSpPr>
        <p:spPr>
          <a:xfrm>
            <a:off x="822960" y="512064"/>
            <a:ext cx="10058400" cy="914400"/>
          </a:xfrm>
        </p:spPr>
        <p:txBody>
          <a:bodyPr/>
          <a:lstStyle/>
          <a:p>
            <a:pPr algn="l">
              <a:spcAft>
                <a:spcPts val="500"/>
              </a:spcAft>
            </a:pPr>
            <a:r>
              <a:rPr sz="2400" b="1">
                <a:solidFill>
                  <a:srgbClr val="22313F"/>
                </a:solidFill>
                <a:latin typeface="Aptos Display"/>
              </a:rPr>
              <a:t>Managers own the conditions around the work.</a:t>
            </a:r>
          </a:p>
        </p:txBody>
      </p:sp>
      <p:sp>
        <p:nvSpPr>
          <p:cNvPr id="4" name="Rectangle 3"/>
          <p:cNvSpPr/>
          <p:nvPr/>
        </p:nvSpPr>
        <p:spPr>
          <a:xfrm>
            <a:off x="0" y="0"/>
            <a:ext cx="12191695" cy="219456"/>
          </a:xfrm>
          <a:prstGeom prst="rect">
            <a:avLst/>
          </a:prstGeom>
          <a:solidFill>
            <a:srgbClr val="1E8E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04672" y="1225296"/>
            <a:ext cx="1737360" cy="54864"/>
          </a:xfrm>
          <a:prstGeom prst="rect">
            <a:avLst/>
          </a:prstGeom>
          <a:solidFill>
            <a:srgbClr val="D79A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6601968"/>
            <a:ext cx="12191695" cy="18288"/>
          </a:xfrm>
          <a:prstGeom prst="rect">
            <a:avLst/>
          </a:prstGeom>
          <a:solidFill>
            <a:srgbClr val="D8D1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627632"/>
            <a:ext cx="10378440" cy="4343400"/>
          </a:xfrm>
          <a:prstGeom prst="rect">
            <a:avLst/>
          </a:prstGeom>
          <a:noFill/>
        </p:spPr>
        <p:txBody>
          <a:bodyPr wrap="square" anchor="t">
            <a:spAutoFit/>
          </a:bodyPr>
          <a:lstStyle/>
          <a:p>
            <a:pPr algn="l" marL="254000" indent="0">
              <a:lnSpc>
                <a:spcPct val="108000"/>
              </a:lnSpc>
              <a:spcBef>
                <a:spcPts val="0"/>
              </a:spcBef>
              <a:spcAft>
                <a:spcPts val="700"/>
              </a:spcAft>
              <a:buNone/>
              <a:defRPr sz="2000" b="0">
                <a:solidFill>
                  <a:srgbClr val="22313F"/>
                </a:solidFill>
                <a:latin typeface="Aptos"/>
              </a:defRPr>
            </a:pPr>
            <a:r>
              <a:t>- protect time for target workflows, follow-up, and coaching</a:t>
            </a:r>
          </a:p>
          <a:p>
            <a:pPr algn="l" marL="254000" indent="0">
              <a:lnSpc>
                <a:spcPct val="108000"/>
              </a:lnSpc>
              <a:spcBef>
                <a:spcPts val="0"/>
              </a:spcBef>
              <a:spcAft>
                <a:spcPts val="700"/>
              </a:spcAft>
              <a:buNone/>
              <a:defRPr sz="2000" b="0">
                <a:solidFill>
                  <a:srgbClr val="22313F"/>
                </a:solidFill>
                <a:latin typeface="Aptos"/>
              </a:defRPr>
            </a:pPr>
            <a:r>
              <a:t>- reinforce verification and review expectations</a:t>
            </a:r>
          </a:p>
          <a:p>
            <a:pPr algn="l" marL="254000" indent="0">
              <a:lnSpc>
                <a:spcPct val="108000"/>
              </a:lnSpc>
              <a:spcBef>
                <a:spcPts val="0"/>
              </a:spcBef>
              <a:spcAft>
                <a:spcPts val="700"/>
              </a:spcAft>
              <a:buNone/>
              <a:defRPr sz="2000" b="0">
                <a:solidFill>
                  <a:srgbClr val="22313F"/>
                </a:solidFill>
                <a:latin typeface="Aptos"/>
              </a:defRPr>
            </a:pPr>
            <a:r>
              <a:t>- keep review debt and hidden cleanup visible</a:t>
            </a:r>
          </a:p>
          <a:p>
            <a:pPr algn="l" marL="254000" indent="0">
              <a:lnSpc>
                <a:spcPct val="108000"/>
              </a:lnSpc>
              <a:spcBef>
                <a:spcPts val="0"/>
              </a:spcBef>
              <a:spcAft>
                <a:spcPts val="700"/>
              </a:spcAft>
              <a:buNone/>
              <a:defRPr sz="2000" b="0">
                <a:solidFill>
                  <a:srgbClr val="22313F"/>
                </a:solidFill>
                <a:latin typeface="Aptos"/>
              </a:defRPr>
            </a:pPr>
            <a:r>
              <a:t>- protect learning-rich work while the team adopts AI</a:t>
            </a:r>
          </a:p>
        </p:txBody>
      </p:sp>
      <p:sp>
        <p:nvSpPr>
          <p:cNvPr id="8" name="TextBox 7"/>
          <p:cNvSpPr txBox="1"/>
          <p:nvPr/>
        </p:nvSpPr>
        <p:spPr>
          <a:xfrm>
            <a:off x="10012680" y="530352"/>
            <a:ext cx="1234440" cy="256032"/>
          </a:xfrm>
          <a:prstGeom prst="rect">
            <a:avLst/>
          </a:prstGeom>
          <a:noFill/>
        </p:spPr>
        <p:txBody>
          <a:bodyPr wrap="square" anchor="ctr">
            <a:spAutoFit/>
          </a:bodyPr>
          <a:lstStyle/>
          <a:p>
            <a:pPr algn="r">
              <a:spcAft>
                <a:spcPts val="500"/>
              </a:spcAft>
            </a:pPr>
            <a:r>
              <a:rPr sz="900" b="1">
                <a:solidFill>
                  <a:srgbClr val="1E8E7E"/>
                </a:solidFill>
                <a:latin typeface="Aptos"/>
              </a:rPr>
              <a:t>PAIRED ENGINEERING</a:t>
            </a:r>
          </a:p>
        </p:txBody>
      </p:sp>
      <p:sp>
        <p:nvSpPr>
          <p:cNvPr id="9" name="TextBox 8"/>
          <p:cNvSpPr txBox="1"/>
          <p:nvPr/>
        </p:nvSpPr>
        <p:spPr>
          <a:xfrm>
            <a:off x="822960" y="6126480"/>
            <a:ext cx="9144000" cy="219456"/>
          </a:xfrm>
          <a:prstGeom prst="rect">
            <a:avLst/>
          </a:prstGeom>
          <a:noFill/>
        </p:spPr>
        <p:txBody>
          <a:bodyPr wrap="square" anchor="ctr">
            <a:spAutoFit/>
          </a:bodyPr>
          <a:lstStyle/>
          <a:p>
            <a:pPr algn="l">
              <a:spcAft>
                <a:spcPts val="500"/>
              </a:spcAft>
            </a:pPr>
            <a:r>
              <a:rPr sz="1000" b="0">
                <a:solidFill>
                  <a:srgbClr val="687683"/>
                </a:solidFill>
                <a:latin typeface="Aptos"/>
              </a:rPr>
              <a:t>Paired Engineering. A practical delivery model for AI-enabled software teams.</a:t>
            </a:r>
          </a:p>
        </p:txBody>
      </p:sp>
      <p:sp>
        <p:nvSpPr>
          <p:cNvPr id="10" name="TextBox 9"/>
          <p:cNvSpPr txBox="1"/>
          <p:nvPr/>
        </p:nvSpPr>
        <p:spPr>
          <a:xfrm>
            <a:off x="10881360" y="6144768"/>
            <a:ext cx="411480" cy="201168"/>
          </a:xfrm>
          <a:prstGeom prst="rect">
            <a:avLst/>
          </a:prstGeom>
          <a:noFill/>
        </p:spPr>
        <p:txBody>
          <a:bodyPr wrap="square" anchor="ctr">
            <a:spAutoFit/>
          </a:bodyPr>
          <a:lstStyle/>
          <a:p>
            <a:pPr algn="r">
              <a:spcAft>
                <a:spcPts val="500"/>
              </a:spcAft>
            </a:pPr>
            <a:r>
              <a:rPr sz="1000" b="0">
                <a:solidFill>
                  <a:srgbClr val="687683"/>
                </a:solidFill>
                <a:latin typeface="Aptos"/>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6F2EA"/>
        </a:solidFill>
        <a:effectLst/>
      </p:bgPr>
    </p:bg>
    <p:spTree>
      <p:nvGrpSpPr>
        <p:cNvPr id="1" name=""/>
        <p:cNvGrpSpPr/>
        <p:nvPr/>
      </p:nvGrpSpPr>
      <p:grpSpPr/>
      <p:sp>
        <p:nvSpPr>
          <p:cNvPr id="2" name="Title 1"/>
          <p:cNvSpPr>
            <a:spLocks noGrp="1"/>
          </p:cNvSpPr>
          <p:nvPr>
            <p:ph type="title"/>
          </p:nvPr>
        </p:nvSpPr>
        <p:spPr>
          <a:xfrm>
            <a:off x="822960" y="512064"/>
            <a:ext cx="10058400" cy="914400"/>
          </a:xfrm>
        </p:spPr>
        <p:txBody>
          <a:bodyPr/>
          <a:lstStyle/>
          <a:p>
            <a:pPr algn="l">
              <a:spcAft>
                <a:spcPts val="500"/>
              </a:spcAft>
            </a:pPr>
            <a:r>
              <a:rPr sz="2400" b="1">
                <a:solidFill>
                  <a:srgbClr val="22313F"/>
                </a:solidFill>
                <a:latin typeface="Aptos Display"/>
              </a:rPr>
              <a:t>Managers need to protect both modes of work.</a:t>
            </a:r>
          </a:p>
        </p:txBody>
      </p:sp>
      <p:sp>
        <p:nvSpPr>
          <p:cNvPr id="4" name="Rectangle 3"/>
          <p:cNvSpPr/>
          <p:nvPr/>
        </p:nvSpPr>
        <p:spPr>
          <a:xfrm>
            <a:off x="0" y="0"/>
            <a:ext cx="12191695" cy="219456"/>
          </a:xfrm>
          <a:prstGeom prst="rect">
            <a:avLst/>
          </a:prstGeom>
          <a:solidFill>
            <a:srgbClr val="1E8E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04672" y="1225296"/>
            <a:ext cx="1737360" cy="54864"/>
          </a:xfrm>
          <a:prstGeom prst="rect">
            <a:avLst/>
          </a:prstGeom>
          <a:solidFill>
            <a:srgbClr val="D79A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6601968"/>
            <a:ext cx="12191695" cy="18288"/>
          </a:xfrm>
          <a:prstGeom prst="rect">
            <a:avLst/>
          </a:prstGeom>
          <a:solidFill>
            <a:srgbClr val="D8D1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627632"/>
            <a:ext cx="10378440" cy="4343400"/>
          </a:xfrm>
          <a:prstGeom prst="rect">
            <a:avLst/>
          </a:prstGeom>
          <a:noFill/>
        </p:spPr>
        <p:txBody>
          <a:bodyPr wrap="square" anchor="t">
            <a:spAutoFit/>
          </a:bodyPr>
          <a:lstStyle/>
          <a:p>
            <a:pPr algn="l" marL="0" indent="0">
              <a:lnSpc>
                <a:spcPct val="108000"/>
              </a:lnSpc>
              <a:spcBef>
                <a:spcPts val="0"/>
              </a:spcBef>
              <a:spcAft>
                <a:spcPts val="1000"/>
              </a:spcAft>
              <a:buNone/>
              <a:defRPr sz="2000" b="0">
                <a:solidFill>
                  <a:srgbClr val="22313F"/>
                </a:solidFill>
                <a:latin typeface="Aptos"/>
              </a:defRPr>
            </a:pPr>
            <a:r>
              <a:t>Learning mode</a:t>
            </a:r>
          </a:p>
          <a:p>
            <a:pPr algn="l" marL="457200" indent="0">
              <a:lnSpc>
                <a:spcPct val="108000"/>
              </a:lnSpc>
              <a:spcBef>
                <a:spcPts val="0"/>
              </a:spcBef>
              <a:spcAft>
                <a:spcPts val="700"/>
              </a:spcAft>
              <a:buNone/>
              <a:defRPr sz="2000" b="0">
                <a:solidFill>
                  <a:srgbClr val="22313F"/>
                </a:solidFill>
                <a:latin typeface="Aptos"/>
              </a:defRPr>
            </a:pPr>
            <a:r>
              <a:t>- explanation-first</a:t>
            </a:r>
          </a:p>
          <a:p>
            <a:pPr algn="l" marL="457200" indent="0">
              <a:lnSpc>
                <a:spcPct val="108000"/>
              </a:lnSpc>
              <a:spcBef>
                <a:spcPts val="0"/>
              </a:spcBef>
              <a:spcAft>
                <a:spcPts val="700"/>
              </a:spcAft>
              <a:buNone/>
              <a:defRPr sz="2000" b="0">
                <a:solidFill>
                  <a:srgbClr val="22313F"/>
                </a:solidFill>
                <a:latin typeface="Aptos"/>
              </a:defRPr>
            </a:pPr>
            <a:r>
              <a:t>- slower but capability-building</a:t>
            </a:r>
          </a:p>
          <a:p>
            <a:pPr algn="l" marL="457200" indent="0">
              <a:lnSpc>
                <a:spcPct val="108000"/>
              </a:lnSpc>
              <a:spcBef>
                <a:spcPts val="0"/>
              </a:spcBef>
              <a:spcAft>
                <a:spcPts val="700"/>
              </a:spcAft>
              <a:buNone/>
              <a:defRPr sz="2000" b="0">
                <a:solidFill>
                  <a:srgbClr val="22313F"/>
                </a:solidFill>
                <a:latin typeface="Aptos"/>
              </a:defRPr>
            </a:pPr>
            <a:r>
              <a:t>- appropriate for unfamiliar or fragile work</a:t>
            </a:r>
          </a:p>
          <a:p>
            <a:pPr algn="l" marL="0" indent="0">
              <a:lnSpc>
                <a:spcPct val="108000"/>
              </a:lnSpc>
              <a:spcBef>
                <a:spcPts val="0"/>
              </a:spcBef>
              <a:spcAft>
                <a:spcPts val="1000"/>
              </a:spcAft>
              <a:buNone/>
              <a:defRPr sz="2000" b="0">
                <a:solidFill>
                  <a:srgbClr val="22313F"/>
                </a:solidFill>
                <a:latin typeface="Aptos"/>
              </a:defRPr>
            </a:pPr>
            <a:r>
              <a:t>Delivery mode</a:t>
            </a:r>
          </a:p>
          <a:p>
            <a:pPr algn="l" marL="457200" indent="0">
              <a:lnSpc>
                <a:spcPct val="108000"/>
              </a:lnSpc>
              <a:spcBef>
                <a:spcPts val="0"/>
              </a:spcBef>
              <a:spcAft>
                <a:spcPts val="700"/>
              </a:spcAft>
              <a:buNone/>
              <a:defRPr sz="2000" b="0">
                <a:solidFill>
                  <a:srgbClr val="22313F"/>
                </a:solidFill>
                <a:latin typeface="Aptos"/>
              </a:defRPr>
            </a:pPr>
            <a:r>
              <a:t>- bounded acceleration</a:t>
            </a:r>
          </a:p>
          <a:p>
            <a:pPr algn="l" marL="457200" indent="0">
              <a:lnSpc>
                <a:spcPct val="108000"/>
              </a:lnSpc>
              <a:spcBef>
                <a:spcPts val="0"/>
              </a:spcBef>
              <a:spcAft>
                <a:spcPts val="700"/>
              </a:spcAft>
              <a:buNone/>
              <a:defRPr sz="2000" b="0">
                <a:solidFill>
                  <a:srgbClr val="22313F"/>
                </a:solidFill>
                <a:latin typeface="Aptos"/>
              </a:defRPr>
            </a:pPr>
            <a:r>
              <a:t>- stronger verification</a:t>
            </a:r>
          </a:p>
          <a:p>
            <a:pPr algn="l" marL="457200" indent="0">
              <a:lnSpc>
                <a:spcPct val="108000"/>
              </a:lnSpc>
              <a:spcBef>
                <a:spcPts val="0"/>
              </a:spcBef>
              <a:spcAft>
                <a:spcPts val="700"/>
              </a:spcAft>
              <a:buNone/>
              <a:defRPr sz="2000" b="0">
                <a:solidFill>
                  <a:srgbClr val="22313F"/>
                </a:solidFill>
                <a:latin typeface="Aptos"/>
              </a:defRPr>
            </a:pPr>
            <a:r>
              <a:t>- appropriate when the work is familiar and reviewable</a:t>
            </a:r>
          </a:p>
        </p:txBody>
      </p:sp>
      <p:sp>
        <p:nvSpPr>
          <p:cNvPr id="8" name="TextBox 7"/>
          <p:cNvSpPr txBox="1"/>
          <p:nvPr/>
        </p:nvSpPr>
        <p:spPr>
          <a:xfrm>
            <a:off x="10012680" y="530352"/>
            <a:ext cx="1234440" cy="256032"/>
          </a:xfrm>
          <a:prstGeom prst="rect">
            <a:avLst/>
          </a:prstGeom>
          <a:noFill/>
        </p:spPr>
        <p:txBody>
          <a:bodyPr wrap="square" anchor="ctr">
            <a:spAutoFit/>
          </a:bodyPr>
          <a:lstStyle/>
          <a:p>
            <a:pPr algn="r">
              <a:spcAft>
                <a:spcPts val="500"/>
              </a:spcAft>
            </a:pPr>
            <a:r>
              <a:rPr sz="900" b="1">
                <a:solidFill>
                  <a:srgbClr val="1E8E7E"/>
                </a:solidFill>
                <a:latin typeface="Aptos"/>
              </a:rPr>
              <a:t>PAIRED ENGINEERING</a:t>
            </a:r>
          </a:p>
        </p:txBody>
      </p:sp>
      <p:sp>
        <p:nvSpPr>
          <p:cNvPr id="9" name="TextBox 8"/>
          <p:cNvSpPr txBox="1"/>
          <p:nvPr/>
        </p:nvSpPr>
        <p:spPr>
          <a:xfrm>
            <a:off x="822960" y="6126480"/>
            <a:ext cx="9144000" cy="219456"/>
          </a:xfrm>
          <a:prstGeom prst="rect">
            <a:avLst/>
          </a:prstGeom>
          <a:noFill/>
        </p:spPr>
        <p:txBody>
          <a:bodyPr wrap="square" anchor="ctr">
            <a:spAutoFit/>
          </a:bodyPr>
          <a:lstStyle/>
          <a:p>
            <a:pPr algn="l">
              <a:spcAft>
                <a:spcPts val="500"/>
              </a:spcAft>
            </a:pPr>
            <a:r>
              <a:rPr sz="1000" b="0">
                <a:solidFill>
                  <a:srgbClr val="687683"/>
                </a:solidFill>
                <a:latin typeface="Aptos"/>
              </a:rPr>
              <a:t>Paired Engineering. A practical delivery model for AI-enabled software teams.</a:t>
            </a:r>
          </a:p>
        </p:txBody>
      </p:sp>
      <p:sp>
        <p:nvSpPr>
          <p:cNvPr id="10" name="TextBox 9"/>
          <p:cNvSpPr txBox="1"/>
          <p:nvPr/>
        </p:nvSpPr>
        <p:spPr>
          <a:xfrm>
            <a:off x="10881360" y="6144768"/>
            <a:ext cx="411480" cy="201168"/>
          </a:xfrm>
          <a:prstGeom prst="rect">
            <a:avLst/>
          </a:prstGeom>
          <a:noFill/>
        </p:spPr>
        <p:txBody>
          <a:bodyPr wrap="square" anchor="ctr">
            <a:spAutoFit/>
          </a:bodyPr>
          <a:lstStyle/>
          <a:p>
            <a:pPr algn="r">
              <a:spcAft>
                <a:spcPts val="500"/>
              </a:spcAft>
            </a:pPr>
            <a:r>
              <a:rPr sz="1000" b="0">
                <a:solidFill>
                  <a:srgbClr val="687683"/>
                </a:solidFill>
                <a:latin typeface="Aptos"/>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6F2EA"/>
        </a:solidFill>
        <a:effectLst/>
      </p:bgPr>
    </p:bg>
    <p:spTree>
      <p:nvGrpSpPr>
        <p:cNvPr id="1" name=""/>
        <p:cNvGrpSpPr/>
        <p:nvPr/>
      </p:nvGrpSpPr>
      <p:grpSpPr/>
      <p:sp>
        <p:nvSpPr>
          <p:cNvPr id="2" name="Title 1"/>
          <p:cNvSpPr>
            <a:spLocks noGrp="1"/>
          </p:cNvSpPr>
          <p:nvPr>
            <p:ph type="title"/>
          </p:nvPr>
        </p:nvSpPr>
        <p:spPr>
          <a:xfrm>
            <a:off x="822960" y="512064"/>
            <a:ext cx="10058400" cy="914400"/>
          </a:xfrm>
        </p:spPr>
        <p:txBody>
          <a:bodyPr/>
          <a:lstStyle/>
          <a:p>
            <a:pPr algn="l">
              <a:spcAft>
                <a:spcPts val="500"/>
              </a:spcAft>
            </a:pPr>
            <a:r>
              <a:rPr sz="2400" b="1">
                <a:solidFill>
                  <a:srgbClr val="22313F"/>
                </a:solidFill>
                <a:latin typeface="Aptos Display"/>
              </a:rPr>
              <a:t>Shallow rollout damages both the lower rungs and the senior layer above them.</a:t>
            </a:r>
          </a:p>
        </p:txBody>
      </p:sp>
      <p:sp>
        <p:nvSpPr>
          <p:cNvPr id="4" name="Rectangle 3"/>
          <p:cNvSpPr/>
          <p:nvPr/>
        </p:nvSpPr>
        <p:spPr>
          <a:xfrm>
            <a:off x="0" y="0"/>
            <a:ext cx="12191695" cy="219456"/>
          </a:xfrm>
          <a:prstGeom prst="rect">
            <a:avLst/>
          </a:prstGeom>
          <a:solidFill>
            <a:srgbClr val="1E8E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04672" y="1225296"/>
            <a:ext cx="1737360" cy="54864"/>
          </a:xfrm>
          <a:prstGeom prst="rect">
            <a:avLst/>
          </a:prstGeom>
          <a:solidFill>
            <a:srgbClr val="D79A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6601968"/>
            <a:ext cx="12191695" cy="18288"/>
          </a:xfrm>
          <a:prstGeom prst="rect">
            <a:avLst/>
          </a:prstGeom>
          <a:solidFill>
            <a:srgbClr val="D8D1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627632"/>
            <a:ext cx="10378440" cy="4343400"/>
          </a:xfrm>
          <a:prstGeom prst="rect">
            <a:avLst/>
          </a:prstGeom>
          <a:noFill/>
        </p:spPr>
        <p:txBody>
          <a:bodyPr wrap="square" anchor="t">
            <a:spAutoFit/>
          </a:bodyPr>
          <a:lstStyle/>
          <a:p>
            <a:pPr algn="l" marL="254000" indent="0">
              <a:lnSpc>
                <a:spcPct val="108000"/>
              </a:lnSpc>
              <a:spcBef>
                <a:spcPts val="0"/>
              </a:spcBef>
              <a:spcAft>
                <a:spcPts val="700"/>
              </a:spcAft>
              <a:buNone/>
              <a:defRPr sz="2000" b="0">
                <a:solidFill>
                  <a:srgbClr val="22313F"/>
                </a:solidFill>
                <a:latin typeface="Aptos"/>
              </a:defRPr>
            </a:pPr>
            <a:r>
              <a:t>- junior and intermediate engineers still need progressive responsibility</a:t>
            </a:r>
          </a:p>
          <a:p>
            <a:pPr algn="l" marL="254000" indent="0">
              <a:lnSpc>
                <a:spcPct val="108000"/>
              </a:lnSpc>
              <a:spcBef>
                <a:spcPts val="0"/>
              </a:spcBef>
              <a:spcAft>
                <a:spcPts val="700"/>
              </a:spcAft>
              <a:buNone/>
              <a:defRPr sz="2000" b="0">
                <a:solidFill>
                  <a:srgbClr val="22313F"/>
                </a:solidFill>
                <a:latin typeface="Aptos"/>
              </a:defRPr>
            </a:pPr>
            <a:r>
              <a:t>- co-ops and junior engineers can absorb bounded, learning-rich work that helps build future independent capacity</a:t>
            </a:r>
          </a:p>
          <a:p>
            <a:pPr algn="l" marL="254000" indent="0">
              <a:lnSpc>
                <a:spcPct val="108000"/>
              </a:lnSpc>
              <a:spcBef>
                <a:spcPts val="0"/>
              </a:spcBef>
              <a:spcAft>
                <a:spcPts val="700"/>
              </a:spcAft>
              <a:buNone/>
              <a:defRPr sz="2000" b="0">
                <a:solidFill>
                  <a:srgbClr val="22313F"/>
                </a:solidFill>
                <a:latin typeface="Aptos"/>
              </a:defRPr>
            </a:pPr>
            <a:r>
              <a:t>- removing learning-rich work can weaken the future pipeline and make hiring more brittle later</a:t>
            </a:r>
          </a:p>
          <a:p>
            <a:pPr algn="l" marL="254000" indent="0">
              <a:lnSpc>
                <a:spcPct val="108000"/>
              </a:lnSpc>
              <a:spcBef>
                <a:spcPts val="0"/>
              </a:spcBef>
              <a:spcAft>
                <a:spcPts val="700"/>
              </a:spcAft>
              <a:buNone/>
              <a:defRPr sz="2000" b="0">
                <a:solidFill>
                  <a:srgbClr val="22313F"/>
                </a:solidFill>
                <a:latin typeface="Aptos"/>
              </a:defRPr>
            </a:pPr>
            <a:r>
              <a:t>- pushing ambiguous review and cleanup upward can overload senior engineers</a:t>
            </a:r>
          </a:p>
          <a:p>
            <a:pPr algn="l" marL="254000" indent="0">
              <a:lnSpc>
                <a:spcPct val="108000"/>
              </a:lnSpc>
              <a:spcBef>
                <a:spcPts val="0"/>
              </a:spcBef>
              <a:spcAft>
                <a:spcPts val="700"/>
              </a:spcAft>
              <a:buNone/>
              <a:defRPr sz="2000" b="0">
                <a:solidFill>
                  <a:srgbClr val="22313F"/>
                </a:solidFill>
                <a:latin typeface="Aptos"/>
              </a:defRPr>
            </a:pPr>
            <a:r>
              <a:t>- this is a team-design problem, not only a hiring-market problem</a:t>
            </a:r>
          </a:p>
        </p:txBody>
      </p:sp>
      <p:sp>
        <p:nvSpPr>
          <p:cNvPr id="8" name="TextBox 7"/>
          <p:cNvSpPr txBox="1"/>
          <p:nvPr/>
        </p:nvSpPr>
        <p:spPr>
          <a:xfrm>
            <a:off x="10012680" y="530352"/>
            <a:ext cx="1234440" cy="256032"/>
          </a:xfrm>
          <a:prstGeom prst="rect">
            <a:avLst/>
          </a:prstGeom>
          <a:noFill/>
        </p:spPr>
        <p:txBody>
          <a:bodyPr wrap="square" anchor="ctr">
            <a:spAutoFit/>
          </a:bodyPr>
          <a:lstStyle/>
          <a:p>
            <a:pPr algn="r">
              <a:spcAft>
                <a:spcPts val="500"/>
              </a:spcAft>
            </a:pPr>
            <a:r>
              <a:rPr sz="900" b="1">
                <a:solidFill>
                  <a:srgbClr val="1E8E7E"/>
                </a:solidFill>
                <a:latin typeface="Aptos"/>
              </a:rPr>
              <a:t>PAIRED ENGINEERING</a:t>
            </a:r>
          </a:p>
        </p:txBody>
      </p:sp>
      <p:sp>
        <p:nvSpPr>
          <p:cNvPr id="9" name="TextBox 8"/>
          <p:cNvSpPr txBox="1"/>
          <p:nvPr/>
        </p:nvSpPr>
        <p:spPr>
          <a:xfrm>
            <a:off x="822960" y="6126480"/>
            <a:ext cx="9144000" cy="219456"/>
          </a:xfrm>
          <a:prstGeom prst="rect">
            <a:avLst/>
          </a:prstGeom>
          <a:noFill/>
        </p:spPr>
        <p:txBody>
          <a:bodyPr wrap="square" anchor="ctr">
            <a:spAutoFit/>
          </a:bodyPr>
          <a:lstStyle/>
          <a:p>
            <a:pPr algn="l">
              <a:spcAft>
                <a:spcPts val="500"/>
              </a:spcAft>
            </a:pPr>
            <a:r>
              <a:rPr sz="1000" b="0">
                <a:solidFill>
                  <a:srgbClr val="687683"/>
                </a:solidFill>
                <a:latin typeface="Aptos"/>
              </a:rPr>
              <a:t>Paired Engineering. A practical delivery model for AI-enabled software teams.</a:t>
            </a:r>
          </a:p>
        </p:txBody>
      </p:sp>
      <p:sp>
        <p:nvSpPr>
          <p:cNvPr id="10" name="TextBox 9"/>
          <p:cNvSpPr txBox="1"/>
          <p:nvPr/>
        </p:nvSpPr>
        <p:spPr>
          <a:xfrm>
            <a:off x="10881360" y="6144768"/>
            <a:ext cx="411480" cy="201168"/>
          </a:xfrm>
          <a:prstGeom prst="rect">
            <a:avLst/>
          </a:prstGeom>
          <a:noFill/>
        </p:spPr>
        <p:txBody>
          <a:bodyPr wrap="square" anchor="ctr">
            <a:spAutoFit/>
          </a:bodyPr>
          <a:lstStyle/>
          <a:p>
            <a:pPr algn="r">
              <a:spcAft>
                <a:spcPts val="500"/>
              </a:spcAft>
            </a:pPr>
            <a:r>
              <a:rPr sz="1000" b="0">
                <a:solidFill>
                  <a:srgbClr val="687683"/>
                </a:solidFill>
                <a:latin typeface="Aptos"/>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6F2EA"/>
        </a:solidFill>
        <a:effectLst/>
      </p:bgPr>
    </p:bg>
    <p:spTree>
      <p:nvGrpSpPr>
        <p:cNvPr id="1" name=""/>
        <p:cNvGrpSpPr/>
        <p:nvPr/>
      </p:nvGrpSpPr>
      <p:grpSpPr/>
      <p:sp>
        <p:nvSpPr>
          <p:cNvPr id="2" name="Title 1"/>
          <p:cNvSpPr>
            <a:spLocks noGrp="1"/>
          </p:cNvSpPr>
          <p:nvPr>
            <p:ph type="title"/>
          </p:nvPr>
        </p:nvSpPr>
        <p:spPr>
          <a:xfrm>
            <a:off x="822960" y="512064"/>
            <a:ext cx="10058400" cy="914400"/>
          </a:xfrm>
        </p:spPr>
        <p:txBody>
          <a:bodyPr/>
          <a:lstStyle/>
          <a:p>
            <a:pPr algn="l">
              <a:spcAft>
                <a:spcPts val="500"/>
              </a:spcAft>
            </a:pPr>
            <a:r>
              <a:rPr sz="2400" b="1">
                <a:solidFill>
                  <a:srgbClr val="22313F"/>
                </a:solidFill>
                <a:latin typeface="Aptos Display"/>
              </a:rPr>
              <a:t>Managers need quality signals, not just activity signals.</a:t>
            </a:r>
          </a:p>
        </p:txBody>
      </p:sp>
      <p:sp>
        <p:nvSpPr>
          <p:cNvPr id="4" name="Rectangle 3"/>
          <p:cNvSpPr/>
          <p:nvPr/>
        </p:nvSpPr>
        <p:spPr>
          <a:xfrm>
            <a:off x="0" y="0"/>
            <a:ext cx="12191695" cy="219456"/>
          </a:xfrm>
          <a:prstGeom prst="rect">
            <a:avLst/>
          </a:prstGeom>
          <a:solidFill>
            <a:srgbClr val="1E8E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04672" y="1225296"/>
            <a:ext cx="1737360" cy="54864"/>
          </a:xfrm>
          <a:prstGeom prst="rect">
            <a:avLst/>
          </a:prstGeom>
          <a:solidFill>
            <a:srgbClr val="D79A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6601968"/>
            <a:ext cx="12191695" cy="18288"/>
          </a:xfrm>
          <a:prstGeom prst="rect">
            <a:avLst/>
          </a:prstGeom>
          <a:solidFill>
            <a:srgbClr val="D8D1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627632"/>
            <a:ext cx="10378440" cy="4343400"/>
          </a:xfrm>
          <a:prstGeom prst="rect">
            <a:avLst/>
          </a:prstGeom>
          <a:noFill/>
        </p:spPr>
        <p:txBody>
          <a:bodyPr wrap="square" anchor="t">
            <a:spAutoFit/>
          </a:bodyPr>
          <a:lstStyle/>
          <a:p>
            <a:pPr algn="l" marL="0" indent="0">
              <a:lnSpc>
                <a:spcPct val="108000"/>
              </a:lnSpc>
              <a:spcBef>
                <a:spcPts val="0"/>
              </a:spcBef>
              <a:spcAft>
                <a:spcPts val="1000"/>
              </a:spcAft>
              <a:buNone/>
              <a:defRPr sz="2000" b="0">
                <a:solidFill>
                  <a:srgbClr val="22313F"/>
                </a:solidFill>
                <a:latin typeface="Aptos"/>
              </a:defRPr>
            </a:pPr>
            <a:r>
              <a:t>Track:</a:t>
            </a:r>
          </a:p>
          <a:p>
            <a:pPr algn="l" marL="457200" indent="0">
              <a:lnSpc>
                <a:spcPct val="108000"/>
              </a:lnSpc>
              <a:spcBef>
                <a:spcPts val="0"/>
              </a:spcBef>
              <a:spcAft>
                <a:spcPts val="700"/>
              </a:spcAft>
              <a:buNone/>
              <a:defRPr sz="2000" b="0">
                <a:solidFill>
                  <a:srgbClr val="22313F"/>
                </a:solidFill>
                <a:latin typeface="Aptos"/>
              </a:defRPr>
            </a:pPr>
            <a:r>
              <a:t>- workflow outcome quality</a:t>
            </a:r>
          </a:p>
          <a:p>
            <a:pPr algn="l" marL="457200" indent="0">
              <a:lnSpc>
                <a:spcPct val="108000"/>
              </a:lnSpc>
              <a:spcBef>
                <a:spcPts val="0"/>
              </a:spcBef>
              <a:spcAft>
                <a:spcPts val="700"/>
              </a:spcAft>
              <a:buNone/>
              <a:defRPr sz="2000" b="0">
                <a:solidFill>
                  <a:srgbClr val="22313F"/>
                </a:solidFill>
                <a:latin typeface="Aptos"/>
              </a:defRPr>
            </a:pPr>
            <a:r>
              <a:t>- downstream rework</a:t>
            </a:r>
          </a:p>
          <a:p>
            <a:pPr algn="l" marL="457200" indent="0">
              <a:lnSpc>
                <a:spcPct val="108000"/>
              </a:lnSpc>
              <a:spcBef>
                <a:spcPts val="0"/>
              </a:spcBef>
              <a:spcAft>
                <a:spcPts val="700"/>
              </a:spcAft>
              <a:buNone/>
              <a:defRPr sz="2000" b="0">
                <a:solidFill>
                  <a:srgbClr val="22313F"/>
                </a:solidFill>
                <a:latin typeface="Aptos"/>
              </a:defRPr>
            </a:pPr>
            <a:r>
              <a:t>- review burden</a:t>
            </a:r>
          </a:p>
          <a:p>
            <a:pPr algn="l" marL="457200" indent="0">
              <a:lnSpc>
                <a:spcPct val="108000"/>
              </a:lnSpc>
              <a:spcBef>
                <a:spcPts val="0"/>
              </a:spcBef>
              <a:spcAft>
                <a:spcPts val="700"/>
              </a:spcAft>
              <a:buNone/>
              <a:defRPr sz="2000" b="0">
                <a:solidFill>
                  <a:srgbClr val="22313F"/>
                </a:solidFill>
                <a:latin typeface="Aptos"/>
              </a:defRPr>
            </a:pPr>
            <a:r>
              <a:t>- adoption quality</a:t>
            </a:r>
          </a:p>
          <a:p>
            <a:pPr algn="l" marL="457200" indent="0">
              <a:lnSpc>
                <a:spcPct val="108000"/>
              </a:lnSpc>
              <a:spcBef>
                <a:spcPts val="0"/>
              </a:spcBef>
              <a:spcAft>
                <a:spcPts val="700"/>
              </a:spcAft>
              <a:buNone/>
              <a:defRPr sz="2000" b="0">
                <a:solidFill>
                  <a:srgbClr val="22313F"/>
                </a:solidFill>
                <a:latin typeface="Aptos"/>
              </a:defRPr>
            </a:pPr>
            <a:r>
              <a:t>- explanation and verification ability in sampled cases</a:t>
            </a:r>
          </a:p>
        </p:txBody>
      </p:sp>
      <p:sp>
        <p:nvSpPr>
          <p:cNvPr id="8" name="TextBox 7"/>
          <p:cNvSpPr txBox="1"/>
          <p:nvPr/>
        </p:nvSpPr>
        <p:spPr>
          <a:xfrm>
            <a:off x="10012680" y="530352"/>
            <a:ext cx="1234440" cy="256032"/>
          </a:xfrm>
          <a:prstGeom prst="rect">
            <a:avLst/>
          </a:prstGeom>
          <a:noFill/>
        </p:spPr>
        <p:txBody>
          <a:bodyPr wrap="square" anchor="ctr">
            <a:spAutoFit/>
          </a:bodyPr>
          <a:lstStyle/>
          <a:p>
            <a:pPr algn="r">
              <a:spcAft>
                <a:spcPts val="500"/>
              </a:spcAft>
            </a:pPr>
            <a:r>
              <a:rPr sz="900" b="1">
                <a:solidFill>
                  <a:srgbClr val="1E8E7E"/>
                </a:solidFill>
                <a:latin typeface="Aptos"/>
              </a:rPr>
              <a:t>PAIRED ENGINEERING</a:t>
            </a:r>
          </a:p>
        </p:txBody>
      </p:sp>
      <p:sp>
        <p:nvSpPr>
          <p:cNvPr id="9" name="TextBox 8"/>
          <p:cNvSpPr txBox="1"/>
          <p:nvPr/>
        </p:nvSpPr>
        <p:spPr>
          <a:xfrm>
            <a:off x="822960" y="6126480"/>
            <a:ext cx="9144000" cy="219456"/>
          </a:xfrm>
          <a:prstGeom prst="rect">
            <a:avLst/>
          </a:prstGeom>
          <a:noFill/>
        </p:spPr>
        <p:txBody>
          <a:bodyPr wrap="square" anchor="ctr">
            <a:spAutoFit/>
          </a:bodyPr>
          <a:lstStyle/>
          <a:p>
            <a:pPr algn="l">
              <a:spcAft>
                <a:spcPts val="500"/>
              </a:spcAft>
            </a:pPr>
            <a:r>
              <a:rPr sz="1000" b="0">
                <a:solidFill>
                  <a:srgbClr val="687683"/>
                </a:solidFill>
                <a:latin typeface="Aptos"/>
              </a:rPr>
              <a:t>Paired Engineering. A practical delivery model for AI-enabled software teams.</a:t>
            </a:r>
          </a:p>
        </p:txBody>
      </p:sp>
      <p:sp>
        <p:nvSpPr>
          <p:cNvPr id="10" name="TextBox 9"/>
          <p:cNvSpPr txBox="1"/>
          <p:nvPr/>
        </p:nvSpPr>
        <p:spPr>
          <a:xfrm>
            <a:off x="10881360" y="6144768"/>
            <a:ext cx="411480" cy="201168"/>
          </a:xfrm>
          <a:prstGeom prst="rect">
            <a:avLst/>
          </a:prstGeom>
          <a:noFill/>
        </p:spPr>
        <p:txBody>
          <a:bodyPr wrap="square" anchor="ctr">
            <a:spAutoFit/>
          </a:bodyPr>
          <a:lstStyle/>
          <a:p>
            <a:pPr algn="r">
              <a:spcAft>
                <a:spcPts val="500"/>
              </a:spcAft>
            </a:pPr>
            <a:r>
              <a:rPr sz="1000" b="0">
                <a:solidFill>
                  <a:srgbClr val="687683"/>
                </a:solidFill>
                <a:latin typeface="Aptos"/>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6F2EA"/>
        </a:solidFill>
        <a:effectLst/>
      </p:bgPr>
    </p:bg>
    <p:spTree>
      <p:nvGrpSpPr>
        <p:cNvPr id="1" name=""/>
        <p:cNvGrpSpPr/>
        <p:nvPr/>
      </p:nvGrpSpPr>
      <p:grpSpPr/>
      <p:sp>
        <p:nvSpPr>
          <p:cNvPr id="2" name="Title 1"/>
          <p:cNvSpPr>
            <a:spLocks noGrp="1"/>
          </p:cNvSpPr>
          <p:nvPr>
            <p:ph type="title"/>
          </p:nvPr>
        </p:nvSpPr>
        <p:spPr>
          <a:xfrm>
            <a:off x="822960" y="512064"/>
            <a:ext cx="10058400" cy="914400"/>
          </a:xfrm>
        </p:spPr>
        <p:txBody>
          <a:bodyPr/>
          <a:lstStyle/>
          <a:p>
            <a:pPr algn="l">
              <a:spcAft>
                <a:spcPts val="500"/>
              </a:spcAft>
            </a:pPr>
            <a:r>
              <a:rPr sz="2400" b="1">
                <a:solidFill>
                  <a:srgbClr val="22313F"/>
                </a:solidFill>
                <a:latin typeface="Aptos Display"/>
              </a:rPr>
              <a:t>A few better questions surface early signals.</a:t>
            </a:r>
          </a:p>
        </p:txBody>
      </p:sp>
      <p:sp>
        <p:nvSpPr>
          <p:cNvPr id="4" name="Rectangle 3"/>
          <p:cNvSpPr/>
          <p:nvPr/>
        </p:nvSpPr>
        <p:spPr>
          <a:xfrm>
            <a:off x="0" y="0"/>
            <a:ext cx="12191695" cy="219456"/>
          </a:xfrm>
          <a:prstGeom prst="rect">
            <a:avLst/>
          </a:prstGeom>
          <a:solidFill>
            <a:srgbClr val="1E8E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04672" y="1225296"/>
            <a:ext cx="1737360" cy="54864"/>
          </a:xfrm>
          <a:prstGeom prst="rect">
            <a:avLst/>
          </a:prstGeom>
          <a:solidFill>
            <a:srgbClr val="D79A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6601968"/>
            <a:ext cx="12191695" cy="18288"/>
          </a:xfrm>
          <a:prstGeom prst="rect">
            <a:avLst/>
          </a:prstGeom>
          <a:solidFill>
            <a:srgbClr val="D8D1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627632"/>
            <a:ext cx="10378440" cy="4343400"/>
          </a:xfrm>
          <a:prstGeom prst="rect">
            <a:avLst/>
          </a:prstGeom>
          <a:noFill/>
        </p:spPr>
        <p:txBody>
          <a:bodyPr wrap="square" anchor="t">
            <a:spAutoFit/>
          </a:bodyPr>
          <a:lstStyle/>
          <a:p>
            <a:pPr algn="l" marL="254000" indent="0">
              <a:lnSpc>
                <a:spcPct val="108000"/>
              </a:lnSpc>
              <a:spcBef>
                <a:spcPts val="0"/>
              </a:spcBef>
              <a:spcAft>
                <a:spcPts val="700"/>
              </a:spcAft>
              <a:buNone/>
              <a:defRPr sz="2000" b="0">
                <a:solidFill>
                  <a:srgbClr val="22313F"/>
                </a:solidFill>
                <a:latin typeface="Aptos"/>
              </a:defRPr>
            </a:pPr>
            <a:r>
              <a:t>- where did AI help this week</a:t>
            </a:r>
          </a:p>
          <a:p>
            <a:pPr algn="l" marL="254000" indent="0">
              <a:lnSpc>
                <a:spcPct val="108000"/>
              </a:lnSpc>
              <a:spcBef>
                <a:spcPts val="0"/>
              </a:spcBef>
              <a:spcAft>
                <a:spcPts val="700"/>
              </a:spcAft>
              <a:buNone/>
              <a:defRPr sz="2000" b="0">
                <a:solidFill>
                  <a:srgbClr val="22313F"/>
                </a:solidFill>
                <a:latin typeface="Aptos"/>
              </a:defRPr>
            </a:pPr>
            <a:r>
              <a:t>- where did something feel off, heavier, or less trustworthy than expected</a:t>
            </a:r>
          </a:p>
          <a:p>
            <a:pPr algn="l" marL="254000" indent="0">
              <a:lnSpc>
                <a:spcPct val="108000"/>
              </a:lnSpc>
              <a:spcBef>
                <a:spcPts val="0"/>
              </a:spcBef>
              <a:spcAft>
                <a:spcPts val="700"/>
              </a:spcAft>
              <a:buNone/>
              <a:defRPr sz="2000" b="0">
                <a:solidFill>
                  <a:srgbClr val="22313F"/>
                </a:solidFill>
                <a:latin typeface="Aptos"/>
              </a:defRPr>
            </a:pPr>
            <a:r>
              <a:t>- where was verification hard</a:t>
            </a:r>
          </a:p>
          <a:p>
            <a:pPr algn="l" marL="254000" indent="0">
              <a:lnSpc>
                <a:spcPct val="108000"/>
              </a:lnSpc>
              <a:spcBef>
                <a:spcPts val="0"/>
              </a:spcBef>
              <a:spcAft>
                <a:spcPts val="700"/>
              </a:spcAft>
              <a:buNone/>
              <a:defRPr sz="2000" b="0">
                <a:solidFill>
                  <a:srgbClr val="22313F"/>
                </a:solidFill>
                <a:latin typeface="Aptos"/>
              </a:defRPr>
            </a:pPr>
            <a:r>
              <a:t>- where did cleanup increase</a:t>
            </a:r>
          </a:p>
          <a:p>
            <a:pPr algn="l" marL="254000" indent="0">
              <a:lnSpc>
                <a:spcPct val="108000"/>
              </a:lnSpc>
              <a:spcBef>
                <a:spcPts val="0"/>
              </a:spcBef>
              <a:spcAft>
                <a:spcPts val="700"/>
              </a:spcAft>
              <a:buNone/>
              <a:defRPr sz="2000" b="0">
                <a:solidFill>
                  <a:srgbClr val="22313F"/>
                </a:solidFill>
                <a:latin typeface="Aptos"/>
              </a:defRPr>
            </a:pPr>
            <a:r>
              <a:t>- who needs more explanation-first support</a:t>
            </a:r>
          </a:p>
        </p:txBody>
      </p:sp>
      <p:sp>
        <p:nvSpPr>
          <p:cNvPr id="8" name="TextBox 7"/>
          <p:cNvSpPr txBox="1"/>
          <p:nvPr/>
        </p:nvSpPr>
        <p:spPr>
          <a:xfrm>
            <a:off x="10012680" y="530352"/>
            <a:ext cx="1234440" cy="256032"/>
          </a:xfrm>
          <a:prstGeom prst="rect">
            <a:avLst/>
          </a:prstGeom>
          <a:noFill/>
        </p:spPr>
        <p:txBody>
          <a:bodyPr wrap="square" anchor="ctr">
            <a:spAutoFit/>
          </a:bodyPr>
          <a:lstStyle/>
          <a:p>
            <a:pPr algn="r">
              <a:spcAft>
                <a:spcPts val="500"/>
              </a:spcAft>
            </a:pPr>
            <a:r>
              <a:rPr sz="900" b="1">
                <a:solidFill>
                  <a:srgbClr val="1E8E7E"/>
                </a:solidFill>
                <a:latin typeface="Aptos"/>
              </a:rPr>
              <a:t>PAIRED ENGINEERING</a:t>
            </a:r>
          </a:p>
        </p:txBody>
      </p:sp>
      <p:sp>
        <p:nvSpPr>
          <p:cNvPr id="9" name="TextBox 8"/>
          <p:cNvSpPr txBox="1"/>
          <p:nvPr/>
        </p:nvSpPr>
        <p:spPr>
          <a:xfrm>
            <a:off x="822960" y="6126480"/>
            <a:ext cx="9144000" cy="219456"/>
          </a:xfrm>
          <a:prstGeom prst="rect">
            <a:avLst/>
          </a:prstGeom>
          <a:noFill/>
        </p:spPr>
        <p:txBody>
          <a:bodyPr wrap="square" anchor="ctr">
            <a:spAutoFit/>
          </a:bodyPr>
          <a:lstStyle/>
          <a:p>
            <a:pPr algn="l">
              <a:spcAft>
                <a:spcPts val="500"/>
              </a:spcAft>
            </a:pPr>
            <a:r>
              <a:rPr sz="1000" b="0">
                <a:solidFill>
                  <a:srgbClr val="687683"/>
                </a:solidFill>
                <a:latin typeface="Aptos"/>
              </a:rPr>
              <a:t>Paired Engineering. A practical delivery model for AI-enabled software teams.</a:t>
            </a:r>
          </a:p>
        </p:txBody>
      </p:sp>
      <p:sp>
        <p:nvSpPr>
          <p:cNvPr id="10" name="TextBox 9"/>
          <p:cNvSpPr txBox="1"/>
          <p:nvPr/>
        </p:nvSpPr>
        <p:spPr>
          <a:xfrm>
            <a:off x="10881360" y="6144768"/>
            <a:ext cx="411480" cy="201168"/>
          </a:xfrm>
          <a:prstGeom prst="rect">
            <a:avLst/>
          </a:prstGeom>
          <a:noFill/>
        </p:spPr>
        <p:txBody>
          <a:bodyPr wrap="square" anchor="ctr">
            <a:spAutoFit/>
          </a:bodyPr>
          <a:lstStyle/>
          <a:p>
            <a:pPr algn="r">
              <a:spcAft>
                <a:spcPts val="500"/>
              </a:spcAft>
            </a:pPr>
            <a:r>
              <a:rPr sz="1000" b="0">
                <a:solidFill>
                  <a:srgbClr val="687683"/>
                </a:solidFill>
                <a:latin typeface="Aptos"/>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6F2EA"/>
        </a:solidFill>
        <a:effectLst/>
      </p:bgPr>
    </p:bg>
    <p:spTree>
      <p:nvGrpSpPr>
        <p:cNvPr id="1" name=""/>
        <p:cNvGrpSpPr/>
        <p:nvPr/>
      </p:nvGrpSpPr>
      <p:grpSpPr/>
      <p:sp>
        <p:nvSpPr>
          <p:cNvPr id="2" name="Title 1"/>
          <p:cNvSpPr>
            <a:spLocks noGrp="1"/>
          </p:cNvSpPr>
          <p:nvPr>
            <p:ph type="title"/>
          </p:nvPr>
        </p:nvSpPr>
        <p:spPr>
          <a:xfrm>
            <a:off x="822960" y="512064"/>
            <a:ext cx="10058400" cy="914400"/>
          </a:xfrm>
        </p:spPr>
        <p:txBody>
          <a:bodyPr/>
          <a:lstStyle/>
          <a:p>
            <a:pPr algn="l">
              <a:spcAft>
                <a:spcPts val="500"/>
              </a:spcAft>
            </a:pPr>
            <a:r>
              <a:rPr sz="2400" b="1">
                <a:solidFill>
                  <a:srgbClr val="22313F"/>
                </a:solidFill>
                <a:latin typeface="Aptos Display"/>
              </a:rPr>
              <a:t>Manager language shapes team behavior.</a:t>
            </a:r>
          </a:p>
        </p:txBody>
      </p:sp>
      <p:sp>
        <p:nvSpPr>
          <p:cNvPr id="4" name="Rectangle 3"/>
          <p:cNvSpPr/>
          <p:nvPr/>
        </p:nvSpPr>
        <p:spPr>
          <a:xfrm>
            <a:off x="0" y="0"/>
            <a:ext cx="12191695" cy="219456"/>
          </a:xfrm>
          <a:prstGeom prst="rect">
            <a:avLst/>
          </a:prstGeom>
          <a:solidFill>
            <a:srgbClr val="1E8E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04672" y="1225296"/>
            <a:ext cx="1737360" cy="54864"/>
          </a:xfrm>
          <a:prstGeom prst="rect">
            <a:avLst/>
          </a:prstGeom>
          <a:solidFill>
            <a:srgbClr val="D79A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6601968"/>
            <a:ext cx="12191695" cy="18288"/>
          </a:xfrm>
          <a:prstGeom prst="rect">
            <a:avLst/>
          </a:prstGeom>
          <a:solidFill>
            <a:srgbClr val="D8D1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627632"/>
            <a:ext cx="10378440" cy="4343400"/>
          </a:xfrm>
          <a:prstGeom prst="rect">
            <a:avLst/>
          </a:prstGeom>
          <a:noFill/>
        </p:spPr>
        <p:txBody>
          <a:bodyPr wrap="square" anchor="t">
            <a:spAutoFit/>
          </a:bodyPr>
          <a:lstStyle/>
          <a:p>
            <a:pPr algn="l" marL="0" indent="0">
              <a:lnSpc>
                <a:spcPct val="108000"/>
              </a:lnSpc>
              <a:spcBef>
                <a:spcPts val="0"/>
              </a:spcBef>
              <a:spcAft>
                <a:spcPts val="1000"/>
              </a:spcAft>
              <a:buNone/>
              <a:defRPr sz="2000" b="0">
                <a:solidFill>
                  <a:srgbClr val="22313F"/>
                </a:solidFill>
                <a:latin typeface="Aptos"/>
              </a:defRPr>
            </a:pPr>
            <a:r>
              <a:t>Helpful:</a:t>
            </a:r>
          </a:p>
          <a:p>
            <a:pPr algn="l" marL="457200" indent="0">
              <a:lnSpc>
                <a:spcPct val="108000"/>
              </a:lnSpc>
              <a:spcBef>
                <a:spcPts val="0"/>
              </a:spcBef>
              <a:spcAft>
                <a:spcPts val="700"/>
              </a:spcAft>
              <a:buNone/>
              <a:defRPr sz="2000" b="0">
                <a:solidFill>
                  <a:srgbClr val="22313F"/>
                </a:solidFill>
                <a:latin typeface="Aptos"/>
              </a:defRPr>
            </a:pPr>
            <a:r>
              <a:t>- show me where the workflow improved</a:t>
            </a:r>
          </a:p>
          <a:p>
            <a:pPr algn="l" marL="457200" indent="0">
              <a:lnSpc>
                <a:spcPct val="108000"/>
              </a:lnSpc>
              <a:spcBef>
                <a:spcPts val="0"/>
              </a:spcBef>
              <a:spcAft>
                <a:spcPts val="700"/>
              </a:spcAft>
              <a:buNone/>
              <a:defRPr sz="2000" b="0">
                <a:solidFill>
                  <a:srgbClr val="22313F"/>
                </a:solidFill>
                <a:latin typeface="Aptos"/>
              </a:defRPr>
            </a:pPr>
            <a:r>
              <a:t>- what did we verify and how</a:t>
            </a:r>
          </a:p>
          <a:p>
            <a:pPr algn="l" marL="457200" indent="0">
              <a:lnSpc>
                <a:spcPct val="108000"/>
              </a:lnSpc>
              <a:spcBef>
                <a:spcPts val="0"/>
              </a:spcBef>
              <a:spcAft>
                <a:spcPts val="700"/>
              </a:spcAft>
              <a:buNone/>
              <a:defRPr sz="2000" b="0">
                <a:solidFill>
                  <a:srgbClr val="22313F"/>
                </a:solidFill>
                <a:latin typeface="Aptos"/>
              </a:defRPr>
            </a:pPr>
            <a:r>
              <a:t>- where is the hidden cleanup cost</a:t>
            </a:r>
          </a:p>
          <a:p>
            <a:pPr algn="l" marL="0" indent="0">
              <a:lnSpc>
                <a:spcPct val="108000"/>
              </a:lnSpc>
              <a:spcBef>
                <a:spcPts val="0"/>
              </a:spcBef>
              <a:spcAft>
                <a:spcPts val="1000"/>
              </a:spcAft>
              <a:buNone/>
              <a:defRPr sz="2000" b="0">
                <a:solidFill>
                  <a:srgbClr val="22313F"/>
                </a:solidFill>
                <a:latin typeface="Aptos"/>
              </a:defRPr>
            </a:pPr>
            <a:r>
              <a:t>Unhelpful:</a:t>
            </a:r>
          </a:p>
          <a:p>
            <a:pPr algn="l" marL="457200" indent="0">
              <a:lnSpc>
                <a:spcPct val="108000"/>
              </a:lnSpc>
              <a:spcBef>
                <a:spcPts val="0"/>
              </a:spcBef>
              <a:spcAft>
                <a:spcPts val="700"/>
              </a:spcAft>
              <a:buNone/>
              <a:defRPr sz="2000" b="0">
                <a:solidFill>
                  <a:srgbClr val="22313F"/>
                </a:solidFill>
                <a:latin typeface="Aptos"/>
              </a:defRPr>
            </a:pPr>
            <a:r>
              <a:t>- why is usage not higher</a:t>
            </a:r>
          </a:p>
          <a:p>
            <a:pPr algn="l" marL="457200" indent="0">
              <a:lnSpc>
                <a:spcPct val="108000"/>
              </a:lnSpc>
              <a:spcBef>
                <a:spcPts val="0"/>
              </a:spcBef>
              <a:spcAft>
                <a:spcPts val="700"/>
              </a:spcAft>
              <a:buNone/>
              <a:defRPr sz="2000" b="0">
                <a:solidFill>
                  <a:srgbClr val="22313F"/>
                </a:solidFill>
                <a:latin typeface="Aptos"/>
              </a:defRPr>
            </a:pPr>
            <a:r>
              <a:t>- if AI drafted it, why is it still taking this long</a:t>
            </a:r>
          </a:p>
          <a:p>
            <a:pPr algn="l" marL="457200" indent="0">
              <a:lnSpc>
                <a:spcPct val="108000"/>
              </a:lnSpc>
              <a:spcBef>
                <a:spcPts val="0"/>
              </a:spcBef>
              <a:spcAft>
                <a:spcPts val="700"/>
              </a:spcAft>
              <a:buNone/>
              <a:defRPr sz="2000" b="0">
                <a:solidFill>
                  <a:srgbClr val="22313F"/>
                </a:solidFill>
                <a:latin typeface="Aptos"/>
              </a:defRPr>
            </a:pPr>
            <a:r>
              <a:t>- everyone should be using this the same way by now</a:t>
            </a:r>
          </a:p>
        </p:txBody>
      </p:sp>
      <p:sp>
        <p:nvSpPr>
          <p:cNvPr id="8" name="TextBox 7"/>
          <p:cNvSpPr txBox="1"/>
          <p:nvPr/>
        </p:nvSpPr>
        <p:spPr>
          <a:xfrm>
            <a:off x="10012680" y="530352"/>
            <a:ext cx="1234440" cy="256032"/>
          </a:xfrm>
          <a:prstGeom prst="rect">
            <a:avLst/>
          </a:prstGeom>
          <a:noFill/>
        </p:spPr>
        <p:txBody>
          <a:bodyPr wrap="square" anchor="ctr">
            <a:spAutoFit/>
          </a:bodyPr>
          <a:lstStyle/>
          <a:p>
            <a:pPr algn="r">
              <a:spcAft>
                <a:spcPts val="500"/>
              </a:spcAft>
            </a:pPr>
            <a:r>
              <a:rPr sz="900" b="1">
                <a:solidFill>
                  <a:srgbClr val="1E8E7E"/>
                </a:solidFill>
                <a:latin typeface="Aptos"/>
              </a:rPr>
              <a:t>PAIRED ENGINEERING</a:t>
            </a:r>
          </a:p>
        </p:txBody>
      </p:sp>
      <p:sp>
        <p:nvSpPr>
          <p:cNvPr id="9" name="TextBox 8"/>
          <p:cNvSpPr txBox="1"/>
          <p:nvPr/>
        </p:nvSpPr>
        <p:spPr>
          <a:xfrm>
            <a:off x="822960" y="6126480"/>
            <a:ext cx="9144000" cy="219456"/>
          </a:xfrm>
          <a:prstGeom prst="rect">
            <a:avLst/>
          </a:prstGeom>
          <a:noFill/>
        </p:spPr>
        <p:txBody>
          <a:bodyPr wrap="square" anchor="ctr">
            <a:spAutoFit/>
          </a:bodyPr>
          <a:lstStyle/>
          <a:p>
            <a:pPr algn="l">
              <a:spcAft>
                <a:spcPts val="500"/>
              </a:spcAft>
            </a:pPr>
            <a:r>
              <a:rPr sz="1000" b="0">
                <a:solidFill>
                  <a:srgbClr val="687683"/>
                </a:solidFill>
                <a:latin typeface="Aptos"/>
              </a:rPr>
              <a:t>Paired Engineering. A practical delivery model for AI-enabled software teams.</a:t>
            </a:r>
          </a:p>
        </p:txBody>
      </p:sp>
      <p:sp>
        <p:nvSpPr>
          <p:cNvPr id="10" name="TextBox 9"/>
          <p:cNvSpPr txBox="1"/>
          <p:nvPr/>
        </p:nvSpPr>
        <p:spPr>
          <a:xfrm>
            <a:off x="10881360" y="6144768"/>
            <a:ext cx="411480" cy="201168"/>
          </a:xfrm>
          <a:prstGeom prst="rect">
            <a:avLst/>
          </a:prstGeom>
          <a:noFill/>
        </p:spPr>
        <p:txBody>
          <a:bodyPr wrap="square" anchor="ctr">
            <a:spAutoFit/>
          </a:bodyPr>
          <a:lstStyle/>
          <a:p>
            <a:pPr algn="r">
              <a:spcAft>
                <a:spcPts val="500"/>
              </a:spcAft>
            </a:pPr>
            <a:r>
              <a:rPr sz="1000" b="0">
                <a:solidFill>
                  <a:srgbClr val="687683"/>
                </a:solidFill>
                <a:latin typeface="Aptos"/>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6F2EA"/>
        </a:solidFill>
        <a:effectLst/>
      </p:bgPr>
    </p:bg>
    <p:spTree>
      <p:nvGrpSpPr>
        <p:cNvPr id="1" name=""/>
        <p:cNvGrpSpPr/>
        <p:nvPr/>
      </p:nvGrpSpPr>
      <p:grpSpPr/>
      <p:sp>
        <p:nvSpPr>
          <p:cNvPr id="2" name="Title 1"/>
          <p:cNvSpPr>
            <a:spLocks noGrp="1"/>
          </p:cNvSpPr>
          <p:nvPr>
            <p:ph type="title"/>
          </p:nvPr>
        </p:nvSpPr>
        <p:spPr>
          <a:xfrm>
            <a:off x="822960" y="512064"/>
            <a:ext cx="10058400" cy="914400"/>
          </a:xfrm>
        </p:spPr>
        <p:txBody>
          <a:bodyPr/>
          <a:lstStyle/>
          <a:p>
            <a:pPr algn="l">
              <a:spcAft>
                <a:spcPts val="500"/>
              </a:spcAft>
            </a:pPr>
            <a:r>
              <a:rPr sz="2400" b="1">
                <a:solidFill>
                  <a:srgbClr val="22313F"/>
                </a:solidFill>
                <a:latin typeface="Aptos Display"/>
              </a:rPr>
              <a:t>Managers and technical leads own different parts of the same system.</a:t>
            </a:r>
          </a:p>
        </p:txBody>
      </p:sp>
      <p:sp>
        <p:nvSpPr>
          <p:cNvPr id="4" name="Rectangle 3"/>
          <p:cNvSpPr/>
          <p:nvPr/>
        </p:nvSpPr>
        <p:spPr>
          <a:xfrm>
            <a:off x="0" y="0"/>
            <a:ext cx="12191695" cy="219456"/>
          </a:xfrm>
          <a:prstGeom prst="rect">
            <a:avLst/>
          </a:prstGeom>
          <a:solidFill>
            <a:srgbClr val="1E8E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04672" y="1225296"/>
            <a:ext cx="1737360" cy="54864"/>
          </a:xfrm>
          <a:prstGeom prst="rect">
            <a:avLst/>
          </a:prstGeom>
          <a:solidFill>
            <a:srgbClr val="D79A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6601968"/>
            <a:ext cx="12191695" cy="18288"/>
          </a:xfrm>
          <a:prstGeom prst="rect">
            <a:avLst/>
          </a:prstGeom>
          <a:solidFill>
            <a:srgbClr val="D8D1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627632"/>
            <a:ext cx="10378440" cy="4343400"/>
          </a:xfrm>
          <a:prstGeom prst="rect">
            <a:avLst/>
          </a:prstGeom>
          <a:noFill/>
        </p:spPr>
        <p:txBody>
          <a:bodyPr wrap="square" anchor="t">
            <a:spAutoFit/>
          </a:bodyPr>
          <a:lstStyle/>
          <a:p>
            <a:pPr algn="l" marL="0" indent="0">
              <a:lnSpc>
                <a:spcPct val="108000"/>
              </a:lnSpc>
              <a:spcBef>
                <a:spcPts val="0"/>
              </a:spcBef>
              <a:spcAft>
                <a:spcPts val="1000"/>
              </a:spcAft>
              <a:buNone/>
              <a:defRPr sz="2000" b="0">
                <a:solidFill>
                  <a:srgbClr val="22313F"/>
                </a:solidFill>
                <a:latin typeface="Aptos"/>
              </a:defRPr>
            </a:pPr>
            <a:r>
              <a:t>Managers primarily own:</a:t>
            </a:r>
          </a:p>
          <a:p>
            <a:pPr algn="l" marL="457200" indent="0">
              <a:lnSpc>
                <a:spcPct val="108000"/>
              </a:lnSpc>
              <a:spcBef>
                <a:spcPts val="0"/>
              </a:spcBef>
              <a:spcAft>
                <a:spcPts val="700"/>
              </a:spcAft>
              <a:buNone/>
              <a:defRPr sz="2000" b="0">
                <a:solidFill>
                  <a:srgbClr val="22313F"/>
                </a:solidFill>
                <a:latin typeface="Aptos"/>
              </a:defRPr>
            </a:pPr>
            <a:r>
              <a:t>- time</a:t>
            </a:r>
          </a:p>
          <a:p>
            <a:pPr algn="l" marL="457200" indent="0">
              <a:lnSpc>
                <a:spcPct val="108000"/>
              </a:lnSpc>
              <a:spcBef>
                <a:spcPts val="0"/>
              </a:spcBef>
              <a:spcAft>
                <a:spcPts val="700"/>
              </a:spcAft>
              <a:buNone/>
              <a:defRPr sz="2000" b="0">
                <a:solidFill>
                  <a:srgbClr val="22313F"/>
                </a:solidFill>
                <a:latin typeface="Aptos"/>
              </a:defRPr>
            </a:pPr>
            <a:r>
              <a:t>- incentives</a:t>
            </a:r>
          </a:p>
          <a:p>
            <a:pPr algn="l" marL="457200" indent="0">
              <a:lnSpc>
                <a:spcPct val="108000"/>
              </a:lnSpc>
              <a:spcBef>
                <a:spcPts val="0"/>
              </a:spcBef>
              <a:spcAft>
                <a:spcPts val="700"/>
              </a:spcAft>
              <a:buNone/>
              <a:defRPr sz="2000" b="0">
                <a:solidFill>
                  <a:srgbClr val="22313F"/>
                </a:solidFill>
                <a:latin typeface="Aptos"/>
              </a:defRPr>
            </a:pPr>
            <a:r>
              <a:t>- team norms</a:t>
            </a:r>
          </a:p>
          <a:p>
            <a:pPr algn="l" marL="457200" indent="0">
              <a:lnSpc>
                <a:spcPct val="108000"/>
              </a:lnSpc>
              <a:spcBef>
                <a:spcPts val="0"/>
              </a:spcBef>
              <a:spcAft>
                <a:spcPts val="700"/>
              </a:spcAft>
              <a:buNone/>
              <a:defRPr sz="2000" b="0">
                <a:solidFill>
                  <a:srgbClr val="22313F"/>
                </a:solidFill>
                <a:latin typeface="Aptos"/>
              </a:defRPr>
            </a:pPr>
            <a:r>
              <a:t>- learning protection</a:t>
            </a:r>
          </a:p>
          <a:p>
            <a:pPr algn="l" marL="0" indent="0">
              <a:lnSpc>
                <a:spcPct val="108000"/>
              </a:lnSpc>
              <a:spcBef>
                <a:spcPts val="0"/>
              </a:spcBef>
              <a:spcAft>
                <a:spcPts val="1000"/>
              </a:spcAft>
              <a:buNone/>
              <a:defRPr sz="2000" b="0">
                <a:solidFill>
                  <a:srgbClr val="22313F"/>
                </a:solidFill>
                <a:latin typeface="Aptos"/>
              </a:defRPr>
            </a:pPr>
            <a:r>
              <a:t>Technical leads primarily own:</a:t>
            </a:r>
          </a:p>
          <a:p>
            <a:pPr algn="l" marL="457200" indent="0">
              <a:lnSpc>
                <a:spcPct val="108000"/>
              </a:lnSpc>
              <a:spcBef>
                <a:spcPts val="0"/>
              </a:spcBef>
              <a:spcAft>
                <a:spcPts val="700"/>
              </a:spcAft>
              <a:buNone/>
              <a:defRPr sz="2000" b="0">
                <a:solidFill>
                  <a:srgbClr val="22313F"/>
                </a:solidFill>
                <a:latin typeface="Aptos"/>
              </a:defRPr>
            </a:pPr>
            <a:r>
              <a:t>- workflow design</a:t>
            </a:r>
          </a:p>
          <a:p>
            <a:pPr algn="l" marL="457200" indent="0">
              <a:lnSpc>
                <a:spcPct val="108000"/>
              </a:lnSpc>
              <a:spcBef>
                <a:spcPts val="0"/>
              </a:spcBef>
              <a:spcAft>
                <a:spcPts val="700"/>
              </a:spcAft>
              <a:buNone/>
              <a:defRPr sz="2000" b="0">
                <a:solidFill>
                  <a:srgbClr val="22313F"/>
                </a:solidFill>
                <a:latin typeface="Aptos"/>
              </a:defRPr>
            </a:pPr>
            <a:r>
              <a:t>- verification standards</a:t>
            </a:r>
          </a:p>
          <a:p>
            <a:pPr algn="l" marL="457200" indent="0">
              <a:lnSpc>
                <a:spcPct val="108000"/>
              </a:lnSpc>
              <a:spcBef>
                <a:spcPts val="0"/>
              </a:spcBef>
              <a:spcAft>
                <a:spcPts val="700"/>
              </a:spcAft>
              <a:buNone/>
              <a:defRPr sz="2000" b="0">
                <a:solidFill>
                  <a:srgbClr val="22313F"/>
                </a:solidFill>
                <a:latin typeface="Aptos"/>
              </a:defRPr>
            </a:pPr>
            <a:r>
              <a:t>- technical examples</a:t>
            </a:r>
          </a:p>
          <a:p>
            <a:pPr algn="l" marL="457200" indent="0">
              <a:lnSpc>
                <a:spcPct val="108000"/>
              </a:lnSpc>
              <a:spcBef>
                <a:spcPts val="0"/>
              </a:spcBef>
              <a:spcAft>
                <a:spcPts val="700"/>
              </a:spcAft>
              <a:buNone/>
              <a:defRPr sz="2000" b="0">
                <a:solidFill>
                  <a:srgbClr val="22313F"/>
                </a:solidFill>
                <a:latin typeface="Aptos"/>
              </a:defRPr>
            </a:pPr>
            <a:r>
              <a:t>- review and escalation quality</a:t>
            </a:r>
          </a:p>
        </p:txBody>
      </p:sp>
      <p:sp>
        <p:nvSpPr>
          <p:cNvPr id="8" name="TextBox 7"/>
          <p:cNvSpPr txBox="1"/>
          <p:nvPr/>
        </p:nvSpPr>
        <p:spPr>
          <a:xfrm>
            <a:off x="10012680" y="530352"/>
            <a:ext cx="1234440" cy="256032"/>
          </a:xfrm>
          <a:prstGeom prst="rect">
            <a:avLst/>
          </a:prstGeom>
          <a:noFill/>
        </p:spPr>
        <p:txBody>
          <a:bodyPr wrap="square" anchor="ctr">
            <a:spAutoFit/>
          </a:bodyPr>
          <a:lstStyle/>
          <a:p>
            <a:pPr algn="r">
              <a:spcAft>
                <a:spcPts val="500"/>
              </a:spcAft>
            </a:pPr>
            <a:r>
              <a:rPr sz="900" b="1">
                <a:solidFill>
                  <a:srgbClr val="1E8E7E"/>
                </a:solidFill>
                <a:latin typeface="Aptos"/>
              </a:rPr>
              <a:t>PAIRED ENGINEERING</a:t>
            </a:r>
          </a:p>
        </p:txBody>
      </p:sp>
      <p:sp>
        <p:nvSpPr>
          <p:cNvPr id="9" name="TextBox 8"/>
          <p:cNvSpPr txBox="1"/>
          <p:nvPr/>
        </p:nvSpPr>
        <p:spPr>
          <a:xfrm>
            <a:off x="822960" y="6126480"/>
            <a:ext cx="9144000" cy="219456"/>
          </a:xfrm>
          <a:prstGeom prst="rect">
            <a:avLst/>
          </a:prstGeom>
          <a:noFill/>
        </p:spPr>
        <p:txBody>
          <a:bodyPr wrap="square" anchor="ctr">
            <a:spAutoFit/>
          </a:bodyPr>
          <a:lstStyle/>
          <a:p>
            <a:pPr algn="l">
              <a:spcAft>
                <a:spcPts val="500"/>
              </a:spcAft>
            </a:pPr>
            <a:r>
              <a:rPr sz="1000" b="0">
                <a:solidFill>
                  <a:srgbClr val="687683"/>
                </a:solidFill>
                <a:latin typeface="Aptos"/>
              </a:rPr>
              <a:t>Paired Engineering. A practical delivery model for AI-enabled software teams.</a:t>
            </a:r>
          </a:p>
        </p:txBody>
      </p:sp>
      <p:sp>
        <p:nvSpPr>
          <p:cNvPr id="10" name="TextBox 9"/>
          <p:cNvSpPr txBox="1"/>
          <p:nvPr/>
        </p:nvSpPr>
        <p:spPr>
          <a:xfrm>
            <a:off x="10881360" y="6144768"/>
            <a:ext cx="411480" cy="201168"/>
          </a:xfrm>
          <a:prstGeom prst="rect">
            <a:avLst/>
          </a:prstGeom>
          <a:noFill/>
        </p:spPr>
        <p:txBody>
          <a:bodyPr wrap="square" anchor="ctr">
            <a:spAutoFit/>
          </a:bodyPr>
          <a:lstStyle/>
          <a:p>
            <a:pPr algn="r">
              <a:spcAft>
                <a:spcPts val="500"/>
              </a:spcAft>
            </a:pPr>
            <a:r>
              <a:rPr sz="1000" b="0">
                <a:solidFill>
                  <a:srgbClr val="687683"/>
                </a:solidFill>
                <a:latin typeface="Aptos"/>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6F2EA"/>
        </a:solidFill>
        <a:effectLst/>
      </p:bgPr>
    </p:bg>
    <p:spTree>
      <p:nvGrpSpPr>
        <p:cNvPr id="1" name=""/>
        <p:cNvGrpSpPr/>
        <p:nvPr/>
      </p:nvGrpSpPr>
      <p:grpSpPr/>
      <p:sp>
        <p:nvSpPr>
          <p:cNvPr id="2" name="Title 1"/>
          <p:cNvSpPr>
            <a:spLocks noGrp="1"/>
          </p:cNvSpPr>
          <p:nvPr>
            <p:ph type="title"/>
          </p:nvPr>
        </p:nvSpPr>
        <p:spPr>
          <a:xfrm>
            <a:off x="822960" y="512064"/>
            <a:ext cx="10058400" cy="914400"/>
          </a:xfrm>
        </p:spPr>
        <p:txBody>
          <a:bodyPr/>
          <a:lstStyle/>
          <a:p>
            <a:pPr algn="l">
              <a:spcAft>
                <a:spcPts val="500"/>
              </a:spcAft>
            </a:pPr>
            <a:r>
              <a:rPr sz="2400" b="1">
                <a:solidFill>
                  <a:srgbClr val="22313F"/>
                </a:solidFill>
                <a:latin typeface="Aptos Display"/>
              </a:rPr>
              <a:t>Weak manager behavior shows up before the dashboard does.</a:t>
            </a:r>
          </a:p>
        </p:txBody>
      </p:sp>
      <p:sp>
        <p:nvSpPr>
          <p:cNvPr id="4" name="Rectangle 3"/>
          <p:cNvSpPr/>
          <p:nvPr/>
        </p:nvSpPr>
        <p:spPr>
          <a:xfrm>
            <a:off x="0" y="0"/>
            <a:ext cx="12191695" cy="219456"/>
          </a:xfrm>
          <a:prstGeom prst="rect">
            <a:avLst/>
          </a:prstGeom>
          <a:solidFill>
            <a:srgbClr val="1E8E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04672" y="1225296"/>
            <a:ext cx="1737360" cy="54864"/>
          </a:xfrm>
          <a:prstGeom prst="rect">
            <a:avLst/>
          </a:prstGeom>
          <a:solidFill>
            <a:srgbClr val="D79A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6601968"/>
            <a:ext cx="12191695" cy="18288"/>
          </a:xfrm>
          <a:prstGeom prst="rect">
            <a:avLst/>
          </a:prstGeom>
          <a:solidFill>
            <a:srgbClr val="D8D1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627632"/>
            <a:ext cx="10378440" cy="4343400"/>
          </a:xfrm>
          <a:prstGeom prst="rect">
            <a:avLst/>
          </a:prstGeom>
          <a:noFill/>
        </p:spPr>
        <p:txBody>
          <a:bodyPr wrap="square" anchor="t">
            <a:spAutoFit/>
          </a:bodyPr>
          <a:lstStyle/>
          <a:p>
            <a:pPr algn="l" marL="254000" indent="0">
              <a:lnSpc>
                <a:spcPct val="108000"/>
              </a:lnSpc>
              <a:spcBef>
                <a:spcPts val="0"/>
              </a:spcBef>
              <a:spcAft>
                <a:spcPts val="700"/>
              </a:spcAft>
              <a:buNone/>
              <a:defRPr sz="2000" b="0">
                <a:solidFill>
                  <a:srgbClr val="22313F"/>
                </a:solidFill>
                <a:latin typeface="Aptos"/>
              </a:defRPr>
            </a:pPr>
            <a:r>
              <a:t>- rollout by pressure instead of support</a:t>
            </a:r>
          </a:p>
          <a:p>
            <a:pPr algn="l" marL="254000" indent="0">
              <a:lnSpc>
                <a:spcPct val="108000"/>
              </a:lnSpc>
              <a:spcBef>
                <a:spcPts val="0"/>
              </a:spcBef>
              <a:spcAft>
                <a:spcPts val="700"/>
              </a:spcAft>
              <a:buNone/>
              <a:defRPr sz="2000" b="0">
                <a:solidFill>
                  <a:srgbClr val="22313F"/>
                </a:solidFill>
                <a:latin typeface="Aptos"/>
              </a:defRPr>
            </a:pPr>
            <a:r>
              <a:t>- silent review debt on senior engineers</a:t>
            </a:r>
          </a:p>
          <a:p>
            <a:pPr algn="l" marL="254000" indent="0">
              <a:lnSpc>
                <a:spcPct val="108000"/>
              </a:lnSpc>
              <a:spcBef>
                <a:spcPts val="0"/>
              </a:spcBef>
              <a:spcAft>
                <a:spcPts val="700"/>
              </a:spcAft>
              <a:buNone/>
              <a:defRPr sz="2000" b="0">
                <a:solidFill>
                  <a:srgbClr val="22313F"/>
                </a:solidFill>
                <a:latin typeface="Aptos"/>
              </a:defRPr>
            </a:pPr>
            <a:r>
              <a:t>- juniors borrowing capability without growing it</a:t>
            </a:r>
          </a:p>
          <a:p>
            <a:pPr algn="l" marL="254000" indent="0">
              <a:lnSpc>
                <a:spcPct val="108000"/>
              </a:lnSpc>
              <a:spcBef>
                <a:spcPts val="0"/>
              </a:spcBef>
              <a:spcAft>
                <a:spcPts val="700"/>
              </a:spcAft>
              <a:buNone/>
              <a:defRPr sz="2000" b="0">
                <a:solidFill>
                  <a:srgbClr val="22313F"/>
                </a:solidFill>
                <a:latin typeface="Aptos"/>
              </a:defRPr>
            </a:pPr>
            <a:r>
              <a:t>- usage metrics replacing real evidence</a:t>
            </a:r>
          </a:p>
        </p:txBody>
      </p:sp>
      <p:sp>
        <p:nvSpPr>
          <p:cNvPr id="8" name="TextBox 7"/>
          <p:cNvSpPr txBox="1"/>
          <p:nvPr/>
        </p:nvSpPr>
        <p:spPr>
          <a:xfrm>
            <a:off x="10012680" y="530352"/>
            <a:ext cx="1234440" cy="256032"/>
          </a:xfrm>
          <a:prstGeom prst="rect">
            <a:avLst/>
          </a:prstGeom>
          <a:noFill/>
        </p:spPr>
        <p:txBody>
          <a:bodyPr wrap="square" anchor="ctr">
            <a:spAutoFit/>
          </a:bodyPr>
          <a:lstStyle/>
          <a:p>
            <a:pPr algn="r">
              <a:spcAft>
                <a:spcPts val="500"/>
              </a:spcAft>
            </a:pPr>
            <a:r>
              <a:rPr sz="900" b="1">
                <a:solidFill>
                  <a:srgbClr val="1E8E7E"/>
                </a:solidFill>
                <a:latin typeface="Aptos"/>
              </a:rPr>
              <a:t>PAIRED ENGINEERING</a:t>
            </a:r>
          </a:p>
        </p:txBody>
      </p:sp>
      <p:sp>
        <p:nvSpPr>
          <p:cNvPr id="9" name="TextBox 8"/>
          <p:cNvSpPr txBox="1"/>
          <p:nvPr/>
        </p:nvSpPr>
        <p:spPr>
          <a:xfrm>
            <a:off x="822960" y="6126480"/>
            <a:ext cx="9144000" cy="219456"/>
          </a:xfrm>
          <a:prstGeom prst="rect">
            <a:avLst/>
          </a:prstGeom>
          <a:noFill/>
        </p:spPr>
        <p:txBody>
          <a:bodyPr wrap="square" anchor="ctr">
            <a:spAutoFit/>
          </a:bodyPr>
          <a:lstStyle/>
          <a:p>
            <a:pPr algn="l">
              <a:spcAft>
                <a:spcPts val="500"/>
              </a:spcAft>
            </a:pPr>
            <a:r>
              <a:rPr sz="1000" b="0">
                <a:solidFill>
                  <a:srgbClr val="687683"/>
                </a:solidFill>
                <a:latin typeface="Aptos"/>
              </a:rPr>
              <a:t>Paired Engineering. A practical delivery model for AI-enabled software teams.</a:t>
            </a:r>
          </a:p>
        </p:txBody>
      </p:sp>
      <p:sp>
        <p:nvSpPr>
          <p:cNvPr id="10" name="TextBox 9"/>
          <p:cNvSpPr txBox="1"/>
          <p:nvPr/>
        </p:nvSpPr>
        <p:spPr>
          <a:xfrm>
            <a:off x="10881360" y="6144768"/>
            <a:ext cx="411480" cy="201168"/>
          </a:xfrm>
          <a:prstGeom prst="rect">
            <a:avLst/>
          </a:prstGeom>
          <a:noFill/>
        </p:spPr>
        <p:txBody>
          <a:bodyPr wrap="square" anchor="ctr">
            <a:spAutoFit/>
          </a:bodyPr>
          <a:lstStyle/>
          <a:p>
            <a:pPr algn="r">
              <a:spcAft>
                <a:spcPts val="500"/>
              </a:spcAft>
            </a:pPr>
            <a:r>
              <a:rPr sz="1000" b="0">
                <a:solidFill>
                  <a:srgbClr val="687683"/>
                </a:solidFill>
                <a:latin typeface="Aptos"/>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6F2EA"/>
        </a:solidFill>
        <a:effectLst/>
      </p:bgPr>
    </p:bg>
    <p:spTree>
      <p:nvGrpSpPr>
        <p:cNvPr id="1" name=""/>
        <p:cNvGrpSpPr/>
        <p:nvPr/>
      </p:nvGrpSpPr>
      <p:grpSpPr/>
      <p:sp>
        <p:nvSpPr>
          <p:cNvPr id="2" name="Title 1"/>
          <p:cNvSpPr>
            <a:spLocks noGrp="1"/>
          </p:cNvSpPr>
          <p:nvPr>
            <p:ph type="title"/>
          </p:nvPr>
        </p:nvSpPr>
        <p:spPr>
          <a:xfrm>
            <a:off x="822960" y="512064"/>
            <a:ext cx="10058400" cy="914400"/>
          </a:xfrm>
        </p:spPr>
        <p:txBody>
          <a:bodyPr/>
          <a:lstStyle/>
          <a:p>
            <a:pPr algn="l">
              <a:spcAft>
                <a:spcPts val="500"/>
              </a:spcAft>
            </a:pPr>
            <a:r>
              <a:rPr sz="2400" b="1">
                <a:solidFill>
                  <a:srgbClr val="22313F"/>
                </a:solidFill>
                <a:latin typeface="Aptos Display"/>
              </a:rPr>
              <a:t>Good AI enablement improves flow without hollowing out the team.</a:t>
            </a:r>
          </a:p>
        </p:txBody>
      </p:sp>
      <p:sp>
        <p:nvSpPr>
          <p:cNvPr id="4" name="Rectangle 3"/>
          <p:cNvSpPr/>
          <p:nvPr/>
        </p:nvSpPr>
        <p:spPr>
          <a:xfrm>
            <a:off x="0" y="0"/>
            <a:ext cx="12191695" cy="219456"/>
          </a:xfrm>
          <a:prstGeom prst="rect">
            <a:avLst/>
          </a:prstGeom>
          <a:solidFill>
            <a:srgbClr val="1E8E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04672" y="1225296"/>
            <a:ext cx="1737360" cy="54864"/>
          </a:xfrm>
          <a:prstGeom prst="rect">
            <a:avLst/>
          </a:prstGeom>
          <a:solidFill>
            <a:srgbClr val="D79A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6601968"/>
            <a:ext cx="12191695" cy="18288"/>
          </a:xfrm>
          <a:prstGeom prst="rect">
            <a:avLst/>
          </a:prstGeom>
          <a:solidFill>
            <a:srgbClr val="D8D1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627632"/>
            <a:ext cx="10378440" cy="4343400"/>
          </a:xfrm>
          <a:prstGeom prst="rect">
            <a:avLst/>
          </a:prstGeom>
          <a:noFill/>
        </p:spPr>
        <p:txBody>
          <a:bodyPr wrap="square" anchor="t">
            <a:spAutoFit/>
          </a:bodyPr>
          <a:lstStyle/>
          <a:p>
            <a:pPr algn="l" marL="254000" indent="0">
              <a:lnSpc>
                <a:spcPct val="108000"/>
              </a:lnSpc>
              <a:spcBef>
                <a:spcPts val="0"/>
              </a:spcBef>
              <a:spcAft>
                <a:spcPts val="700"/>
              </a:spcAft>
              <a:buNone/>
              <a:defRPr sz="2000" b="0">
                <a:solidFill>
                  <a:srgbClr val="22313F"/>
                </a:solidFill>
                <a:latin typeface="Aptos"/>
              </a:defRPr>
            </a:pPr>
            <a:r>
              <a:t>- managers support one bounded workflow at a time</a:t>
            </a:r>
          </a:p>
          <a:p>
            <a:pPr algn="l" marL="254000" indent="0">
              <a:lnSpc>
                <a:spcPct val="108000"/>
              </a:lnSpc>
              <a:spcBef>
                <a:spcPts val="0"/>
              </a:spcBef>
              <a:spcAft>
                <a:spcPts val="700"/>
              </a:spcAft>
              <a:buNone/>
              <a:defRPr sz="2000" b="0">
                <a:solidFill>
                  <a:srgbClr val="22313F"/>
                </a:solidFill>
                <a:latin typeface="Aptos"/>
              </a:defRPr>
            </a:pPr>
            <a:r>
              <a:t>- learning mode is still visible</a:t>
            </a:r>
          </a:p>
          <a:p>
            <a:pPr algn="l" marL="254000" indent="0">
              <a:lnSpc>
                <a:spcPct val="108000"/>
              </a:lnSpc>
              <a:spcBef>
                <a:spcPts val="0"/>
              </a:spcBef>
              <a:spcAft>
                <a:spcPts val="700"/>
              </a:spcAft>
              <a:buNone/>
              <a:defRPr sz="2000" b="0">
                <a:solidFill>
                  <a:srgbClr val="22313F"/>
                </a:solidFill>
                <a:latin typeface="Aptos"/>
              </a:defRPr>
            </a:pPr>
            <a:r>
              <a:t>- seniors are not permanent cleanup layers</a:t>
            </a:r>
          </a:p>
          <a:p>
            <a:pPr algn="l" marL="254000" indent="0">
              <a:lnSpc>
                <a:spcPct val="108000"/>
              </a:lnSpc>
              <a:spcBef>
                <a:spcPts val="0"/>
              </a:spcBef>
              <a:spcAft>
                <a:spcPts val="700"/>
              </a:spcAft>
              <a:buNone/>
              <a:defRPr sz="2000" b="0">
                <a:solidFill>
                  <a:srgbClr val="22313F"/>
                </a:solidFill>
                <a:latin typeface="Aptos"/>
              </a:defRPr>
            </a:pPr>
            <a:r>
              <a:t>- better signals replace vanity metrics</a:t>
            </a:r>
          </a:p>
        </p:txBody>
      </p:sp>
      <p:sp>
        <p:nvSpPr>
          <p:cNvPr id="8" name="TextBox 7"/>
          <p:cNvSpPr txBox="1"/>
          <p:nvPr/>
        </p:nvSpPr>
        <p:spPr>
          <a:xfrm>
            <a:off x="10012680" y="530352"/>
            <a:ext cx="1234440" cy="256032"/>
          </a:xfrm>
          <a:prstGeom prst="rect">
            <a:avLst/>
          </a:prstGeom>
          <a:noFill/>
        </p:spPr>
        <p:txBody>
          <a:bodyPr wrap="square" anchor="ctr">
            <a:spAutoFit/>
          </a:bodyPr>
          <a:lstStyle/>
          <a:p>
            <a:pPr algn="r">
              <a:spcAft>
                <a:spcPts val="500"/>
              </a:spcAft>
            </a:pPr>
            <a:r>
              <a:rPr sz="900" b="1">
                <a:solidFill>
                  <a:srgbClr val="1E8E7E"/>
                </a:solidFill>
                <a:latin typeface="Aptos"/>
              </a:rPr>
              <a:t>PAIRED ENGINEERING</a:t>
            </a:r>
          </a:p>
        </p:txBody>
      </p:sp>
      <p:sp>
        <p:nvSpPr>
          <p:cNvPr id="9" name="TextBox 8"/>
          <p:cNvSpPr txBox="1"/>
          <p:nvPr/>
        </p:nvSpPr>
        <p:spPr>
          <a:xfrm>
            <a:off x="822960" y="6126480"/>
            <a:ext cx="9144000" cy="219456"/>
          </a:xfrm>
          <a:prstGeom prst="rect">
            <a:avLst/>
          </a:prstGeom>
          <a:noFill/>
        </p:spPr>
        <p:txBody>
          <a:bodyPr wrap="square" anchor="ctr">
            <a:spAutoFit/>
          </a:bodyPr>
          <a:lstStyle/>
          <a:p>
            <a:pPr algn="l">
              <a:spcAft>
                <a:spcPts val="500"/>
              </a:spcAft>
            </a:pPr>
            <a:r>
              <a:rPr sz="1000" b="0">
                <a:solidFill>
                  <a:srgbClr val="687683"/>
                </a:solidFill>
                <a:latin typeface="Aptos"/>
              </a:rPr>
              <a:t>Paired Engineering. A practical delivery model for AI-enabled software teams.</a:t>
            </a:r>
          </a:p>
        </p:txBody>
      </p:sp>
      <p:sp>
        <p:nvSpPr>
          <p:cNvPr id="10" name="TextBox 9"/>
          <p:cNvSpPr txBox="1"/>
          <p:nvPr/>
        </p:nvSpPr>
        <p:spPr>
          <a:xfrm>
            <a:off x="10881360" y="6144768"/>
            <a:ext cx="411480" cy="201168"/>
          </a:xfrm>
          <a:prstGeom prst="rect">
            <a:avLst/>
          </a:prstGeom>
          <a:noFill/>
        </p:spPr>
        <p:txBody>
          <a:bodyPr wrap="square" anchor="ctr">
            <a:spAutoFit/>
          </a:bodyPr>
          <a:lstStyle/>
          <a:p>
            <a:pPr algn="r">
              <a:spcAft>
                <a:spcPts val="500"/>
              </a:spcAft>
            </a:pPr>
            <a:r>
              <a:rPr sz="1000" b="0">
                <a:solidFill>
                  <a:srgbClr val="687683"/>
                </a:solidFill>
                <a:latin typeface="Aptos"/>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6F2EA"/>
        </a:solidFill>
        <a:effectLst/>
      </p:bgPr>
    </p:bg>
    <p:spTree>
      <p:nvGrpSpPr>
        <p:cNvPr id="1" name=""/>
        <p:cNvGrpSpPr/>
        <p:nvPr/>
      </p:nvGrpSpPr>
      <p:grpSpPr/>
      <p:sp>
        <p:nvSpPr>
          <p:cNvPr id="2" name="Title 1"/>
          <p:cNvSpPr>
            <a:spLocks noGrp="1"/>
          </p:cNvSpPr>
          <p:nvPr>
            <p:ph type="title"/>
          </p:nvPr>
        </p:nvSpPr>
        <p:spPr>
          <a:xfrm>
            <a:off x="822960" y="512064"/>
            <a:ext cx="10058400" cy="914400"/>
          </a:xfrm>
        </p:spPr>
        <p:txBody>
          <a:bodyPr/>
          <a:lstStyle/>
          <a:p>
            <a:pPr algn="l">
              <a:spcAft>
                <a:spcPts val="500"/>
              </a:spcAft>
            </a:pPr>
            <a:r>
              <a:rPr sz="2400" b="1">
                <a:solidFill>
                  <a:srgbClr val="22313F"/>
                </a:solidFill>
                <a:latin typeface="Aptos Display"/>
              </a:rPr>
              <a:t>Teams do not build better habits from policy alone.</a:t>
            </a:r>
          </a:p>
        </p:txBody>
      </p:sp>
      <p:sp>
        <p:nvSpPr>
          <p:cNvPr id="4" name="Rectangle 3"/>
          <p:cNvSpPr/>
          <p:nvPr/>
        </p:nvSpPr>
        <p:spPr>
          <a:xfrm>
            <a:off x="0" y="0"/>
            <a:ext cx="12191695" cy="219456"/>
          </a:xfrm>
          <a:prstGeom prst="rect">
            <a:avLst/>
          </a:prstGeom>
          <a:solidFill>
            <a:srgbClr val="1E8E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04672" y="1225296"/>
            <a:ext cx="1737360" cy="54864"/>
          </a:xfrm>
          <a:prstGeom prst="rect">
            <a:avLst/>
          </a:prstGeom>
          <a:solidFill>
            <a:srgbClr val="D79A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6601968"/>
            <a:ext cx="12191695" cy="18288"/>
          </a:xfrm>
          <a:prstGeom prst="rect">
            <a:avLst/>
          </a:prstGeom>
          <a:solidFill>
            <a:srgbClr val="D8D1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627632"/>
            <a:ext cx="10378440" cy="4343400"/>
          </a:xfrm>
          <a:prstGeom prst="rect">
            <a:avLst/>
          </a:prstGeom>
          <a:noFill/>
        </p:spPr>
        <p:txBody>
          <a:bodyPr wrap="square" anchor="t">
            <a:spAutoFit/>
          </a:bodyPr>
          <a:lstStyle/>
          <a:p>
            <a:pPr algn="l" marL="254000" indent="0">
              <a:lnSpc>
                <a:spcPct val="108000"/>
              </a:lnSpc>
              <a:spcBef>
                <a:spcPts val="0"/>
              </a:spcBef>
              <a:spcAft>
                <a:spcPts val="700"/>
              </a:spcAft>
              <a:buNone/>
              <a:defRPr sz="2000" b="0">
                <a:solidFill>
                  <a:srgbClr val="22313F"/>
                </a:solidFill>
                <a:latin typeface="Aptos"/>
              </a:defRPr>
            </a:pPr>
            <a:r>
              <a:t>- review the workshop and worksheet packs</a:t>
            </a:r>
          </a:p>
          <a:p>
            <a:pPr algn="l" marL="254000" indent="0">
              <a:lnSpc>
                <a:spcPct val="108000"/>
              </a:lnSpc>
              <a:spcBef>
                <a:spcPts val="0"/>
              </a:spcBef>
              <a:spcAft>
                <a:spcPts val="700"/>
              </a:spcAft>
              <a:buNone/>
              <a:defRPr sz="2000" b="0">
                <a:solidFill>
                  <a:srgbClr val="22313F"/>
                </a:solidFill>
                <a:latin typeface="Aptos"/>
              </a:defRPr>
            </a:pPr>
            <a:r>
              <a:t>- ask leads to choose scenarios that match current team reality</a:t>
            </a:r>
          </a:p>
          <a:p>
            <a:pPr algn="l" marL="254000" indent="0">
              <a:lnSpc>
                <a:spcPct val="108000"/>
              </a:lnSpc>
              <a:spcBef>
                <a:spcPts val="0"/>
              </a:spcBef>
              <a:spcAft>
                <a:spcPts val="700"/>
              </a:spcAft>
              <a:buNone/>
              <a:defRPr sz="2000" b="0">
                <a:solidFill>
                  <a:srgbClr val="22313F"/>
                </a:solidFill>
                <a:latin typeface="Aptos"/>
              </a:defRPr>
            </a:pPr>
            <a:r>
              <a:t>- use the packs to create safe, bounded practice for co-ops, juniors, and intermediates</a:t>
            </a:r>
          </a:p>
          <a:p>
            <a:pPr algn="l" marL="254000" indent="0">
              <a:lnSpc>
                <a:spcPct val="108000"/>
              </a:lnSpc>
              <a:spcBef>
                <a:spcPts val="0"/>
              </a:spcBef>
              <a:spcAft>
                <a:spcPts val="700"/>
              </a:spcAft>
              <a:buNone/>
              <a:defRPr sz="2000" b="0">
                <a:solidFill>
                  <a:srgbClr val="22313F"/>
                </a:solidFill>
                <a:latin typeface="Aptos"/>
              </a:defRPr>
            </a:pPr>
            <a:r>
              <a:t>- protect time to review or complete at least one exercise before scaling</a:t>
            </a:r>
          </a:p>
        </p:txBody>
      </p:sp>
      <p:sp>
        <p:nvSpPr>
          <p:cNvPr id="8" name="TextBox 7"/>
          <p:cNvSpPr txBox="1"/>
          <p:nvPr/>
        </p:nvSpPr>
        <p:spPr>
          <a:xfrm>
            <a:off x="10012680" y="530352"/>
            <a:ext cx="1234440" cy="256032"/>
          </a:xfrm>
          <a:prstGeom prst="rect">
            <a:avLst/>
          </a:prstGeom>
          <a:noFill/>
        </p:spPr>
        <p:txBody>
          <a:bodyPr wrap="square" anchor="ctr">
            <a:spAutoFit/>
          </a:bodyPr>
          <a:lstStyle/>
          <a:p>
            <a:pPr algn="r">
              <a:spcAft>
                <a:spcPts val="500"/>
              </a:spcAft>
            </a:pPr>
            <a:r>
              <a:rPr sz="900" b="1">
                <a:solidFill>
                  <a:srgbClr val="1E8E7E"/>
                </a:solidFill>
                <a:latin typeface="Aptos"/>
              </a:rPr>
              <a:t>PAIRED ENGINEERING</a:t>
            </a:r>
          </a:p>
        </p:txBody>
      </p:sp>
      <p:sp>
        <p:nvSpPr>
          <p:cNvPr id="9" name="TextBox 8"/>
          <p:cNvSpPr txBox="1"/>
          <p:nvPr/>
        </p:nvSpPr>
        <p:spPr>
          <a:xfrm>
            <a:off x="822960" y="6126480"/>
            <a:ext cx="9144000" cy="219456"/>
          </a:xfrm>
          <a:prstGeom prst="rect">
            <a:avLst/>
          </a:prstGeom>
          <a:noFill/>
        </p:spPr>
        <p:txBody>
          <a:bodyPr wrap="square" anchor="ctr">
            <a:spAutoFit/>
          </a:bodyPr>
          <a:lstStyle/>
          <a:p>
            <a:pPr algn="l">
              <a:spcAft>
                <a:spcPts val="500"/>
              </a:spcAft>
            </a:pPr>
            <a:r>
              <a:rPr sz="1000" b="0">
                <a:solidFill>
                  <a:srgbClr val="687683"/>
                </a:solidFill>
                <a:latin typeface="Aptos"/>
              </a:rPr>
              <a:t>Paired Engineering. A practical delivery model for AI-enabled software teams.</a:t>
            </a:r>
          </a:p>
        </p:txBody>
      </p:sp>
      <p:sp>
        <p:nvSpPr>
          <p:cNvPr id="10" name="TextBox 9"/>
          <p:cNvSpPr txBox="1"/>
          <p:nvPr/>
        </p:nvSpPr>
        <p:spPr>
          <a:xfrm>
            <a:off x="10881360" y="6144768"/>
            <a:ext cx="411480" cy="201168"/>
          </a:xfrm>
          <a:prstGeom prst="rect">
            <a:avLst/>
          </a:prstGeom>
          <a:noFill/>
        </p:spPr>
        <p:txBody>
          <a:bodyPr wrap="square" anchor="ctr">
            <a:spAutoFit/>
          </a:bodyPr>
          <a:lstStyle/>
          <a:p>
            <a:pPr algn="r">
              <a:spcAft>
                <a:spcPts val="500"/>
              </a:spcAft>
            </a:pPr>
            <a:r>
              <a:rPr sz="1000" b="0">
                <a:solidFill>
                  <a:srgbClr val="687683"/>
                </a:solidFill>
                <a:latin typeface="Aptos"/>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6F2EA"/>
        </a:solidFill>
        <a:effectLst/>
      </p:bgPr>
    </p:bg>
    <p:spTree>
      <p:nvGrpSpPr>
        <p:cNvPr id="1" name=""/>
        <p:cNvGrpSpPr/>
        <p:nvPr/>
      </p:nvGrpSpPr>
      <p:grpSpPr/>
      <p:sp>
        <p:nvSpPr>
          <p:cNvPr id="2" name="Title 1"/>
          <p:cNvSpPr>
            <a:spLocks noGrp="1"/>
          </p:cNvSpPr>
          <p:nvPr>
            <p:ph type="title"/>
          </p:nvPr>
        </p:nvSpPr>
        <p:spPr>
          <a:xfrm>
            <a:off x="822960" y="512064"/>
            <a:ext cx="10058400" cy="914400"/>
          </a:xfrm>
        </p:spPr>
        <p:txBody>
          <a:bodyPr/>
          <a:lstStyle/>
          <a:p>
            <a:pPr algn="l">
              <a:spcAft>
                <a:spcPts val="500"/>
              </a:spcAft>
            </a:pPr>
            <a:r>
              <a:rPr sz="2400" b="1">
                <a:solidFill>
                  <a:srgbClr val="22313F"/>
                </a:solidFill>
                <a:latin typeface="Aptos Display"/>
              </a:rPr>
              <a:t>Start small, protect the ladder, and scale only what works.</a:t>
            </a:r>
          </a:p>
        </p:txBody>
      </p:sp>
      <p:sp>
        <p:nvSpPr>
          <p:cNvPr id="4" name="Rectangle 3"/>
          <p:cNvSpPr/>
          <p:nvPr/>
        </p:nvSpPr>
        <p:spPr>
          <a:xfrm>
            <a:off x="0" y="0"/>
            <a:ext cx="12191695" cy="219456"/>
          </a:xfrm>
          <a:prstGeom prst="rect">
            <a:avLst/>
          </a:prstGeom>
          <a:solidFill>
            <a:srgbClr val="1E8E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04672" y="1225296"/>
            <a:ext cx="1737360" cy="54864"/>
          </a:xfrm>
          <a:prstGeom prst="rect">
            <a:avLst/>
          </a:prstGeom>
          <a:solidFill>
            <a:srgbClr val="D79A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6601968"/>
            <a:ext cx="12191695" cy="18288"/>
          </a:xfrm>
          <a:prstGeom prst="rect">
            <a:avLst/>
          </a:prstGeom>
          <a:solidFill>
            <a:srgbClr val="D8D1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627632"/>
            <a:ext cx="10378440" cy="4343400"/>
          </a:xfrm>
          <a:prstGeom prst="rect">
            <a:avLst/>
          </a:prstGeom>
          <a:noFill/>
        </p:spPr>
        <p:txBody>
          <a:bodyPr wrap="square" anchor="t">
            <a:spAutoFit/>
          </a:bodyPr>
          <a:lstStyle/>
          <a:p>
            <a:pPr algn="l" marL="254000" indent="0">
              <a:lnSpc>
                <a:spcPct val="108000"/>
              </a:lnSpc>
              <a:spcBef>
                <a:spcPts val="0"/>
              </a:spcBef>
              <a:spcAft>
                <a:spcPts val="700"/>
              </a:spcAft>
              <a:buNone/>
              <a:defRPr sz="2000" b="0">
                <a:solidFill>
                  <a:srgbClr val="22313F"/>
                </a:solidFill>
                <a:latin typeface="Aptos"/>
              </a:defRPr>
            </a:pPr>
            <a:r>
              <a:t>- choose one workflow where verification is visible</a:t>
            </a:r>
          </a:p>
          <a:p>
            <a:pPr algn="l" marL="254000" indent="0">
              <a:lnSpc>
                <a:spcPct val="108000"/>
              </a:lnSpc>
              <a:spcBef>
                <a:spcPts val="0"/>
              </a:spcBef>
              <a:spcAft>
                <a:spcPts val="700"/>
              </a:spcAft>
              <a:buNone/>
              <a:defRPr sz="2000" b="0">
                <a:solidFill>
                  <a:srgbClr val="22313F"/>
                </a:solidFill>
                <a:latin typeface="Aptos"/>
              </a:defRPr>
            </a:pPr>
            <a:r>
              <a:t>- protect one learning path that includes lower-rung engineers, not only seniors</a:t>
            </a:r>
          </a:p>
          <a:p>
            <a:pPr algn="l" marL="254000" indent="0">
              <a:lnSpc>
                <a:spcPct val="108000"/>
              </a:lnSpc>
              <a:spcBef>
                <a:spcPts val="0"/>
              </a:spcBef>
              <a:spcAft>
                <a:spcPts val="700"/>
              </a:spcAft>
              <a:buNone/>
              <a:defRPr sz="2000" b="0">
                <a:solidFill>
                  <a:srgbClr val="22313F"/>
                </a:solidFill>
                <a:latin typeface="Aptos"/>
              </a:defRPr>
            </a:pPr>
            <a:r>
              <a:t>- track one honest quality signal before expanding the rollout</a:t>
            </a:r>
          </a:p>
        </p:txBody>
      </p:sp>
      <p:sp>
        <p:nvSpPr>
          <p:cNvPr id="8" name="TextBox 7"/>
          <p:cNvSpPr txBox="1"/>
          <p:nvPr/>
        </p:nvSpPr>
        <p:spPr>
          <a:xfrm>
            <a:off x="10012680" y="530352"/>
            <a:ext cx="1234440" cy="256032"/>
          </a:xfrm>
          <a:prstGeom prst="rect">
            <a:avLst/>
          </a:prstGeom>
          <a:noFill/>
        </p:spPr>
        <p:txBody>
          <a:bodyPr wrap="square" anchor="ctr">
            <a:spAutoFit/>
          </a:bodyPr>
          <a:lstStyle/>
          <a:p>
            <a:pPr algn="r">
              <a:spcAft>
                <a:spcPts val="500"/>
              </a:spcAft>
            </a:pPr>
            <a:r>
              <a:rPr sz="900" b="1">
                <a:solidFill>
                  <a:srgbClr val="1E8E7E"/>
                </a:solidFill>
                <a:latin typeface="Aptos"/>
              </a:rPr>
              <a:t>PAIRED ENGINEERING</a:t>
            </a:r>
          </a:p>
        </p:txBody>
      </p:sp>
      <p:sp>
        <p:nvSpPr>
          <p:cNvPr id="9" name="TextBox 8"/>
          <p:cNvSpPr txBox="1"/>
          <p:nvPr/>
        </p:nvSpPr>
        <p:spPr>
          <a:xfrm>
            <a:off x="822960" y="6126480"/>
            <a:ext cx="9144000" cy="219456"/>
          </a:xfrm>
          <a:prstGeom prst="rect">
            <a:avLst/>
          </a:prstGeom>
          <a:noFill/>
        </p:spPr>
        <p:txBody>
          <a:bodyPr wrap="square" anchor="ctr">
            <a:spAutoFit/>
          </a:bodyPr>
          <a:lstStyle/>
          <a:p>
            <a:pPr algn="l">
              <a:spcAft>
                <a:spcPts val="500"/>
              </a:spcAft>
            </a:pPr>
            <a:r>
              <a:rPr sz="1000" b="0">
                <a:solidFill>
                  <a:srgbClr val="687683"/>
                </a:solidFill>
                <a:latin typeface="Aptos"/>
              </a:rPr>
              <a:t>Paired Engineering. A practical delivery model for AI-enabled software teams.</a:t>
            </a:r>
          </a:p>
        </p:txBody>
      </p:sp>
      <p:sp>
        <p:nvSpPr>
          <p:cNvPr id="10" name="TextBox 9"/>
          <p:cNvSpPr txBox="1"/>
          <p:nvPr/>
        </p:nvSpPr>
        <p:spPr>
          <a:xfrm>
            <a:off x="10881360" y="6144768"/>
            <a:ext cx="411480" cy="201168"/>
          </a:xfrm>
          <a:prstGeom prst="rect">
            <a:avLst/>
          </a:prstGeom>
          <a:noFill/>
        </p:spPr>
        <p:txBody>
          <a:bodyPr wrap="square" anchor="ctr">
            <a:spAutoFit/>
          </a:bodyPr>
          <a:lstStyle/>
          <a:p>
            <a:pPr algn="r">
              <a:spcAft>
                <a:spcPts val="500"/>
              </a:spcAft>
            </a:pPr>
            <a:r>
              <a:rPr sz="1000" b="0">
                <a:solidFill>
                  <a:srgbClr val="687683"/>
                </a:solidFill>
                <a:latin typeface="Aptos"/>
              </a:rPr>
              <a:t>14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