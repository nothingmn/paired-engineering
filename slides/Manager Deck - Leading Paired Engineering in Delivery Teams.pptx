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Frame this as a team-operating deck, not a tool deck. The manager audience needs to hear that their role is not to maximize prompt activity, but to create conditions for better work, safer learning, and honest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point here is to make the audience feel responsible, but not blamed. If leaders sponsor the rollout and practitioners use the tools, managers still decide whether the new behavior can survive in the real operating system of the team.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the deck pushes back on the shallow management instinct. If a manager’s main question is “why isn’t usage higher,” they are probably managing the wrong 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Managers do not need to be the most technical person in the room to do this well. They do need to protect the conditions that make good practice 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Many teams collapse everything into delivery mode because of schedule pressure. That looks efficient until understanding gaps, review burden, and dependence start to accumulate.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deliberately two-sided. The damage is not just fewer junior opportunities. It is also a distorted staffing model where seniors become permanent cleanup layers for AI-assisted work. Managers should hear a positive case here too: bringing in co-ops and junior engineers still matters because a healthy team needs bounded entry points, apprenticeship capacity, and future independent contributors.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bridge into the measurement model. The manager question should be “what is getting better and what hidden cost is rising,” not “how often was the tool used.”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These questions are intentionally light. The point is not to create a heavy ritual. The point is to replace shallow management questions with ones that reveal workflow fit and team risk.</a:t>
            </a:r>
          </a:p>
          <a:p>
            <a:r>
              <a:t>Managers should treat instinct and softer qualitative signals as early warnings, not as final proof.</a:t>
            </a:r>
          </a:p>
          <a:p>
            <a:r>
              <a:t>If something feels heavier, less trustworthy, or more confusing than the dashboard suggests, that is a reason to inspect the workflow more closely, sample artifacts, or ask for technical-lead input.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feel uncomfortably concrete. It gives managers language they can actually use tomorrow, and language they should stop using now.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helps prevent role confusion. Managers should not become pseudo-tech leads, and tech leads should not become silent managers of delivery pressure.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you name the patterns that often stay invisible until morale or quality starts dropping. It is also a useful slide when a manager says “we’re not seeing any problems” while only watching activity metrics.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End with a realistic target state. The point is not perfect control. The point is better habits, stronger team design, and less hidden damage.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Managers are not the main audience for the exercises, but they absolutely influence whether structured practice happens. This slide keeps the practice layer connected to management behavior instead of treating training as someone else’s problem.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main manager takeaway. It keeps the rollout small enough to learn honestly before the organization turns weak assumptions into policy, and it makes apprenticeship protection part of the rollout design instead of an afterthought.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Leading Paired Engineering in Delivery Teams</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What managers actually need to do to make paired engineering work in real software delivery</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enablement succeeds or fails in the weekly team rhythm.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managers control time, priorities, and delivery pressure</a:t>
            </a:r>
          </a:p>
          <a:p>
            <a:pPr algn="l" marL="254000" indent="0">
              <a:lnSpc>
                <a:spcPct val="108000"/>
              </a:lnSpc>
              <a:spcBef>
                <a:spcPts val="0"/>
              </a:spcBef>
              <a:spcAft>
                <a:spcPts val="700"/>
              </a:spcAft>
              <a:buNone/>
              <a:defRPr sz="2000" b="0">
                <a:solidFill>
                  <a:srgbClr val="22313F"/>
                </a:solidFill>
                <a:latin typeface="Aptos"/>
              </a:defRPr>
            </a:pPr>
            <a:r>
              <a:t>- managers shape local incentives and psychological safety</a:t>
            </a:r>
          </a:p>
          <a:p>
            <a:pPr algn="l" marL="254000" indent="0">
              <a:lnSpc>
                <a:spcPct val="108000"/>
              </a:lnSpc>
              <a:spcBef>
                <a:spcPts val="0"/>
              </a:spcBef>
              <a:spcAft>
                <a:spcPts val="700"/>
              </a:spcAft>
              <a:buNone/>
              <a:defRPr sz="2000" b="0">
                <a:solidFill>
                  <a:srgbClr val="22313F"/>
                </a:solidFill>
                <a:latin typeface="Aptos"/>
              </a:defRPr>
            </a:pPr>
            <a:r>
              <a:t>- managers decide whether learning survives contact with schedule pressure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Do not reduce AI enablement to usage tracking or prompt policing.</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prompt count is a weak activity signal</a:t>
            </a:r>
          </a:p>
          <a:p>
            <a:pPr algn="l" marL="254000" indent="0">
              <a:lnSpc>
                <a:spcPct val="108000"/>
              </a:lnSpc>
              <a:spcBef>
                <a:spcPts val="0"/>
              </a:spcBef>
              <a:spcAft>
                <a:spcPts val="700"/>
              </a:spcAft>
              <a:buNone/>
              <a:defRPr sz="2000" b="0">
                <a:solidFill>
                  <a:srgbClr val="22313F"/>
                </a:solidFill>
                <a:latin typeface="Aptos"/>
              </a:defRPr>
            </a:pPr>
            <a:r>
              <a:t>- compliance is not the same as enablement</a:t>
            </a:r>
          </a:p>
          <a:p>
            <a:pPr algn="l" marL="254000" indent="0">
              <a:lnSpc>
                <a:spcPct val="108000"/>
              </a:lnSpc>
              <a:spcBef>
                <a:spcPts val="0"/>
              </a:spcBef>
              <a:spcAft>
                <a:spcPts val="700"/>
              </a:spcAft>
              <a:buNone/>
              <a:defRPr sz="2000" b="0">
                <a:solidFill>
                  <a:srgbClr val="22313F"/>
                </a:solidFill>
                <a:latin typeface="Aptos"/>
              </a:defRPr>
            </a:pPr>
            <a:r>
              <a:t>- pressure without support creates hiding behavior and silent cleanup</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own the conditions around the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protect time for target workflows, follow-up, and coaching</a:t>
            </a:r>
          </a:p>
          <a:p>
            <a:pPr algn="l" marL="254000" indent="0">
              <a:lnSpc>
                <a:spcPct val="108000"/>
              </a:lnSpc>
              <a:spcBef>
                <a:spcPts val="0"/>
              </a:spcBef>
              <a:spcAft>
                <a:spcPts val="700"/>
              </a:spcAft>
              <a:buNone/>
              <a:defRPr sz="2000" b="0">
                <a:solidFill>
                  <a:srgbClr val="22313F"/>
                </a:solidFill>
                <a:latin typeface="Aptos"/>
              </a:defRPr>
            </a:pPr>
            <a:r>
              <a:t>- reinforce verification and review expectations</a:t>
            </a:r>
          </a:p>
          <a:p>
            <a:pPr algn="l" marL="254000" indent="0">
              <a:lnSpc>
                <a:spcPct val="108000"/>
              </a:lnSpc>
              <a:spcBef>
                <a:spcPts val="0"/>
              </a:spcBef>
              <a:spcAft>
                <a:spcPts val="700"/>
              </a:spcAft>
              <a:buNone/>
              <a:defRPr sz="2000" b="0">
                <a:solidFill>
                  <a:srgbClr val="22313F"/>
                </a:solidFill>
                <a:latin typeface="Aptos"/>
              </a:defRPr>
            </a:pPr>
            <a:r>
              <a:t>- keep review debt and hidden cleanup visible</a:t>
            </a:r>
          </a:p>
          <a:p>
            <a:pPr algn="l" marL="254000" indent="0">
              <a:lnSpc>
                <a:spcPct val="108000"/>
              </a:lnSpc>
              <a:spcBef>
                <a:spcPts val="0"/>
              </a:spcBef>
              <a:spcAft>
                <a:spcPts val="700"/>
              </a:spcAft>
              <a:buNone/>
              <a:defRPr sz="2000" b="0">
                <a:solidFill>
                  <a:srgbClr val="22313F"/>
                </a:solidFill>
                <a:latin typeface="Aptos"/>
              </a:defRPr>
            </a:pPr>
            <a:r>
              <a:t>- protect learning-rich work while the team adopts AI</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need to protect both modes of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Learning mode</a:t>
            </a:r>
          </a:p>
          <a:p>
            <a:pPr algn="l" marL="457200" indent="0">
              <a:lnSpc>
                <a:spcPct val="108000"/>
              </a:lnSpc>
              <a:spcBef>
                <a:spcPts val="0"/>
              </a:spcBef>
              <a:spcAft>
                <a:spcPts val="700"/>
              </a:spcAft>
              <a:buNone/>
              <a:defRPr sz="2000" b="0">
                <a:solidFill>
                  <a:srgbClr val="22313F"/>
                </a:solidFill>
                <a:latin typeface="Aptos"/>
              </a:defRPr>
            </a:pPr>
            <a:r>
              <a:t>- explanation-first</a:t>
            </a:r>
          </a:p>
          <a:p>
            <a:pPr algn="l" marL="457200" indent="0">
              <a:lnSpc>
                <a:spcPct val="108000"/>
              </a:lnSpc>
              <a:spcBef>
                <a:spcPts val="0"/>
              </a:spcBef>
              <a:spcAft>
                <a:spcPts val="700"/>
              </a:spcAft>
              <a:buNone/>
              <a:defRPr sz="2000" b="0">
                <a:solidFill>
                  <a:srgbClr val="22313F"/>
                </a:solidFill>
                <a:latin typeface="Aptos"/>
              </a:defRPr>
            </a:pPr>
            <a:r>
              <a:t>- slower but capability-building</a:t>
            </a:r>
          </a:p>
          <a:p>
            <a:pPr algn="l" marL="457200" indent="0">
              <a:lnSpc>
                <a:spcPct val="108000"/>
              </a:lnSpc>
              <a:spcBef>
                <a:spcPts val="0"/>
              </a:spcBef>
              <a:spcAft>
                <a:spcPts val="700"/>
              </a:spcAft>
              <a:buNone/>
              <a:defRPr sz="2000" b="0">
                <a:solidFill>
                  <a:srgbClr val="22313F"/>
                </a:solidFill>
                <a:latin typeface="Aptos"/>
              </a:defRPr>
            </a:pPr>
            <a:r>
              <a:t>- appropriate for unfamiliar or fragile work</a:t>
            </a:r>
          </a:p>
          <a:p>
            <a:pPr algn="l" marL="0" indent="0">
              <a:lnSpc>
                <a:spcPct val="108000"/>
              </a:lnSpc>
              <a:spcBef>
                <a:spcPts val="0"/>
              </a:spcBef>
              <a:spcAft>
                <a:spcPts val="1000"/>
              </a:spcAft>
              <a:buNone/>
              <a:defRPr sz="2000" b="0">
                <a:solidFill>
                  <a:srgbClr val="22313F"/>
                </a:solidFill>
                <a:latin typeface="Aptos"/>
              </a:defRPr>
            </a:pPr>
            <a:r>
              <a:t>Delivery mode</a:t>
            </a:r>
          </a:p>
          <a:p>
            <a:pPr algn="l" marL="457200" indent="0">
              <a:lnSpc>
                <a:spcPct val="108000"/>
              </a:lnSpc>
              <a:spcBef>
                <a:spcPts val="0"/>
              </a:spcBef>
              <a:spcAft>
                <a:spcPts val="700"/>
              </a:spcAft>
              <a:buNone/>
              <a:defRPr sz="2000" b="0">
                <a:solidFill>
                  <a:srgbClr val="22313F"/>
                </a:solidFill>
                <a:latin typeface="Aptos"/>
              </a:defRPr>
            </a:pPr>
            <a:r>
              <a:t>- bounded acceleration</a:t>
            </a:r>
          </a:p>
          <a:p>
            <a:pPr algn="l" marL="457200" indent="0">
              <a:lnSpc>
                <a:spcPct val="108000"/>
              </a:lnSpc>
              <a:spcBef>
                <a:spcPts val="0"/>
              </a:spcBef>
              <a:spcAft>
                <a:spcPts val="700"/>
              </a:spcAft>
              <a:buNone/>
              <a:defRPr sz="2000" b="0">
                <a:solidFill>
                  <a:srgbClr val="22313F"/>
                </a:solidFill>
                <a:latin typeface="Aptos"/>
              </a:defRPr>
            </a:pPr>
            <a:r>
              <a:t>- stronger verification</a:t>
            </a:r>
          </a:p>
          <a:p>
            <a:pPr algn="l" marL="457200" indent="0">
              <a:lnSpc>
                <a:spcPct val="108000"/>
              </a:lnSpc>
              <a:spcBef>
                <a:spcPts val="0"/>
              </a:spcBef>
              <a:spcAft>
                <a:spcPts val="700"/>
              </a:spcAft>
              <a:buNone/>
              <a:defRPr sz="2000" b="0">
                <a:solidFill>
                  <a:srgbClr val="22313F"/>
                </a:solidFill>
                <a:latin typeface="Aptos"/>
              </a:defRPr>
            </a:pPr>
            <a:r>
              <a:t>- appropriate when the work is familiar and reviewable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Shallow rollout damages both the lower rungs and the senior layer above them.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junior and intermediate engineers still need progressive responsibility</a:t>
            </a:r>
          </a:p>
          <a:p>
            <a:pPr algn="l" marL="254000" indent="0">
              <a:lnSpc>
                <a:spcPct val="108000"/>
              </a:lnSpc>
              <a:spcBef>
                <a:spcPts val="0"/>
              </a:spcBef>
              <a:spcAft>
                <a:spcPts val="700"/>
              </a:spcAft>
              <a:buNone/>
              <a:defRPr sz="2000" b="0">
                <a:solidFill>
                  <a:srgbClr val="22313F"/>
                </a:solidFill>
                <a:latin typeface="Aptos"/>
              </a:defRPr>
            </a:pPr>
            <a:r>
              <a:t>- co-ops and junior engineers can absorb bounded, learning-rich work that helps build future independent capacity</a:t>
            </a:r>
          </a:p>
          <a:p>
            <a:pPr algn="l" marL="254000" indent="0">
              <a:lnSpc>
                <a:spcPct val="108000"/>
              </a:lnSpc>
              <a:spcBef>
                <a:spcPts val="0"/>
              </a:spcBef>
              <a:spcAft>
                <a:spcPts val="700"/>
              </a:spcAft>
              <a:buNone/>
              <a:defRPr sz="2000" b="0">
                <a:solidFill>
                  <a:srgbClr val="22313F"/>
                </a:solidFill>
                <a:latin typeface="Aptos"/>
              </a:defRPr>
            </a:pPr>
            <a:r>
              <a:t>- removing learning-rich work can weaken the future pipeline and make hiring more brittle later</a:t>
            </a:r>
          </a:p>
          <a:p>
            <a:pPr algn="l" marL="254000" indent="0">
              <a:lnSpc>
                <a:spcPct val="108000"/>
              </a:lnSpc>
              <a:spcBef>
                <a:spcPts val="0"/>
              </a:spcBef>
              <a:spcAft>
                <a:spcPts val="700"/>
              </a:spcAft>
              <a:buNone/>
              <a:defRPr sz="2000" b="0">
                <a:solidFill>
                  <a:srgbClr val="22313F"/>
                </a:solidFill>
                <a:latin typeface="Aptos"/>
              </a:defRPr>
            </a:pPr>
            <a:r>
              <a:t>- pushing ambiguous review and cleanup upward can overload senior engineers</a:t>
            </a:r>
          </a:p>
          <a:p>
            <a:pPr algn="l" marL="254000" indent="0">
              <a:lnSpc>
                <a:spcPct val="108000"/>
              </a:lnSpc>
              <a:spcBef>
                <a:spcPts val="0"/>
              </a:spcBef>
              <a:spcAft>
                <a:spcPts val="700"/>
              </a:spcAft>
              <a:buNone/>
              <a:defRPr sz="2000" b="0">
                <a:solidFill>
                  <a:srgbClr val="22313F"/>
                </a:solidFill>
                <a:latin typeface="Aptos"/>
              </a:defRPr>
            </a:pPr>
            <a:r>
              <a:t>- this is a team-design problem, not only a hiring-market problem</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need quality signals, not just activity signals.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Track:</a:t>
            </a:r>
          </a:p>
          <a:p>
            <a:pPr algn="l" marL="457200" indent="0">
              <a:lnSpc>
                <a:spcPct val="108000"/>
              </a:lnSpc>
              <a:spcBef>
                <a:spcPts val="0"/>
              </a:spcBef>
              <a:spcAft>
                <a:spcPts val="700"/>
              </a:spcAft>
              <a:buNone/>
              <a:defRPr sz="2000" b="0">
                <a:solidFill>
                  <a:srgbClr val="22313F"/>
                </a:solidFill>
                <a:latin typeface="Aptos"/>
              </a:defRPr>
            </a:pPr>
            <a:r>
              <a:t>- workflow outcome quality</a:t>
            </a:r>
          </a:p>
          <a:p>
            <a:pPr algn="l" marL="457200" indent="0">
              <a:lnSpc>
                <a:spcPct val="108000"/>
              </a:lnSpc>
              <a:spcBef>
                <a:spcPts val="0"/>
              </a:spcBef>
              <a:spcAft>
                <a:spcPts val="700"/>
              </a:spcAft>
              <a:buNone/>
              <a:defRPr sz="2000" b="0">
                <a:solidFill>
                  <a:srgbClr val="22313F"/>
                </a:solidFill>
                <a:latin typeface="Aptos"/>
              </a:defRPr>
            </a:pPr>
            <a:r>
              <a:t>- downstream rework</a:t>
            </a:r>
          </a:p>
          <a:p>
            <a:pPr algn="l" marL="457200" indent="0">
              <a:lnSpc>
                <a:spcPct val="108000"/>
              </a:lnSpc>
              <a:spcBef>
                <a:spcPts val="0"/>
              </a:spcBef>
              <a:spcAft>
                <a:spcPts val="700"/>
              </a:spcAft>
              <a:buNone/>
              <a:defRPr sz="2000" b="0">
                <a:solidFill>
                  <a:srgbClr val="22313F"/>
                </a:solidFill>
                <a:latin typeface="Aptos"/>
              </a:defRPr>
            </a:pPr>
            <a:r>
              <a:t>- review burden</a:t>
            </a:r>
          </a:p>
          <a:p>
            <a:pPr algn="l" marL="457200" indent="0">
              <a:lnSpc>
                <a:spcPct val="108000"/>
              </a:lnSpc>
              <a:spcBef>
                <a:spcPts val="0"/>
              </a:spcBef>
              <a:spcAft>
                <a:spcPts val="700"/>
              </a:spcAft>
              <a:buNone/>
              <a:defRPr sz="2000" b="0">
                <a:solidFill>
                  <a:srgbClr val="22313F"/>
                </a:solidFill>
                <a:latin typeface="Aptos"/>
              </a:defRPr>
            </a:pPr>
            <a:r>
              <a:t>- adoption quality</a:t>
            </a:r>
          </a:p>
          <a:p>
            <a:pPr algn="l" marL="457200" indent="0">
              <a:lnSpc>
                <a:spcPct val="108000"/>
              </a:lnSpc>
              <a:spcBef>
                <a:spcPts val="0"/>
              </a:spcBef>
              <a:spcAft>
                <a:spcPts val="700"/>
              </a:spcAft>
              <a:buNone/>
              <a:defRPr sz="2000" b="0">
                <a:solidFill>
                  <a:srgbClr val="22313F"/>
                </a:solidFill>
                <a:latin typeface="Aptos"/>
              </a:defRPr>
            </a:pPr>
            <a:r>
              <a:t>- explanation and verification ability in sampled cases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 few better questions surface early signals.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where did AI help this week</a:t>
            </a:r>
          </a:p>
          <a:p>
            <a:pPr algn="l" marL="254000" indent="0">
              <a:lnSpc>
                <a:spcPct val="108000"/>
              </a:lnSpc>
              <a:spcBef>
                <a:spcPts val="0"/>
              </a:spcBef>
              <a:spcAft>
                <a:spcPts val="700"/>
              </a:spcAft>
              <a:buNone/>
              <a:defRPr sz="2000" b="0">
                <a:solidFill>
                  <a:srgbClr val="22313F"/>
                </a:solidFill>
                <a:latin typeface="Aptos"/>
              </a:defRPr>
            </a:pPr>
            <a:r>
              <a:t>- where did something feel off, heavier, or less trustworthy than expected</a:t>
            </a:r>
          </a:p>
          <a:p>
            <a:pPr algn="l" marL="254000" indent="0">
              <a:lnSpc>
                <a:spcPct val="108000"/>
              </a:lnSpc>
              <a:spcBef>
                <a:spcPts val="0"/>
              </a:spcBef>
              <a:spcAft>
                <a:spcPts val="700"/>
              </a:spcAft>
              <a:buNone/>
              <a:defRPr sz="2000" b="0">
                <a:solidFill>
                  <a:srgbClr val="22313F"/>
                </a:solidFill>
                <a:latin typeface="Aptos"/>
              </a:defRPr>
            </a:pPr>
            <a:r>
              <a:t>- where was verification hard</a:t>
            </a:r>
          </a:p>
          <a:p>
            <a:pPr algn="l" marL="254000" indent="0">
              <a:lnSpc>
                <a:spcPct val="108000"/>
              </a:lnSpc>
              <a:spcBef>
                <a:spcPts val="0"/>
              </a:spcBef>
              <a:spcAft>
                <a:spcPts val="700"/>
              </a:spcAft>
              <a:buNone/>
              <a:defRPr sz="2000" b="0">
                <a:solidFill>
                  <a:srgbClr val="22313F"/>
                </a:solidFill>
                <a:latin typeface="Aptos"/>
              </a:defRPr>
            </a:pPr>
            <a:r>
              <a:t>- where did cleanup increase</a:t>
            </a:r>
          </a:p>
          <a:p>
            <a:pPr algn="l" marL="254000" indent="0">
              <a:lnSpc>
                <a:spcPct val="108000"/>
              </a:lnSpc>
              <a:spcBef>
                <a:spcPts val="0"/>
              </a:spcBef>
              <a:spcAft>
                <a:spcPts val="700"/>
              </a:spcAft>
              <a:buNone/>
              <a:defRPr sz="2000" b="0">
                <a:solidFill>
                  <a:srgbClr val="22313F"/>
                </a:solidFill>
                <a:latin typeface="Aptos"/>
              </a:defRPr>
            </a:pPr>
            <a:r>
              <a:t>- who needs more explanation-first support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 language shapes team behavior.</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Helpful:</a:t>
            </a:r>
          </a:p>
          <a:p>
            <a:pPr algn="l" marL="457200" indent="0">
              <a:lnSpc>
                <a:spcPct val="108000"/>
              </a:lnSpc>
              <a:spcBef>
                <a:spcPts val="0"/>
              </a:spcBef>
              <a:spcAft>
                <a:spcPts val="700"/>
              </a:spcAft>
              <a:buNone/>
              <a:defRPr sz="2000" b="0">
                <a:solidFill>
                  <a:srgbClr val="22313F"/>
                </a:solidFill>
                <a:latin typeface="Aptos"/>
              </a:defRPr>
            </a:pPr>
            <a:r>
              <a:t>- show me where the workflow improved</a:t>
            </a:r>
          </a:p>
          <a:p>
            <a:pPr algn="l" marL="457200" indent="0">
              <a:lnSpc>
                <a:spcPct val="108000"/>
              </a:lnSpc>
              <a:spcBef>
                <a:spcPts val="0"/>
              </a:spcBef>
              <a:spcAft>
                <a:spcPts val="700"/>
              </a:spcAft>
              <a:buNone/>
              <a:defRPr sz="2000" b="0">
                <a:solidFill>
                  <a:srgbClr val="22313F"/>
                </a:solidFill>
                <a:latin typeface="Aptos"/>
              </a:defRPr>
            </a:pPr>
            <a:r>
              <a:t>- what did we verify and how</a:t>
            </a:r>
          </a:p>
          <a:p>
            <a:pPr algn="l" marL="457200" indent="0">
              <a:lnSpc>
                <a:spcPct val="108000"/>
              </a:lnSpc>
              <a:spcBef>
                <a:spcPts val="0"/>
              </a:spcBef>
              <a:spcAft>
                <a:spcPts val="700"/>
              </a:spcAft>
              <a:buNone/>
              <a:defRPr sz="2000" b="0">
                <a:solidFill>
                  <a:srgbClr val="22313F"/>
                </a:solidFill>
                <a:latin typeface="Aptos"/>
              </a:defRPr>
            </a:pPr>
            <a:r>
              <a:t>- where is the hidden cleanup cost</a:t>
            </a:r>
          </a:p>
          <a:p>
            <a:pPr algn="l" marL="0" indent="0">
              <a:lnSpc>
                <a:spcPct val="108000"/>
              </a:lnSpc>
              <a:spcBef>
                <a:spcPts val="0"/>
              </a:spcBef>
              <a:spcAft>
                <a:spcPts val="1000"/>
              </a:spcAft>
              <a:buNone/>
              <a:defRPr sz="2000" b="0">
                <a:solidFill>
                  <a:srgbClr val="22313F"/>
                </a:solidFill>
                <a:latin typeface="Aptos"/>
              </a:defRPr>
            </a:pPr>
            <a:r>
              <a:t>Unhelpful:</a:t>
            </a:r>
          </a:p>
          <a:p>
            <a:pPr algn="l" marL="457200" indent="0">
              <a:lnSpc>
                <a:spcPct val="108000"/>
              </a:lnSpc>
              <a:spcBef>
                <a:spcPts val="0"/>
              </a:spcBef>
              <a:spcAft>
                <a:spcPts val="700"/>
              </a:spcAft>
              <a:buNone/>
              <a:defRPr sz="2000" b="0">
                <a:solidFill>
                  <a:srgbClr val="22313F"/>
                </a:solidFill>
                <a:latin typeface="Aptos"/>
              </a:defRPr>
            </a:pPr>
            <a:r>
              <a:t>- why is usage not higher</a:t>
            </a:r>
          </a:p>
          <a:p>
            <a:pPr algn="l" marL="457200" indent="0">
              <a:lnSpc>
                <a:spcPct val="108000"/>
              </a:lnSpc>
              <a:spcBef>
                <a:spcPts val="0"/>
              </a:spcBef>
              <a:spcAft>
                <a:spcPts val="700"/>
              </a:spcAft>
              <a:buNone/>
              <a:defRPr sz="2000" b="0">
                <a:solidFill>
                  <a:srgbClr val="22313F"/>
                </a:solidFill>
                <a:latin typeface="Aptos"/>
              </a:defRPr>
            </a:pPr>
            <a:r>
              <a:t>- if AI drafted it, why is it still taking this long</a:t>
            </a:r>
          </a:p>
          <a:p>
            <a:pPr algn="l" marL="457200" indent="0">
              <a:lnSpc>
                <a:spcPct val="108000"/>
              </a:lnSpc>
              <a:spcBef>
                <a:spcPts val="0"/>
              </a:spcBef>
              <a:spcAft>
                <a:spcPts val="700"/>
              </a:spcAft>
              <a:buNone/>
              <a:defRPr sz="2000" b="0">
                <a:solidFill>
                  <a:srgbClr val="22313F"/>
                </a:solidFill>
                <a:latin typeface="Aptos"/>
              </a:defRPr>
            </a:pPr>
            <a:r>
              <a:t>- everyone should be using this the same way by now</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and technical leads own different parts of the same system.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Managers primarily own:</a:t>
            </a:r>
          </a:p>
          <a:p>
            <a:pPr algn="l" marL="457200" indent="0">
              <a:lnSpc>
                <a:spcPct val="108000"/>
              </a:lnSpc>
              <a:spcBef>
                <a:spcPts val="0"/>
              </a:spcBef>
              <a:spcAft>
                <a:spcPts val="700"/>
              </a:spcAft>
              <a:buNone/>
              <a:defRPr sz="2000" b="0">
                <a:solidFill>
                  <a:srgbClr val="22313F"/>
                </a:solidFill>
                <a:latin typeface="Aptos"/>
              </a:defRPr>
            </a:pPr>
            <a:r>
              <a:t>- time</a:t>
            </a:r>
          </a:p>
          <a:p>
            <a:pPr algn="l" marL="457200" indent="0">
              <a:lnSpc>
                <a:spcPct val="108000"/>
              </a:lnSpc>
              <a:spcBef>
                <a:spcPts val="0"/>
              </a:spcBef>
              <a:spcAft>
                <a:spcPts val="700"/>
              </a:spcAft>
              <a:buNone/>
              <a:defRPr sz="2000" b="0">
                <a:solidFill>
                  <a:srgbClr val="22313F"/>
                </a:solidFill>
                <a:latin typeface="Aptos"/>
              </a:defRPr>
            </a:pPr>
            <a:r>
              <a:t>- incentives</a:t>
            </a:r>
          </a:p>
          <a:p>
            <a:pPr algn="l" marL="457200" indent="0">
              <a:lnSpc>
                <a:spcPct val="108000"/>
              </a:lnSpc>
              <a:spcBef>
                <a:spcPts val="0"/>
              </a:spcBef>
              <a:spcAft>
                <a:spcPts val="700"/>
              </a:spcAft>
              <a:buNone/>
              <a:defRPr sz="2000" b="0">
                <a:solidFill>
                  <a:srgbClr val="22313F"/>
                </a:solidFill>
                <a:latin typeface="Aptos"/>
              </a:defRPr>
            </a:pPr>
            <a:r>
              <a:t>- team norms</a:t>
            </a:r>
          </a:p>
          <a:p>
            <a:pPr algn="l" marL="457200" indent="0">
              <a:lnSpc>
                <a:spcPct val="108000"/>
              </a:lnSpc>
              <a:spcBef>
                <a:spcPts val="0"/>
              </a:spcBef>
              <a:spcAft>
                <a:spcPts val="700"/>
              </a:spcAft>
              <a:buNone/>
              <a:defRPr sz="2000" b="0">
                <a:solidFill>
                  <a:srgbClr val="22313F"/>
                </a:solidFill>
                <a:latin typeface="Aptos"/>
              </a:defRPr>
            </a:pPr>
            <a:r>
              <a:t>- learning protection</a:t>
            </a:r>
          </a:p>
          <a:p>
            <a:pPr algn="l" marL="0" indent="0">
              <a:lnSpc>
                <a:spcPct val="108000"/>
              </a:lnSpc>
              <a:spcBef>
                <a:spcPts val="0"/>
              </a:spcBef>
              <a:spcAft>
                <a:spcPts val="1000"/>
              </a:spcAft>
              <a:buNone/>
              <a:defRPr sz="2000" b="0">
                <a:solidFill>
                  <a:srgbClr val="22313F"/>
                </a:solidFill>
                <a:latin typeface="Aptos"/>
              </a:defRPr>
            </a:pPr>
            <a:r>
              <a:t>Technical leads primarily own:</a:t>
            </a:r>
          </a:p>
          <a:p>
            <a:pPr algn="l" marL="457200" indent="0">
              <a:lnSpc>
                <a:spcPct val="108000"/>
              </a:lnSpc>
              <a:spcBef>
                <a:spcPts val="0"/>
              </a:spcBef>
              <a:spcAft>
                <a:spcPts val="700"/>
              </a:spcAft>
              <a:buNone/>
              <a:defRPr sz="2000" b="0">
                <a:solidFill>
                  <a:srgbClr val="22313F"/>
                </a:solidFill>
                <a:latin typeface="Aptos"/>
              </a:defRPr>
            </a:pPr>
            <a:r>
              <a:t>- workflow design</a:t>
            </a:r>
          </a:p>
          <a:p>
            <a:pPr algn="l" marL="457200" indent="0">
              <a:lnSpc>
                <a:spcPct val="108000"/>
              </a:lnSpc>
              <a:spcBef>
                <a:spcPts val="0"/>
              </a:spcBef>
              <a:spcAft>
                <a:spcPts val="700"/>
              </a:spcAft>
              <a:buNone/>
              <a:defRPr sz="2000" b="0">
                <a:solidFill>
                  <a:srgbClr val="22313F"/>
                </a:solidFill>
                <a:latin typeface="Aptos"/>
              </a:defRPr>
            </a:pPr>
            <a:r>
              <a:t>- verification standards</a:t>
            </a:r>
          </a:p>
          <a:p>
            <a:pPr algn="l" marL="457200" indent="0">
              <a:lnSpc>
                <a:spcPct val="108000"/>
              </a:lnSpc>
              <a:spcBef>
                <a:spcPts val="0"/>
              </a:spcBef>
              <a:spcAft>
                <a:spcPts val="700"/>
              </a:spcAft>
              <a:buNone/>
              <a:defRPr sz="2000" b="0">
                <a:solidFill>
                  <a:srgbClr val="22313F"/>
                </a:solidFill>
                <a:latin typeface="Aptos"/>
              </a:defRPr>
            </a:pPr>
            <a:r>
              <a:t>- technical examples</a:t>
            </a:r>
          </a:p>
          <a:p>
            <a:pPr algn="l" marL="457200" indent="0">
              <a:lnSpc>
                <a:spcPct val="108000"/>
              </a:lnSpc>
              <a:spcBef>
                <a:spcPts val="0"/>
              </a:spcBef>
              <a:spcAft>
                <a:spcPts val="700"/>
              </a:spcAft>
              <a:buNone/>
              <a:defRPr sz="2000" b="0">
                <a:solidFill>
                  <a:srgbClr val="22313F"/>
                </a:solidFill>
                <a:latin typeface="Aptos"/>
              </a:defRPr>
            </a:pPr>
            <a:r>
              <a:t>- review and escalation quality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Weak manager behavior shows up before the dashboard does.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rollout by pressure instead of support</a:t>
            </a:r>
          </a:p>
          <a:p>
            <a:pPr algn="l" marL="254000" indent="0">
              <a:lnSpc>
                <a:spcPct val="108000"/>
              </a:lnSpc>
              <a:spcBef>
                <a:spcPts val="0"/>
              </a:spcBef>
              <a:spcAft>
                <a:spcPts val="700"/>
              </a:spcAft>
              <a:buNone/>
              <a:defRPr sz="2000" b="0">
                <a:solidFill>
                  <a:srgbClr val="22313F"/>
                </a:solidFill>
                <a:latin typeface="Aptos"/>
              </a:defRPr>
            </a:pPr>
            <a:r>
              <a:t>- silent review debt on senior engineers</a:t>
            </a:r>
          </a:p>
          <a:p>
            <a:pPr algn="l" marL="254000" indent="0">
              <a:lnSpc>
                <a:spcPct val="108000"/>
              </a:lnSpc>
              <a:spcBef>
                <a:spcPts val="0"/>
              </a:spcBef>
              <a:spcAft>
                <a:spcPts val="700"/>
              </a:spcAft>
              <a:buNone/>
              <a:defRPr sz="2000" b="0">
                <a:solidFill>
                  <a:srgbClr val="22313F"/>
                </a:solidFill>
                <a:latin typeface="Aptos"/>
              </a:defRPr>
            </a:pPr>
            <a:r>
              <a:t>- juniors borrowing capability without growing it</a:t>
            </a:r>
          </a:p>
          <a:p>
            <a:pPr algn="l" marL="254000" indent="0">
              <a:lnSpc>
                <a:spcPct val="108000"/>
              </a:lnSpc>
              <a:spcBef>
                <a:spcPts val="0"/>
              </a:spcBef>
              <a:spcAft>
                <a:spcPts val="700"/>
              </a:spcAft>
              <a:buNone/>
              <a:defRPr sz="2000" b="0">
                <a:solidFill>
                  <a:srgbClr val="22313F"/>
                </a:solidFill>
                <a:latin typeface="Aptos"/>
              </a:defRPr>
            </a:pPr>
            <a:r>
              <a:t>- usage metrics replacing real evidence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Good AI enablement improves flow without hollowing out the team.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managers support one bounded workflow at a time</a:t>
            </a:r>
          </a:p>
          <a:p>
            <a:pPr algn="l" marL="254000" indent="0">
              <a:lnSpc>
                <a:spcPct val="108000"/>
              </a:lnSpc>
              <a:spcBef>
                <a:spcPts val="0"/>
              </a:spcBef>
              <a:spcAft>
                <a:spcPts val="700"/>
              </a:spcAft>
              <a:buNone/>
              <a:defRPr sz="2000" b="0">
                <a:solidFill>
                  <a:srgbClr val="22313F"/>
                </a:solidFill>
                <a:latin typeface="Aptos"/>
              </a:defRPr>
            </a:pPr>
            <a:r>
              <a:t>- learning mode is still visible</a:t>
            </a:r>
          </a:p>
          <a:p>
            <a:pPr algn="l" marL="254000" indent="0">
              <a:lnSpc>
                <a:spcPct val="108000"/>
              </a:lnSpc>
              <a:spcBef>
                <a:spcPts val="0"/>
              </a:spcBef>
              <a:spcAft>
                <a:spcPts val="700"/>
              </a:spcAft>
              <a:buNone/>
              <a:defRPr sz="2000" b="0">
                <a:solidFill>
                  <a:srgbClr val="22313F"/>
                </a:solidFill>
                <a:latin typeface="Aptos"/>
              </a:defRPr>
            </a:pPr>
            <a:r>
              <a:t>- seniors are not permanent cleanup layers</a:t>
            </a:r>
          </a:p>
          <a:p>
            <a:pPr algn="l" marL="254000" indent="0">
              <a:lnSpc>
                <a:spcPct val="108000"/>
              </a:lnSpc>
              <a:spcBef>
                <a:spcPts val="0"/>
              </a:spcBef>
              <a:spcAft>
                <a:spcPts val="700"/>
              </a:spcAft>
              <a:buNone/>
              <a:defRPr sz="2000" b="0">
                <a:solidFill>
                  <a:srgbClr val="22313F"/>
                </a:solidFill>
                <a:latin typeface="Aptos"/>
              </a:defRPr>
            </a:pPr>
            <a:r>
              <a:t>- better signals replace vanity metrics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Teams do not build better habits from policy alone.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review the workshop and worksheet packs</a:t>
            </a:r>
          </a:p>
          <a:p>
            <a:pPr algn="l" marL="254000" indent="0">
              <a:lnSpc>
                <a:spcPct val="108000"/>
              </a:lnSpc>
              <a:spcBef>
                <a:spcPts val="0"/>
              </a:spcBef>
              <a:spcAft>
                <a:spcPts val="700"/>
              </a:spcAft>
              <a:buNone/>
              <a:defRPr sz="2000" b="0">
                <a:solidFill>
                  <a:srgbClr val="22313F"/>
                </a:solidFill>
                <a:latin typeface="Aptos"/>
              </a:defRPr>
            </a:pPr>
            <a:r>
              <a:t>- ask leads to choose scenarios that match current team reality</a:t>
            </a:r>
          </a:p>
          <a:p>
            <a:pPr algn="l" marL="254000" indent="0">
              <a:lnSpc>
                <a:spcPct val="108000"/>
              </a:lnSpc>
              <a:spcBef>
                <a:spcPts val="0"/>
              </a:spcBef>
              <a:spcAft>
                <a:spcPts val="700"/>
              </a:spcAft>
              <a:buNone/>
              <a:defRPr sz="2000" b="0">
                <a:solidFill>
                  <a:srgbClr val="22313F"/>
                </a:solidFill>
                <a:latin typeface="Aptos"/>
              </a:defRPr>
            </a:pPr>
            <a:r>
              <a:t>- use the packs to create safe, bounded practice for co-ops, juniors, and intermediates</a:t>
            </a:r>
          </a:p>
          <a:p>
            <a:pPr algn="l" marL="254000" indent="0">
              <a:lnSpc>
                <a:spcPct val="108000"/>
              </a:lnSpc>
              <a:spcBef>
                <a:spcPts val="0"/>
              </a:spcBef>
              <a:spcAft>
                <a:spcPts val="700"/>
              </a:spcAft>
              <a:buNone/>
              <a:defRPr sz="2000" b="0">
                <a:solidFill>
                  <a:srgbClr val="22313F"/>
                </a:solidFill>
                <a:latin typeface="Aptos"/>
              </a:defRPr>
            </a:pPr>
            <a:r>
              <a:t>- protect time to review or complete at least one exercise before scaling</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Start small, protect the ladder, and scale only what works.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choose one workflow where verification is visible</a:t>
            </a:r>
          </a:p>
          <a:p>
            <a:pPr algn="l" marL="254000" indent="0">
              <a:lnSpc>
                <a:spcPct val="108000"/>
              </a:lnSpc>
              <a:spcBef>
                <a:spcPts val="0"/>
              </a:spcBef>
              <a:spcAft>
                <a:spcPts val="700"/>
              </a:spcAft>
              <a:buNone/>
              <a:defRPr sz="2000" b="0">
                <a:solidFill>
                  <a:srgbClr val="22313F"/>
                </a:solidFill>
                <a:latin typeface="Aptos"/>
              </a:defRPr>
            </a:pPr>
            <a:r>
              <a:t>- protect one learning path that includes lower-rung engineers, not only seniors</a:t>
            </a:r>
          </a:p>
          <a:p>
            <a:pPr algn="l" marL="254000" indent="0">
              <a:lnSpc>
                <a:spcPct val="108000"/>
              </a:lnSpc>
              <a:spcBef>
                <a:spcPts val="0"/>
              </a:spcBef>
              <a:spcAft>
                <a:spcPts val="700"/>
              </a:spcAft>
              <a:buNone/>
              <a:defRPr sz="2000" b="0">
                <a:solidFill>
                  <a:srgbClr val="22313F"/>
                </a:solidFill>
                <a:latin typeface="Aptos"/>
              </a:defRPr>
            </a:pPr>
            <a:r>
              <a:t>- track one honest quality signal before expanding the rollout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