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Frame this as a technical leadership playbook, not a management memo and not a tool demo. This audience sits in the layer where local practice becomes team habit and where weak rollout patterns either get corrected or normalized.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land the central claim: the Staff Engineer is often the person who turns strategy into a real workflow, or fails to. That is why this audience matters so much in AI enablement.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pushes back on two bad outcomes: technical leaders becoming cynical support staff for weak rollout, or becoming evangelists with no operating discipline. Neither is useful.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real job. Strong technical leaders define what good looks like in actual work and make it easier for others to follow that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Many technical leaders are pulled into tool conversations too early. This slide reminds them that workflow fit should lead, and tool choice should follow.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point here is not to teach theory for its own sake. It is to explain why technical leaders should not let one local success pattern harden into a blanket team rule.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feel blunt. Many organizations say “human in the loop” without ever defining what the human is supposed to verify. Staff Engineers are the people most likely to fix that ambiguity.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a critical Staff-level concern. If the team is generating faster than it can review, understand, or safely integrate, the technical leadership layer has a workflow problem, not a prompt problem.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Strong enablement becomes durable when it can survive outside the one person who first modeled it. This is where Staff Engineers turn local success into something a broader org can actually reuse.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where the Staff Engineer audience gets a longer-horizon responsibility. If stronger engineers get more leverage from AI, they also inherit more obligation to preserve the capability pipeline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probably the emotional center of the deck. Staff Engineers rarely win by policy alone. They win by being useful, credible, and operationally grounded.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deck connects to internal platform thinking. The best tool is often the one that fits the real surface of work, not the one with the most impressive benchmark or model prestige.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brings the measurement discipline into the Staff layer. Technical leaders should be good at spotting the mismatch between glossy local wins and the actual burden on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should help the audience notice weak patterns while they are still socially cheap to correct. Once the habit becomes normal, changing it gets much harder.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End with the target state. The point is not to make AI invisible. The point is to make the overall delivery system stronger and more teachable.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gives the audience a clear next step beyond nodding at the principles. The point is not mandatory homework. The point is that strong technical leaders should pressure-test their judgment somewhere safer than a live organizational failure.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Close with execution, not abstraction. The Staff Engineer should leave with a credible sequence: choose a real workflow, make verification explicit, model the behavior publicly, and only then turn it into a checklist, example, office-hours pattern, or reusable standard. Do not start with a standards document no one has pressure-tested in real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AI Enablement Through Influence</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What Staff Engineers and technical leaders actually own in an AI rollout</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Most rollout success or failure happens between executive intent and day-to-day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executives can sponsor</a:t>
            </a:r>
          </a:p>
          <a:p>
            <a:pPr algn="l" marL="254000" indent="0">
              <a:lnSpc>
                <a:spcPct val="108000"/>
              </a:lnSpc>
              <a:spcBef>
                <a:spcPts val="0"/>
              </a:spcBef>
              <a:spcAft>
                <a:spcPts val="700"/>
              </a:spcAft>
              <a:buNone/>
              <a:defRPr sz="2000" b="0">
                <a:solidFill>
                  <a:srgbClr val="22313F"/>
                </a:solidFill>
                <a:latin typeface="Aptos"/>
              </a:defRPr>
            </a:pPr>
            <a:r>
              <a:t>- practitioners can use tools</a:t>
            </a:r>
          </a:p>
          <a:p>
            <a:pPr algn="l" marL="254000" indent="0">
              <a:lnSpc>
                <a:spcPct val="108000"/>
              </a:lnSpc>
              <a:spcBef>
                <a:spcPts val="0"/>
              </a:spcBef>
              <a:spcAft>
                <a:spcPts val="700"/>
              </a:spcAft>
              <a:buNone/>
              <a:defRPr sz="2000" b="0">
                <a:solidFill>
                  <a:srgbClr val="22313F"/>
                </a:solidFill>
                <a:latin typeface="Aptos"/>
              </a:defRPr>
            </a:pPr>
            <a:r>
              <a:t>- Staff Engineers shape the operating reality in between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Staff Engineer is not the prompt auditor, cleanup sponge, or unofficial tool admin for everyone.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not tool police</a:t>
            </a:r>
          </a:p>
          <a:p>
            <a:pPr algn="l" marL="254000" indent="0">
              <a:lnSpc>
                <a:spcPct val="108000"/>
              </a:lnSpc>
              <a:spcBef>
                <a:spcPts val="0"/>
              </a:spcBef>
              <a:spcAft>
                <a:spcPts val="700"/>
              </a:spcAft>
              <a:buNone/>
              <a:defRPr sz="2000" b="0">
                <a:solidFill>
                  <a:srgbClr val="22313F"/>
                </a:solidFill>
                <a:latin typeface="Aptos"/>
              </a:defRPr>
            </a:pPr>
            <a:r>
              <a:t>- not the quiet fixer of every bad output</a:t>
            </a:r>
          </a:p>
          <a:p>
            <a:pPr algn="l" marL="254000" indent="0">
              <a:lnSpc>
                <a:spcPct val="108000"/>
              </a:lnSpc>
              <a:spcBef>
                <a:spcPts val="0"/>
              </a:spcBef>
              <a:spcAft>
                <a:spcPts val="700"/>
              </a:spcAft>
              <a:buNone/>
              <a:defRPr sz="2000" b="0">
                <a:solidFill>
                  <a:srgbClr val="22313F"/>
                </a:solidFill>
                <a:latin typeface="Aptos"/>
              </a:defRPr>
            </a:pPr>
            <a:r>
              <a:t>- not a hype messenger detached from the work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Own the conditions for good AI usage, not just the opinions about it.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workflow selection</a:t>
            </a:r>
          </a:p>
          <a:p>
            <a:pPr algn="l" marL="254000" indent="0">
              <a:lnSpc>
                <a:spcPct val="108000"/>
              </a:lnSpc>
              <a:spcBef>
                <a:spcPts val="0"/>
              </a:spcBef>
              <a:spcAft>
                <a:spcPts val="700"/>
              </a:spcAft>
              <a:buNone/>
              <a:defRPr sz="2000" b="0">
                <a:solidFill>
                  <a:srgbClr val="22313F"/>
                </a:solidFill>
                <a:latin typeface="Aptos"/>
              </a:defRPr>
            </a:pPr>
            <a:r>
              <a:t>- verification standards</a:t>
            </a:r>
          </a:p>
          <a:p>
            <a:pPr algn="l" marL="254000" indent="0">
              <a:lnSpc>
                <a:spcPct val="108000"/>
              </a:lnSpc>
              <a:spcBef>
                <a:spcPts val="0"/>
              </a:spcBef>
              <a:spcAft>
                <a:spcPts val="700"/>
              </a:spcAft>
              <a:buNone/>
              <a:defRPr sz="2000" b="0">
                <a:solidFill>
                  <a:srgbClr val="22313F"/>
                </a:solidFill>
                <a:latin typeface="Aptos"/>
              </a:defRPr>
            </a:pPr>
            <a:r>
              <a:t>- examples and review hygiene</a:t>
            </a:r>
          </a:p>
          <a:p>
            <a:pPr algn="l" marL="254000" indent="0">
              <a:lnSpc>
                <a:spcPct val="108000"/>
              </a:lnSpc>
              <a:spcBef>
                <a:spcPts val="0"/>
              </a:spcBef>
              <a:spcAft>
                <a:spcPts val="700"/>
              </a:spcAft>
              <a:buNone/>
              <a:defRPr sz="2000" b="0">
                <a:solidFill>
                  <a:srgbClr val="22313F"/>
                </a:solidFill>
                <a:latin typeface="Aptos"/>
              </a:defRPr>
            </a:pPr>
            <a:r>
              <a:t>- escalation logic</a:t>
            </a:r>
          </a:p>
          <a:p>
            <a:pPr algn="l" marL="254000" indent="0">
              <a:lnSpc>
                <a:spcPct val="108000"/>
              </a:lnSpc>
              <a:spcBef>
                <a:spcPts val="0"/>
              </a:spcBef>
              <a:spcAft>
                <a:spcPts val="700"/>
              </a:spcAft>
              <a:buNone/>
              <a:defRPr sz="2000" b="0">
                <a:solidFill>
                  <a:srgbClr val="22313F"/>
                </a:solidFill>
                <a:latin typeface="Aptos"/>
              </a:defRPr>
            </a:pPr>
            <a:r>
              <a:t>- mentoring and office hours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Tool-first rollout creates fragmented habits and weak adoption.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start with friction in the work</a:t>
            </a:r>
          </a:p>
          <a:p>
            <a:pPr algn="l" marL="254000" indent="0">
              <a:lnSpc>
                <a:spcPct val="108000"/>
              </a:lnSpc>
              <a:spcBef>
                <a:spcPts val="0"/>
              </a:spcBef>
              <a:spcAft>
                <a:spcPts val="700"/>
              </a:spcAft>
              <a:buNone/>
              <a:defRPr sz="2000" b="0">
                <a:solidFill>
                  <a:srgbClr val="22313F"/>
                </a:solidFill>
                <a:latin typeface="Aptos"/>
              </a:defRPr>
            </a:pPr>
            <a:r>
              <a:t>- choose bounded workflows</a:t>
            </a:r>
          </a:p>
          <a:p>
            <a:pPr algn="l" marL="254000" indent="0">
              <a:lnSpc>
                <a:spcPct val="108000"/>
              </a:lnSpc>
              <a:spcBef>
                <a:spcPts val="0"/>
              </a:spcBef>
              <a:spcAft>
                <a:spcPts val="700"/>
              </a:spcAft>
              <a:buNone/>
              <a:defRPr sz="2000" b="0">
                <a:solidFill>
                  <a:srgbClr val="22313F"/>
                </a:solidFill>
                <a:latin typeface="Aptos"/>
              </a:defRPr>
            </a:pPr>
            <a:r>
              <a:t>- evaluate tools against those workflows</a:t>
            </a:r>
          </a:p>
          <a:p>
            <a:pPr algn="l" marL="254000" indent="0">
              <a:lnSpc>
                <a:spcPct val="108000"/>
              </a:lnSpc>
              <a:spcBef>
                <a:spcPts val="0"/>
              </a:spcBef>
              <a:spcAft>
                <a:spcPts val="700"/>
              </a:spcAft>
              <a:buNone/>
              <a:defRPr sz="2000" b="0">
                <a:solidFill>
                  <a:srgbClr val="22313F"/>
                </a:solidFill>
                <a:latin typeface="Aptos"/>
              </a:defRPr>
            </a:pPr>
            <a:r>
              <a:t>- avoid buying automation power before review discipline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Safe usage changes with the person, the task, and the verification path.</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oversight readiness matters</a:t>
            </a:r>
          </a:p>
          <a:p>
            <a:pPr algn="l" marL="254000" indent="0">
              <a:lnSpc>
                <a:spcPct val="108000"/>
              </a:lnSpc>
              <a:spcBef>
                <a:spcPts val="0"/>
              </a:spcBef>
              <a:spcAft>
                <a:spcPts val="700"/>
              </a:spcAft>
              <a:buNone/>
              <a:defRPr sz="2000" b="0">
                <a:solidFill>
                  <a:srgbClr val="22313F"/>
                </a:solidFill>
                <a:latin typeface="Aptos"/>
              </a:defRPr>
            </a:pPr>
            <a:r>
              <a:t>- unfamiliarity matters</a:t>
            </a:r>
          </a:p>
          <a:p>
            <a:pPr algn="l" marL="254000" indent="0">
              <a:lnSpc>
                <a:spcPct val="108000"/>
              </a:lnSpc>
              <a:spcBef>
                <a:spcPts val="0"/>
              </a:spcBef>
              <a:spcAft>
                <a:spcPts val="700"/>
              </a:spcAft>
              <a:buNone/>
              <a:defRPr sz="2000" b="0">
                <a:solidFill>
                  <a:srgbClr val="22313F"/>
                </a:solidFill>
                <a:latin typeface="Aptos"/>
              </a:defRPr>
            </a:pPr>
            <a:r>
              <a:t>- risk matters</a:t>
            </a:r>
          </a:p>
          <a:p>
            <a:pPr algn="l" marL="254000" indent="0">
              <a:lnSpc>
                <a:spcPct val="108000"/>
              </a:lnSpc>
              <a:spcBef>
                <a:spcPts val="0"/>
              </a:spcBef>
              <a:spcAft>
                <a:spcPts val="700"/>
              </a:spcAft>
              <a:buNone/>
              <a:defRPr sz="2000" b="0">
                <a:solidFill>
                  <a:srgbClr val="22313F"/>
                </a:solidFill>
                <a:latin typeface="Aptos"/>
              </a:defRPr>
            </a:pPr>
            <a:r>
              <a:t>- verification difficulty matters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If the team cannot describe verification, it does not actually have a working standard.</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code, tests, requirements, architecture, and runbooks verify differently</a:t>
            </a:r>
          </a:p>
          <a:p>
            <a:pPr algn="l" marL="254000" indent="0">
              <a:lnSpc>
                <a:spcPct val="108000"/>
              </a:lnSpc>
              <a:spcBef>
                <a:spcPts val="0"/>
              </a:spcBef>
              <a:spcAft>
                <a:spcPts val="700"/>
              </a:spcAft>
              <a:buNone/>
              <a:defRPr sz="2000" b="0">
                <a:solidFill>
                  <a:srgbClr val="22313F"/>
                </a:solidFill>
                <a:latin typeface="Aptos"/>
              </a:defRPr>
            </a:pPr>
            <a:r>
              <a:t>- fluent output is not evidence</a:t>
            </a:r>
          </a:p>
          <a:p>
            <a:pPr algn="l" marL="254000" indent="0">
              <a:lnSpc>
                <a:spcPct val="108000"/>
              </a:lnSpc>
              <a:spcBef>
                <a:spcPts val="0"/>
              </a:spcBef>
              <a:spcAft>
                <a:spcPts val="700"/>
              </a:spcAft>
              <a:buNone/>
              <a:defRPr sz="2000" b="0">
                <a:solidFill>
                  <a:srgbClr val="22313F"/>
                </a:solidFill>
                <a:latin typeface="Aptos"/>
              </a:defRPr>
            </a:pPr>
            <a:r>
              <a:t>- some work is deceptively hard to evaluate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speed can create hidden review debt if leaders do not change the workflow around it.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shallow drafts that look finished</a:t>
            </a:r>
          </a:p>
          <a:p>
            <a:pPr algn="l" marL="254000" indent="0">
              <a:lnSpc>
                <a:spcPct val="108000"/>
              </a:lnSpc>
              <a:spcBef>
                <a:spcPts val="0"/>
              </a:spcBef>
              <a:spcAft>
                <a:spcPts val="700"/>
              </a:spcAft>
              <a:buNone/>
              <a:defRPr sz="2000" b="0">
                <a:solidFill>
                  <a:srgbClr val="22313F"/>
                </a:solidFill>
                <a:latin typeface="Aptos"/>
              </a:defRPr>
            </a:pPr>
            <a:r>
              <a:t>- review bottlenecks moving downstream</a:t>
            </a:r>
          </a:p>
          <a:p>
            <a:pPr algn="l" marL="254000" indent="0">
              <a:lnSpc>
                <a:spcPct val="108000"/>
              </a:lnSpc>
              <a:spcBef>
                <a:spcPts val="0"/>
              </a:spcBef>
              <a:spcAft>
                <a:spcPts val="700"/>
              </a:spcAft>
              <a:buNone/>
              <a:defRPr sz="2000" b="0">
                <a:solidFill>
                  <a:srgbClr val="22313F"/>
                </a:solidFill>
                <a:latin typeface="Aptos"/>
              </a:defRPr>
            </a:pPr>
            <a:r>
              <a:t>- cleanup absorbed by a small senior layer</a:t>
            </a:r>
          </a:p>
          <a:p>
            <a:pPr algn="l" marL="254000" indent="0">
              <a:lnSpc>
                <a:spcPct val="108000"/>
              </a:lnSpc>
              <a:spcBef>
                <a:spcPts val="0"/>
              </a:spcBef>
              <a:spcAft>
                <a:spcPts val="700"/>
              </a:spcAft>
              <a:buNone/>
              <a:defRPr sz="2000" b="0">
                <a:solidFill>
                  <a:srgbClr val="22313F"/>
                </a:solidFill>
                <a:latin typeface="Aptos"/>
              </a:defRPr>
            </a:pPr>
            <a:r>
              <a:t>- speed theater masking low-quality acceleration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goal is not one good demo. The goal is repeatable working patterns.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example libraries</a:t>
            </a:r>
          </a:p>
          <a:p>
            <a:pPr algn="l" marL="254000" indent="0">
              <a:lnSpc>
                <a:spcPct val="108000"/>
              </a:lnSpc>
              <a:spcBef>
                <a:spcPts val="0"/>
              </a:spcBef>
              <a:spcAft>
                <a:spcPts val="700"/>
              </a:spcAft>
              <a:buNone/>
              <a:defRPr sz="2000" b="0">
                <a:solidFill>
                  <a:srgbClr val="22313F"/>
                </a:solidFill>
                <a:latin typeface="Aptos"/>
              </a:defRPr>
            </a:pPr>
            <a:r>
              <a:t>- templates and checklists</a:t>
            </a:r>
          </a:p>
          <a:p>
            <a:pPr algn="l" marL="254000" indent="0">
              <a:lnSpc>
                <a:spcPct val="108000"/>
              </a:lnSpc>
              <a:spcBef>
                <a:spcPts val="0"/>
              </a:spcBef>
              <a:spcAft>
                <a:spcPts val="700"/>
              </a:spcAft>
              <a:buNone/>
              <a:defRPr sz="2000" b="0">
                <a:solidFill>
                  <a:srgbClr val="22313F"/>
                </a:solidFill>
                <a:latin typeface="Aptos"/>
              </a:defRPr>
            </a:pPr>
            <a:r>
              <a:t>- office hours and community-of-practice loops</a:t>
            </a:r>
          </a:p>
          <a:p>
            <a:pPr algn="l" marL="254000" indent="0">
              <a:lnSpc>
                <a:spcPct val="108000"/>
              </a:lnSpc>
              <a:spcBef>
                <a:spcPts val="0"/>
              </a:spcBef>
              <a:spcAft>
                <a:spcPts val="700"/>
              </a:spcAft>
              <a:buNone/>
              <a:defRPr sz="2000" b="0">
                <a:solidFill>
                  <a:srgbClr val="22313F"/>
                </a:solidFill>
                <a:latin typeface="Aptos"/>
              </a:defRPr>
            </a:pPr>
            <a:r>
              <a:t>- self-service enablement through internal platform thinking</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If AI rollout removes learning-rich work without replacing the learning path, the team mortgages its future.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newcomers still need progressive responsibility</a:t>
            </a:r>
          </a:p>
          <a:p>
            <a:pPr algn="l" marL="254000" indent="0">
              <a:lnSpc>
                <a:spcPct val="108000"/>
              </a:lnSpc>
              <a:spcBef>
                <a:spcPts val="0"/>
              </a:spcBef>
              <a:spcAft>
                <a:spcPts val="700"/>
              </a:spcAft>
              <a:buNone/>
              <a:defRPr sz="2000" b="0">
                <a:solidFill>
                  <a:srgbClr val="22313F"/>
                </a:solidFill>
                <a:latin typeface="Aptos"/>
              </a:defRPr>
            </a:pPr>
            <a:r>
              <a:t>- explanation-first use matters</a:t>
            </a:r>
          </a:p>
          <a:p>
            <a:pPr algn="l" marL="254000" indent="0">
              <a:lnSpc>
                <a:spcPct val="108000"/>
              </a:lnSpc>
              <a:spcBef>
                <a:spcPts val="0"/>
              </a:spcBef>
              <a:spcAft>
                <a:spcPts val="700"/>
              </a:spcAft>
              <a:buNone/>
              <a:defRPr sz="2000" b="0">
                <a:solidFill>
                  <a:srgbClr val="22313F"/>
                </a:solidFill>
                <a:latin typeface="Aptos"/>
              </a:defRPr>
            </a:pPr>
            <a:r>
              <a:t>- senior leverage increases senior responsibility</a:t>
            </a:r>
          </a:p>
          <a:p>
            <a:pPr algn="l" marL="254000" indent="0">
              <a:lnSpc>
                <a:spcPct val="108000"/>
              </a:lnSpc>
              <a:spcBef>
                <a:spcPts val="0"/>
              </a:spcBef>
              <a:spcAft>
                <a:spcPts val="700"/>
              </a:spcAft>
              <a:buNone/>
              <a:defRPr sz="2000" b="0">
                <a:solidFill>
                  <a:srgbClr val="22313F"/>
                </a:solidFill>
                <a:latin typeface="Aptos"/>
              </a:defRPr>
            </a:pPr>
            <a:r>
              <a:t>- good leaders redesign work, not just tool access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Cross-team adoption is won through credibility, examples, and useful constraints.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show the work</a:t>
            </a:r>
          </a:p>
          <a:p>
            <a:pPr algn="l" marL="254000" indent="0">
              <a:lnSpc>
                <a:spcPct val="108000"/>
              </a:lnSpc>
              <a:spcBef>
                <a:spcPts val="0"/>
              </a:spcBef>
              <a:spcAft>
                <a:spcPts val="700"/>
              </a:spcAft>
              <a:buNone/>
              <a:defRPr sz="2000" b="0">
                <a:solidFill>
                  <a:srgbClr val="22313F"/>
                </a:solidFill>
                <a:latin typeface="Aptos"/>
              </a:defRPr>
            </a:pPr>
            <a:r>
              <a:t>- make standards practical</a:t>
            </a:r>
          </a:p>
          <a:p>
            <a:pPr algn="l" marL="254000" indent="0">
              <a:lnSpc>
                <a:spcPct val="108000"/>
              </a:lnSpc>
              <a:spcBef>
                <a:spcPts val="0"/>
              </a:spcBef>
              <a:spcAft>
                <a:spcPts val="700"/>
              </a:spcAft>
              <a:buNone/>
              <a:defRPr sz="2000" b="0">
                <a:solidFill>
                  <a:srgbClr val="22313F"/>
                </a:solidFill>
                <a:latin typeface="Aptos"/>
              </a:defRPr>
            </a:pPr>
            <a:r>
              <a:t>- translate between teams, managers, and platform groups</a:t>
            </a:r>
          </a:p>
          <a:p>
            <a:pPr algn="l" marL="254000" indent="0">
              <a:lnSpc>
                <a:spcPct val="108000"/>
              </a:lnSpc>
              <a:spcBef>
                <a:spcPts val="0"/>
              </a:spcBef>
              <a:spcAft>
                <a:spcPts val="700"/>
              </a:spcAft>
              <a:buNone/>
              <a:defRPr sz="2000" b="0">
                <a:solidFill>
                  <a:srgbClr val="22313F"/>
                </a:solidFill>
                <a:latin typeface="Aptos"/>
              </a:defRPr>
            </a:pPr>
            <a:r>
              <a:t>- avoid ideology and speed theater</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Choose tools that fit the work and the governance boundary, not just the demo.</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edit surface matters</a:t>
            </a:r>
          </a:p>
          <a:p>
            <a:pPr algn="l" marL="254000" indent="0">
              <a:lnSpc>
                <a:spcPct val="108000"/>
              </a:lnSpc>
              <a:spcBef>
                <a:spcPts val="0"/>
              </a:spcBef>
              <a:spcAft>
                <a:spcPts val="700"/>
              </a:spcAft>
              <a:buNone/>
              <a:defRPr sz="2000" b="0">
                <a:solidFill>
                  <a:srgbClr val="22313F"/>
                </a:solidFill>
                <a:latin typeface="Aptos"/>
              </a:defRPr>
            </a:pPr>
            <a:r>
              <a:t>- repo and artifact context matter</a:t>
            </a:r>
          </a:p>
          <a:p>
            <a:pPr algn="l" marL="254000" indent="0">
              <a:lnSpc>
                <a:spcPct val="108000"/>
              </a:lnSpc>
              <a:spcBef>
                <a:spcPts val="0"/>
              </a:spcBef>
              <a:spcAft>
                <a:spcPts val="700"/>
              </a:spcAft>
              <a:buNone/>
              <a:defRPr sz="2000" b="0">
                <a:solidFill>
                  <a:srgbClr val="22313F"/>
                </a:solidFill>
                <a:latin typeface="Aptos"/>
              </a:defRPr>
            </a:pPr>
            <a:r>
              <a:t>- reversibility and auditability matter</a:t>
            </a:r>
          </a:p>
          <a:p>
            <a:pPr algn="l" marL="254000" indent="0">
              <a:lnSpc>
                <a:spcPct val="108000"/>
              </a:lnSpc>
              <a:spcBef>
                <a:spcPts val="0"/>
              </a:spcBef>
              <a:spcAft>
                <a:spcPts val="700"/>
              </a:spcAft>
              <a:buNone/>
              <a:defRPr sz="2000" b="0">
                <a:solidFill>
                  <a:srgbClr val="22313F"/>
                </a:solidFill>
                <a:latin typeface="Aptos"/>
              </a:defRPr>
            </a:pPr>
            <a:r>
              <a:t>- self-service must still preserve verification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Technical leaders should watch workflow quality, review load, and cleanup cost.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Track:</a:t>
            </a:r>
          </a:p>
          <a:p>
            <a:pPr algn="l" marL="457200" indent="0">
              <a:lnSpc>
                <a:spcPct val="108000"/>
              </a:lnSpc>
              <a:spcBef>
                <a:spcPts val="0"/>
              </a:spcBef>
              <a:spcAft>
                <a:spcPts val="700"/>
              </a:spcAft>
              <a:buNone/>
              <a:defRPr sz="2000" b="0">
                <a:solidFill>
                  <a:srgbClr val="22313F"/>
                </a:solidFill>
                <a:latin typeface="Aptos"/>
              </a:defRPr>
            </a:pPr>
            <a:r>
              <a:t>- hidden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quality of verification</a:t>
            </a:r>
          </a:p>
          <a:p>
            <a:pPr algn="l" marL="457200" indent="0">
              <a:lnSpc>
                <a:spcPct val="108000"/>
              </a:lnSpc>
              <a:spcBef>
                <a:spcPts val="0"/>
              </a:spcBef>
              <a:spcAft>
                <a:spcPts val="700"/>
              </a:spcAft>
              <a:buNone/>
              <a:defRPr sz="2000" b="0">
                <a:solidFill>
                  <a:srgbClr val="22313F"/>
                </a:solidFill>
                <a:latin typeface="Aptos"/>
              </a:defRPr>
            </a:pPr>
            <a:r>
              <a:t>- adoption quality in sampled cases</a:t>
            </a:r>
          </a:p>
          <a:p>
            <a:pPr algn="l" marL="457200" indent="0">
              <a:lnSpc>
                <a:spcPct val="108000"/>
              </a:lnSpc>
              <a:spcBef>
                <a:spcPts val="0"/>
              </a:spcBef>
              <a:spcAft>
                <a:spcPts val="700"/>
              </a:spcAft>
              <a:buNone/>
              <a:defRPr sz="2000" b="0">
                <a:solidFill>
                  <a:srgbClr val="22313F"/>
                </a:solidFill>
                <a:latin typeface="Aptos"/>
              </a:defRPr>
            </a:pPr>
            <a:r>
              <a:t>- where soft signals suggest something is off</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Weak rollout becomes visible in habits long before it becomes visible in dashboards.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speed theater</a:t>
            </a:r>
          </a:p>
          <a:p>
            <a:pPr algn="l" marL="254000" indent="0">
              <a:lnSpc>
                <a:spcPct val="108000"/>
              </a:lnSpc>
              <a:spcBef>
                <a:spcPts val="0"/>
              </a:spcBef>
              <a:spcAft>
                <a:spcPts val="700"/>
              </a:spcAft>
              <a:buNone/>
              <a:defRPr sz="2000" b="0">
                <a:solidFill>
                  <a:srgbClr val="22313F"/>
                </a:solidFill>
                <a:latin typeface="Aptos"/>
              </a:defRPr>
            </a:pPr>
            <a:r>
              <a:t>- opaque generation on unfamiliar work</a:t>
            </a:r>
          </a:p>
          <a:p>
            <a:pPr algn="l" marL="254000" indent="0">
              <a:lnSpc>
                <a:spcPct val="108000"/>
              </a:lnSpc>
              <a:spcBef>
                <a:spcPts val="0"/>
              </a:spcBef>
              <a:spcAft>
                <a:spcPts val="700"/>
              </a:spcAft>
              <a:buNone/>
              <a:defRPr sz="2000" b="0">
                <a:solidFill>
                  <a:srgbClr val="22313F"/>
                </a:solidFill>
                <a:latin typeface="Aptos"/>
              </a:defRPr>
            </a:pPr>
            <a:r>
              <a:t>- standards that exist only on paper</a:t>
            </a:r>
          </a:p>
          <a:p>
            <a:pPr algn="l" marL="254000" indent="0">
              <a:lnSpc>
                <a:spcPct val="108000"/>
              </a:lnSpc>
              <a:spcBef>
                <a:spcPts val="0"/>
              </a:spcBef>
              <a:spcAft>
                <a:spcPts val="700"/>
              </a:spcAft>
              <a:buNone/>
              <a:defRPr sz="2000" b="0">
                <a:solidFill>
                  <a:srgbClr val="22313F"/>
                </a:solidFill>
                <a:latin typeface="Aptos"/>
              </a:defRPr>
            </a:pPr>
            <a:r>
              <a:t>- silent cleanup by senior engineers</a:t>
            </a:r>
          </a:p>
          <a:p>
            <a:pPr algn="l" marL="254000" indent="0">
              <a:lnSpc>
                <a:spcPct val="108000"/>
              </a:lnSpc>
              <a:spcBef>
                <a:spcPts val="0"/>
              </a:spcBef>
              <a:spcAft>
                <a:spcPts val="700"/>
              </a:spcAft>
              <a:buNone/>
              <a:defRPr sz="2000" b="0">
                <a:solidFill>
                  <a:srgbClr val="22313F"/>
                </a:solidFill>
                <a:latin typeface="Aptos"/>
              </a:defRPr>
            </a:pPr>
            <a:r>
              <a:t>- local tool enthusiasm without workflow redesign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Good enablement increases leverage without lowering the craft standard.</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better workflow quality</a:t>
            </a:r>
          </a:p>
          <a:p>
            <a:pPr algn="l" marL="254000" indent="0">
              <a:lnSpc>
                <a:spcPct val="108000"/>
              </a:lnSpc>
              <a:spcBef>
                <a:spcPts val="0"/>
              </a:spcBef>
              <a:spcAft>
                <a:spcPts val="700"/>
              </a:spcAft>
              <a:buNone/>
              <a:defRPr sz="2000" b="0">
                <a:solidFill>
                  <a:srgbClr val="22313F"/>
                </a:solidFill>
                <a:latin typeface="Aptos"/>
              </a:defRPr>
            </a:pPr>
            <a:r>
              <a:t>- clearer review expectations</a:t>
            </a:r>
          </a:p>
          <a:p>
            <a:pPr algn="l" marL="254000" indent="0">
              <a:lnSpc>
                <a:spcPct val="108000"/>
              </a:lnSpc>
              <a:spcBef>
                <a:spcPts val="0"/>
              </a:spcBef>
              <a:spcAft>
                <a:spcPts val="700"/>
              </a:spcAft>
              <a:buNone/>
              <a:defRPr sz="2000" b="0">
                <a:solidFill>
                  <a:srgbClr val="22313F"/>
                </a:solidFill>
                <a:latin typeface="Aptos"/>
              </a:defRPr>
            </a:pPr>
            <a:r>
              <a:t>- stronger mentoring loops</a:t>
            </a:r>
          </a:p>
          <a:p>
            <a:pPr algn="l" marL="254000" indent="0">
              <a:lnSpc>
                <a:spcPct val="108000"/>
              </a:lnSpc>
              <a:spcBef>
                <a:spcPts val="0"/>
              </a:spcBef>
              <a:spcAft>
                <a:spcPts val="700"/>
              </a:spcAft>
              <a:buNone/>
              <a:defRPr sz="2000" b="0">
                <a:solidFill>
                  <a:srgbClr val="22313F"/>
                </a:solidFill>
                <a:latin typeface="Aptos"/>
              </a:defRPr>
            </a:pPr>
            <a:r>
              <a:t>- more usable self-service patterns</a:t>
            </a:r>
          </a:p>
          <a:p>
            <a:pPr algn="l" marL="254000" indent="0">
              <a:lnSpc>
                <a:spcPct val="108000"/>
              </a:lnSpc>
              <a:spcBef>
                <a:spcPts val="0"/>
              </a:spcBef>
              <a:spcAft>
                <a:spcPts val="700"/>
              </a:spcAft>
              <a:buNone/>
              <a:defRPr sz="2000" b="0">
                <a:solidFill>
                  <a:srgbClr val="22313F"/>
                </a:solidFill>
                <a:latin typeface="Aptos"/>
              </a:defRPr>
            </a:pPr>
            <a:r>
              <a:t>- preserved judgment and capability growth</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senior and Staff exercise pack turns standards into practice.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review the senior and Staff worksheet pack</a:t>
            </a:r>
          </a:p>
          <a:p>
            <a:pPr algn="l" marL="254000" indent="0">
              <a:lnSpc>
                <a:spcPct val="108000"/>
              </a:lnSpc>
              <a:spcBef>
                <a:spcPts val="0"/>
              </a:spcBef>
              <a:spcAft>
                <a:spcPts val="700"/>
              </a:spcAft>
              <a:buNone/>
              <a:defRPr sz="2000" b="0">
                <a:solidFill>
                  <a:srgbClr val="22313F"/>
                </a:solidFill>
                <a:latin typeface="Aptos"/>
              </a:defRPr>
            </a:pPr>
            <a:r>
              <a:t>- use scenarios on architecture, review debt, verification, tooling, and rollout</a:t>
            </a:r>
          </a:p>
          <a:p>
            <a:pPr algn="l" marL="254000" indent="0">
              <a:lnSpc>
                <a:spcPct val="108000"/>
              </a:lnSpc>
              <a:spcBef>
                <a:spcPts val="0"/>
              </a:spcBef>
              <a:spcAft>
                <a:spcPts val="700"/>
              </a:spcAft>
              <a:buNone/>
              <a:defRPr sz="2000" b="0">
                <a:solidFill>
                  <a:srgbClr val="22313F"/>
                </a:solidFill>
                <a:latin typeface="Aptos"/>
              </a:defRPr>
            </a:pPr>
            <a:r>
              <a:t>- if nothing else, read at least one scenario and its debrief prompts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Your first 30 days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pick one workflow where review pain is real</a:t>
            </a:r>
          </a:p>
          <a:p>
            <a:pPr algn="l" marL="254000" indent="0">
              <a:lnSpc>
                <a:spcPct val="108000"/>
              </a:lnSpc>
              <a:spcBef>
                <a:spcPts val="0"/>
              </a:spcBef>
              <a:spcAft>
                <a:spcPts val="700"/>
              </a:spcAft>
              <a:buNone/>
              <a:defRPr sz="2000" b="0">
                <a:solidFill>
                  <a:srgbClr val="22313F"/>
                </a:solidFill>
                <a:latin typeface="Aptos"/>
              </a:defRPr>
            </a:pPr>
            <a:r>
              <a:t>- define verification and escalation before scaling</a:t>
            </a:r>
          </a:p>
          <a:p>
            <a:pPr algn="l" marL="254000" indent="0">
              <a:lnSpc>
                <a:spcPct val="108000"/>
              </a:lnSpc>
              <a:spcBef>
                <a:spcPts val="0"/>
              </a:spcBef>
              <a:spcAft>
                <a:spcPts val="700"/>
              </a:spcAft>
              <a:buNone/>
              <a:defRPr sz="2000" b="0">
                <a:solidFill>
                  <a:srgbClr val="22313F"/>
                </a:solidFill>
                <a:latin typeface="Aptos"/>
              </a:defRPr>
            </a:pPr>
            <a:r>
              <a:t>- run one visible example with a real team</a:t>
            </a:r>
          </a:p>
          <a:p>
            <a:pPr algn="l" marL="254000" indent="0">
              <a:lnSpc>
                <a:spcPct val="108000"/>
              </a:lnSpc>
              <a:spcBef>
                <a:spcPts val="0"/>
              </a:spcBef>
              <a:spcAft>
                <a:spcPts val="700"/>
              </a:spcAft>
              <a:buNone/>
              <a:defRPr sz="2000" b="0">
                <a:solidFill>
                  <a:srgbClr val="22313F"/>
                </a:solidFill>
                <a:latin typeface="Aptos"/>
              </a:defRPr>
            </a:pPr>
            <a:r>
              <a:t>- turn the lesson into a reusable standard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